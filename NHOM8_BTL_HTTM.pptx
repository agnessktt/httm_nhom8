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69" r:id="rId2"/>
    <p:sldId id="271" r:id="rId3"/>
    <p:sldId id="256" r:id="rId4"/>
    <p:sldId id="257" r:id="rId5"/>
    <p:sldId id="258" r:id="rId6"/>
    <p:sldId id="272" r:id="rId7"/>
    <p:sldId id="273" r:id="rId8"/>
    <p:sldId id="260" r:id="rId9"/>
    <p:sldId id="261" r:id="rId10"/>
    <p:sldId id="262" r:id="rId11"/>
    <p:sldId id="263" r:id="rId12"/>
    <p:sldId id="264" r:id="rId13"/>
    <p:sldId id="265" r:id="rId14"/>
    <p:sldId id="270" r:id="rId1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28F35E-EDDA-4196-8347-1FEE51063C7C}" v="4" dt="2025-11-13T14:45:45.1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792"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eu Trang" userId="5328ddf0-b8c7-4bba-ad6b-017a18ae336b" providerId="ADAL" clId="{F5B250B3-F060-44ED-BE02-BCE998F1E2D6}"/>
    <pc:docChg chg="undo custSel modSld">
      <pc:chgData name="Le Thi Kieu Trang" userId="5328ddf0-b8c7-4bba-ad6b-017a18ae336b" providerId="ADAL" clId="{F5B250B3-F060-44ED-BE02-BCE998F1E2D6}" dt="2025-10-27T02:57:31.746" v="30" actId="122"/>
      <pc:docMkLst>
        <pc:docMk/>
      </pc:docMkLst>
      <pc:sldChg chg="modSp mod">
        <pc:chgData name="Le Thi Kieu Trang" userId="5328ddf0-b8c7-4bba-ad6b-017a18ae336b" providerId="ADAL" clId="{F5B250B3-F060-44ED-BE02-BCE998F1E2D6}" dt="2025-10-27T02:57:31.746" v="30" actId="122"/>
        <pc:sldMkLst>
          <pc:docMk/>
          <pc:sldMk cId="0" sldId="256"/>
        </pc:sldMkLst>
        <pc:spChg chg="mod">
          <ac:chgData name="Le Thi Kieu Trang" userId="5328ddf0-b8c7-4bba-ad6b-017a18ae336b" providerId="ADAL" clId="{F5B250B3-F060-44ED-BE02-BCE998F1E2D6}" dt="2025-10-27T02:57:31.746" v="30" actId="122"/>
          <ac:spMkLst>
            <pc:docMk/>
            <pc:sldMk cId="0" sldId="256"/>
            <ac:spMk id="2" creationId="{00000000-0000-0000-0000-000000000000}"/>
          </ac:spMkLst>
        </pc:spChg>
      </pc:sldChg>
      <pc:sldChg chg="modSp mod">
        <pc:chgData name="Le Thi Kieu Trang" userId="5328ddf0-b8c7-4bba-ad6b-017a18ae336b" providerId="ADAL" clId="{F5B250B3-F060-44ED-BE02-BCE998F1E2D6}" dt="2025-10-26T15:58:00.615" v="29" actId="1076"/>
        <pc:sldMkLst>
          <pc:docMk/>
          <pc:sldMk cId="0" sldId="259"/>
        </pc:sldMkLst>
        <pc:spChg chg="mod">
          <ac:chgData name="Le Thi Kieu Trang" userId="5328ddf0-b8c7-4bba-ad6b-017a18ae336b" providerId="ADAL" clId="{F5B250B3-F060-44ED-BE02-BCE998F1E2D6}" dt="2025-10-26T15:57:54.157" v="28" actId="207"/>
          <ac:spMkLst>
            <pc:docMk/>
            <pc:sldMk cId="0" sldId="259"/>
            <ac:spMk id="2" creationId="{00000000-0000-0000-0000-000000000000}"/>
          </ac:spMkLst>
        </pc:spChg>
        <pc:spChg chg="mod">
          <ac:chgData name="Le Thi Kieu Trang" userId="5328ddf0-b8c7-4bba-ad6b-017a18ae336b" providerId="ADAL" clId="{F5B250B3-F060-44ED-BE02-BCE998F1E2D6}" dt="2025-10-26T15:58:00.615" v="29" actId="1076"/>
          <ac:spMkLst>
            <pc:docMk/>
            <pc:sldMk cId="0" sldId="259"/>
            <ac:spMk id="3"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5"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6"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7"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8"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9"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1"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2"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4"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5"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7" creationId="{00000000-0000-0000-0000-000000000000}"/>
          </ac:spMkLst>
        </pc:spChg>
        <pc:spChg chg="mod">
          <ac:chgData name="Le Thi Kieu Trang" userId="5328ddf0-b8c7-4bba-ad6b-017a18ae336b" providerId="ADAL" clId="{F5B250B3-F060-44ED-BE02-BCE998F1E2D6}" dt="2025-10-26T15:57:54.157" v="28" actId="207"/>
          <ac:spMkLst>
            <pc:docMk/>
            <pc:sldMk cId="0" sldId="259"/>
            <ac:spMk id="18" creationId="{00000000-0000-0000-0000-000000000000}"/>
          </ac:spMkLst>
        </pc:spChg>
        <pc:picChg chg="mod">
          <ac:chgData name="Le Thi Kieu Trang" userId="5328ddf0-b8c7-4bba-ad6b-017a18ae336b" providerId="ADAL" clId="{F5B250B3-F060-44ED-BE02-BCE998F1E2D6}" dt="2025-10-26T15:57:18.783" v="7" actId="1076"/>
          <ac:picMkLst>
            <pc:docMk/>
            <pc:sldMk cId="0" sldId="259"/>
            <ac:picMk id="10" creationId="{00000000-0000-0000-0000-000000000000}"/>
          </ac:picMkLst>
        </pc:picChg>
      </pc:sldChg>
      <pc:sldChg chg="modSp mod">
        <pc:chgData name="Le Thi Kieu Trang" userId="5328ddf0-b8c7-4bba-ad6b-017a18ae336b" providerId="ADAL" clId="{F5B250B3-F060-44ED-BE02-BCE998F1E2D6}" dt="2025-10-26T15:57:44.599" v="26" actId="20577"/>
        <pc:sldMkLst>
          <pc:docMk/>
          <pc:sldMk cId="0" sldId="260"/>
        </pc:sldMkLst>
        <pc:spChg chg="mod">
          <ac:chgData name="Le Thi Kieu Trang" userId="5328ddf0-b8c7-4bba-ad6b-017a18ae336b" providerId="ADAL" clId="{F5B250B3-F060-44ED-BE02-BCE998F1E2D6}" dt="2025-10-26T15:57:34.542" v="8" actId="207"/>
          <ac:spMkLst>
            <pc:docMk/>
            <pc:sldMk cId="0" sldId="260"/>
            <ac:spMk id="2"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3"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4"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6"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7"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9" creationId="{00000000-0000-0000-0000-000000000000}"/>
          </ac:spMkLst>
        </pc:spChg>
        <pc:spChg chg="mod">
          <ac:chgData name="Le Thi Kieu Trang" userId="5328ddf0-b8c7-4bba-ad6b-017a18ae336b" providerId="ADAL" clId="{F5B250B3-F060-44ED-BE02-BCE998F1E2D6}" dt="2025-10-26T15:57:44.599" v="26" actId="20577"/>
          <ac:spMkLst>
            <pc:docMk/>
            <pc:sldMk cId="0" sldId="260"/>
            <ac:spMk id="10"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2"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3"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5"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6"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8"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19" creationId="{00000000-0000-0000-0000-000000000000}"/>
          </ac:spMkLst>
        </pc:spChg>
        <pc:spChg chg="mod">
          <ac:chgData name="Le Thi Kieu Trang" userId="5328ddf0-b8c7-4bba-ad6b-017a18ae336b" providerId="ADAL" clId="{F5B250B3-F060-44ED-BE02-BCE998F1E2D6}" dt="2025-10-26T15:57:34.542" v="8" actId="207"/>
          <ac:spMkLst>
            <pc:docMk/>
            <pc:sldMk cId="0" sldId="260"/>
            <ac:spMk id="25" creationId="{F44955E2-D836-7485-5C40-DFDF5C2AEF4F}"/>
          </ac:spMkLst>
        </pc:spChg>
      </pc:sldChg>
    </pc:docChg>
  </pc:docChgLst>
  <pc:docChgLst>
    <pc:chgData name="Le Thi Kieu Trang" userId="5328ddf0-b8c7-4bba-ad6b-017a18ae336b" providerId="ADAL" clId="{7E28F35E-EDDA-4196-8347-1FEE51063C7C}"/>
    <pc:docChg chg="undo custSel addSld delSld modSld">
      <pc:chgData name="Le Thi Kieu Trang" userId="5328ddf0-b8c7-4bba-ad6b-017a18ae336b" providerId="ADAL" clId="{7E28F35E-EDDA-4196-8347-1FEE51063C7C}" dt="2025-11-13T14:47:11.843" v="362" actId="207"/>
      <pc:docMkLst>
        <pc:docMk/>
      </pc:docMkLst>
      <pc:sldChg chg="addSp modSp mod">
        <pc:chgData name="Le Thi Kieu Trang" userId="5328ddf0-b8c7-4bba-ad6b-017a18ae336b" providerId="ADAL" clId="{7E28F35E-EDDA-4196-8347-1FEE51063C7C}" dt="2025-11-13T14:46:22.672" v="356" actId="1076"/>
        <pc:sldMkLst>
          <pc:docMk/>
          <pc:sldMk cId="0" sldId="256"/>
        </pc:sldMkLst>
        <pc:spChg chg="mod">
          <ac:chgData name="Le Thi Kieu Trang" userId="5328ddf0-b8c7-4bba-ad6b-017a18ae336b" providerId="ADAL" clId="{7E28F35E-EDDA-4196-8347-1FEE51063C7C}" dt="2025-11-13T14:46:08.656" v="353" actId="404"/>
          <ac:spMkLst>
            <pc:docMk/>
            <pc:sldMk cId="0" sldId="256"/>
            <ac:spMk id="2" creationId="{00000000-0000-0000-0000-000000000000}"/>
          </ac:spMkLst>
        </pc:spChg>
        <pc:spChg chg="mod">
          <ac:chgData name="Le Thi Kieu Trang" userId="5328ddf0-b8c7-4bba-ad6b-017a18ae336b" providerId="ADAL" clId="{7E28F35E-EDDA-4196-8347-1FEE51063C7C}" dt="2025-11-13T14:43:31.706" v="342" actId="20577"/>
          <ac:spMkLst>
            <pc:docMk/>
            <pc:sldMk cId="0" sldId="256"/>
            <ac:spMk id="3" creationId="{00000000-0000-0000-0000-000000000000}"/>
          </ac:spMkLst>
        </pc:spChg>
        <pc:spChg chg="mod">
          <ac:chgData name="Le Thi Kieu Trang" userId="5328ddf0-b8c7-4bba-ad6b-017a18ae336b" providerId="ADAL" clId="{7E28F35E-EDDA-4196-8347-1FEE51063C7C}" dt="2025-11-13T14:21:10.888" v="21" actId="20577"/>
          <ac:spMkLst>
            <pc:docMk/>
            <pc:sldMk cId="0" sldId="256"/>
            <ac:spMk id="7" creationId="{00000000-0000-0000-0000-000000000000}"/>
          </ac:spMkLst>
        </pc:spChg>
        <pc:spChg chg="add mod">
          <ac:chgData name="Le Thi Kieu Trang" userId="5328ddf0-b8c7-4bba-ad6b-017a18ae336b" providerId="ADAL" clId="{7E28F35E-EDDA-4196-8347-1FEE51063C7C}" dt="2025-11-13T14:46:22.672" v="356" actId="1076"/>
          <ac:spMkLst>
            <pc:docMk/>
            <pc:sldMk cId="0" sldId="256"/>
            <ac:spMk id="14" creationId="{B94D0C38-D34B-EC46-176F-FCBA9BAE6784}"/>
          </ac:spMkLst>
        </pc:spChg>
      </pc:sldChg>
      <pc:sldChg chg="modSp mod">
        <pc:chgData name="Le Thi Kieu Trang" userId="5328ddf0-b8c7-4bba-ad6b-017a18ae336b" providerId="ADAL" clId="{7E28F35E-EDDA-4196-8347-1FEE51063C7C}" dt="2025-11-13T14:47:11.843" v="362" actId="207"/>
        <pc:sldMkLst>
          <pc:docMk/>
          <pc:sldMk cId="0" sldId="257"/>
        </pc:sldMkLst>
        <pc:spChg chg="mod">
          <ac:chgData name="Le Thi Kieu Trang" userId="5328ddf0-b8c7-4bba-ad6b-017a18ae336b" providerId="ADAL" clId="{7E28F35E-EDDA-4196-8347-1FEE51063C7C}" dt="2025-11-13T14:47:11.843" v="362" actId="207"/>
          <ac:spMkLst>
            <pc:docMk/>
            <pc:sldMk cId="0" sldId="257"/>
            <ac:spMk id="9" creationId="{00000000-0000-0000-0000-000000000000}"/>
          </ac:spMkLst>
        </pc:spChg>
      </pc:sldChg>
      <pc:sldChg chg="modSp mod">
        <pc:chgData name="Le Thi Kieu Trang" userId="5328ddf0-b8c7-4bba-ad6b-017a18ae336b" providerId="ADAL" clId="{7E28F35E-EDDA-4196-8347-1FEE51063C7C}" dt="2025-11-13T14:25:43.277" v="59"/>
        <pc:sldMkLst>
          <pc:docMk/>
          <pc:sldMk cId="0" sldId="258"/>
        </pc:sldMkLst>
        <pc:spChg chg="mod">
          <ac:chgData name="Le Thi Kieu Trang" userId="5328ddf0-b8c7-4bba-ad6b-017a18ae336b" providerId="ADAL" clId="{7E28F35E-EDDA-4196-8347-1FEE51063C7C}" dt="2025-11-13T14:23:54.790" v="49" actId="20577"/>
          <ac:spMkLst>
            <pc:docMk/>
            <pc:sldMk cId="0" sldId="258"/>
            <ac:spMk id="8" creationId="{00000000-0000-0000-0000-000000000000}"/>
          </ac:spMkLst>
        </pc:spChg>
        <pc:spChg chg="mod">
          <ac:chgData name="Le Thi Kieu Trang" userId="5328ddf0-b8c7-4bba-ad6b-017a18ae336b" providerId="ADAL" clId="{7E28F35E-EDDA-4196-8347-1FEE51063C7C}" dt="2025-11-13T14:25:04.512" v="54" actId="113"/>
          <ac:spMkLst>
            <pc:docMk/>
            <pc:sldMk cId="0" sldId="258"/>
            <ac:spMk id="19" creationId="{00000000-0000-0000-0000-000000000000}"/>
          </ac:spMkLst>
        </pc:spChg>
        <pc:spChg chg="mod">
          <ac:chgData name="Le Thi Kieu Trang" userId="5328ddf0-b8c7-4bba-ad6b-017a18ae336b" providerId="ADAL" clId="{7E28F35E-EDDA-4196-8347-1FEE51063C7C}" dt="2025-11-13T14:25:25.280" v="58" actId="2711"/>
          <ac:spMkLst>
            <pc:docMk/>
            <pc:sldMk cId="0" sldId="258"/>
            <ac:spMk id="20" creationId="{00000000-0000-0000-0000-000000000000}"/>
          </ac:spMkLst>
        </pc:spChg>
        <pc:spChg chg="mod">
          <ac:chgData name="Le Thi Kieu Trang" userId="5328ddf0-b8c7-4bba-ad6b-017a18ae336b" providerId="ADAL" clId="{7E28F35E-EDDA-4196-8347-1FEE51063C7C}" dt="2025-11-13T14:25:43.277" v="59"/>
          <ac:spMkLst>
            <pc:docMk/>
            <pc:sldMk cId="0" sldId="258"/>
            <ac:spMk id="21" creationId="{00000000-0000-0000-0000-000000000000}"/>
          </ac:spMkLst>
        </pc:spChg>
      </pc:sldChg>
      <pc:sldChg chg="del">
        <pc:chgData name="Le Thi Kieu Trang" userId="5328ddf0-b8c7-4bba-ad6b-017a18ae336b" providerId="ADAL" clId="{7E28F35E-EDDA-4196-8347-1FEE51063C7C}" dt="2025-11-13T14:26:12.930" v="63" actId="2696"/>
        <pc:sldMkLst>
          <pc:docMk/>
          <pc:sldMk cId="0" sldId="259"/>
        </pc:sldMkLst>
      </pc:sldChg>
      <pc:sldChg chg="modSp mod">
        <pc:chgData name="Le Thi Kieu Trang" userId="5328ddf0-b8c7-4bba-ad6b-017a18ae336b" providerId="ADAL" clId="{7E28F35E-EDDA-4196-8347-1FEE51063C7C}" dt="2025-11-13T14:34:52.486" v="168" actId="20577"/>
        <pc:sldMkLst>
          <pc:docMk/>
          <pc:sldMk cId="0" sldId="260"/>
        </pc:sldMkLst>
        <pc:spChg chg="mod">
          <ac:chgData name="Le Thi Kieu Trang" userId="5328ddf0-b8c7-4bba-ad6b-017a18ae336b" providerId="ADAL" clId="{7E28F35E-EDDA-4196-8347-1FEE51063C7C}" dt="2025-11-13T14:34:30.711" v="160" actId="2711"/>
          <ac:spMkLst>
            <pc:docMk/>
            <pc:sldMk cId="0" sldId="260"/>
            <ac:spMk id="2"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3"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4"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6"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7"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9" creationId="{00000000-0000-0000-0000-000000000000}"/>
          </ac:spMkLst>
        </pc:spChg>
        <pc:spChg chg="mod">
          <ac:chgData name="Le Thi Kieu Trang" userId="5328ddf0-b8c7-4bba-ad6b-017a18ae336b" providerId="ADAL" clId="{7E28F35E-EDDA-4196-8347-1FEE51063C7C}" dt="2025-11-13T14:34:52.486" v="168" actId="20577"/>
          <ac:spMkLst>
            <pc:docMk/>
            <pc:sldMk cId="0" sldId="260"/>
            <ac:spMk id="10" creationId="{00000000-0000-0000-0000-000000000000}"/>
          </ac:spMkLst>
        </pc:spChg>
        <pc:spChg chg="mod">
          <ac:chgData name="Le Thi Kieu Trang" userId="5328ddf0-b8c7-4bba-ad6b-017a18ae336b" providerId="ADAL" clId="{7E28F35E-EDDA-4196-8347-1FEE51063C7C}" dt="2025-11-13T14:34:39.862" v="165" actId="20577"/>
          <ac:spMkLst>
            <pc:docMk/>
            <pc:sldMk cId="0" sldId="260"/>
            <ac:spMk id="12"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13"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15"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16"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18"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19" creationId="{00000000-0000-0000-0000-000000000000}"/>
          </ac:spMkLst>
        </pc:spChg>
        <pc:spChg chg="mod">
          <ac:chgData name="Le Thi Kieu Trang" userId="5328ddf0-b8c7-4bba-ad6b-017a18ae336b" providerId="ADAL" clId="{7E28F35E-EDDA-4196-8347-1FEE51063C7C}" dt="2025-11-13T14:34:30.711" v="160" actId="2711"/>
          <ac:spMkLst>
            <pc:docMk/>
            <pc:sldMk cId="0" sldId="260"/>
            <ac:spMk id="25" creationId="{F44955E2-D836-7485-5C40-DFDF5C2AEF4F}"/>
          </ac:spMkLst>
        </pc:spChg>
      </pc:sldChg>
      <pc:sldChg chg="modSp mod">
        <pc:chgData name="Le Thi Kieu Trang" userId="5328ddf0-b8c7-4bba-ad6b-017a18ae336b" providerId="ADAL" clId="{7E28F35E-EDDA-4196-8347-1FEE51063C7C}" dt="2025-11-13T14:38:51.797" v="277" actId="207"/>
        <pc:sldMkLst>
          <pc:docMk/>
          <pc:sldMk cId="0" sldId="261"/>
        </pc:sldMkLst>
        <pc:spChg chg="mod">
          <ac:chgData name="Le Thi Kieu Trang" userId="5328ddf0-b8c7-4bba-ad6b-017a18ae336b" providerId="ADAL" clId="{7E28F35E-EDDA-4196-8347-1FEE51063C7C}" dt="2025-11-13T14:36:09.066" v="180" actId="14100"/>
          <ac:spMkLst>
            <pc:docMk/>
            <pc:sldMk cId="0" sldId="261"/>
            <ac:spMk id="5" creationId="{00000000-0000-0000-0000-000000000000}"/>
          </ac:spMkLst>
        </pc:spChg>
        <pc:spChg chg="mod">
          <ac:chgData name="Le Thi Kieu Trang" userId="5328ddf0-b8c7-4bba-ad6b-017a18ae336b" providerId="ADAL" clId="{7E28F35E-EDDA-4196-8347-1FEE51063C7C}" dt="2025-11-13T14:36:53.104" v="239" actId="20577"/>
          <ac:spMkLst>
            <pc:docMk/>
            <pc:sldMk cId="0" sldId="261"/>
            <ac:spMk id="14" creationId="{00000000-0000-0000-0000-000000000000}"/>
          </ac:spMkLst>
        </pc:spChg>
        <pc:spChg chg="mod">
          <ac:chgData name="Le Thi Kieu Trang" userId="5328ddf0-b8c7-4bba-ad6b-017a18ae336b" providerId="ADAL" clId="{7E28F35E-EDDA-4196-8347-1FEE51063C7C}" dt="2025-11-13T14:36:17.091" v="184" actId="1076"/>
          <ac:spMkLst>
            <pc:docMk/>
            <pc:sldMk cId="0" sldId="261"/>
            <ac:spMk id="15" creationId="{00000000-0000-0000-0000-000000000000}"/>
          </ac:spMkLst>
        </pc:spChg>
        <pc:spChg chg="mod">
          <ac:chgData name="Le Thi Kieu Trang" userId="5328ddf0-b8c7-4bba-ad6b-017a18ae336b" providerId="ADAL" clId="{7E28F35E-EDDA-4196-8347-1FEE51063C7C}" dt="2025-11-13T14:36:15.873" v="183" actId="1076"/>
          <ac:spMkLst>
            <pc:docMk/>
            <pc:sldMk cId="0" sldId="261"/>
            <ac:spMk id="20" creationId="{00000000-0000-0000-0000-000000000000}"/>
          </ac:spMkLst>
        </pc:spChg>
        <pc:spChg chg="mod">
          <ac:chgData name="Le Thi Kieu Trang" userId="5328ddf0-b8c7-4bba-ad6b-017a18ae336b" providerId="ADAL" clId="{7E28F35E-EDDA-4196-8347-1FEE51063C7C}" dt="2025-11-13T14:36:14.785" v="182" actId="1076"/>
          <ac:spMkLst>
            <pc:docMk/>
            <pc:sldMk cId="0" sldId="261"/>
            <ac:spMk id="25" creationId="{00000000-0000-0000-0000-000000000000}"/>
          </ac:spMkLst>
        </pc:spChg>
        <pc:spChg chg="mod">
          <ac:chgData name="Le Thi Kieu Trang" userId="5328ddf0-b8c7-4bba-ad6b-017a18ae336b" providerId="ADAL" clId="{7E28F35E-EDDA-4196-8347-1FEE51063C7C}" dt="2025-11-13T14:35:02.947" v="176" actId="20577"/>
          <ac:spMkLst>
            <pc:docMk/>
            <pc:sldMk cId="0" sldId="261"/>
            <ac:spMk id="28" creationId="{00000000-0000-0000-0000-000000000000}"/>
          </ac:spMkLst>
        </pc:spChg>
        <pc:spChg chg="mod">
          <ac:chgData name="Le Thi Kieu Trang" userId="5328ddf0-b8c7-4bba-ad6b-017a18ae336b" providerId="ADAL" clId="{7E28F35E-EDDA-4196-8347-1FEE51063C7C}" dt="2025-11-13T14:36:45.901" v="204" actId="20577"/>
          <ac:spMkLst>
            <pc:docMk/>
            <pc:sldMk cId="0" sldId="261"/>
            <ac:spMk id="29" creationId="{00000000-0000-0000-0000-000000000000}"/>
          </ac:spMkLst>
        </pc:spChg>
        <pc:spChg chg="mod">
          <ac:chgData name="Le Thi Kieu Trang" userId="5328ddf0-b8c7-4bba-ad6b-017a18ae336b" providerId="ADAL" clId="{7E28F35E-EDDA-4196-8347-1FEE51063C7C}" dt="2025-11-13T14:38:51.797" v="277" actId="207"/>
          <ac:spMkLst>
            <pc:docMk/>
            <pc:sldMk cId="0" sldId="261"/>
            <ac:spMk id="32" creationId="{00000000-0000-0000-0000-000000000000}"/>
          </ac:spMkLst>
        </pc:spChg>
      </pc:sldChg>
      <pc:sldChg chg="modSp mod">
        <pc:chgData name="Le Thi Kieu Trang" userId="5328ddf0-b8c7-4bba-ad6b-017a18ae336b" providerId="ADAL" clId="{7E28F35E-EDDA-4196-8347-1FEE51063C7C}" dt="2025-11-13T14:40:12.528" v="312" actId="20577"/>
        <pc:sldMkLst>
          <pc:docMk/>
          <pc:sldMk cId="0" sldId="262"/>
        </pc:sldMkLst>
        <pc:spChg chg="mod">
          <ac:chgData name="Le Thi Kieu Trang" userId="5328ddf0-b8c7-4bba-ad6b-017a18ae336b" providerId="ADAL" clId="{7E28F35E-EDDA-4196-8347-1FEE51063C7C}" dt="2025-11-13T14:39:21.444" v="285" actId="20577"/>
          <ac:spMkLst>
            <pc:docMk/>
            <pc:sldMk cId="0" sldId="262"/>
            <ac:spMk id="3" creationId="{00000000-0000-0000-0000-000000000000}"/>
          </ac:spMkLst>
        </pc:spChg>
        <pc:spChg chg="mod">
          <ac:chgData name="Le Thi Kieu Trang" userId="5328ddf0-b8c7-4bba-ad6b-017a18ae336b" providerId="ADAL" clId="{7E28F35E-EDDA-4196-8347-1FEE51063C7C}" dt="2025-11-13T14:40:02.340" v="296" actId="20577"/>
          <ac:spMkLst>
            <pc:docMk/>
            <pc:sldMk cId="0" sldId="262"/>
            <ac:spMk id="12" creationId="{00000000-0000-0000-0000-000000000000}"/>
          </ac:spMkLst>
        </pc:spChg>
        <pc:spChg chg="mod">
          <ac:chgData name="Le Thi Kieu Trang" userId="5328ddf0-b8c7-4bba-ad6b-017a18ae336b" providerId="ADAL" clId="{7E28F35E-EDDA-4196-8347-1FEE51063C7C}" dt="2025-11-13T14:40:06.987" v="304" actId="20577"/>
          <ac:spMkLst>
            <pc:docMk/>
            <pc:sldMk cId="0" sldId="262"/>
            <ac:spMk id="13" creationId="{00000000-0000-0000-0000-000000000000}"/>
          </ac:spMkLst>
        </pc:spChg>
        <pc:spChg chg="mod">
          <ac:chgData name="Le Thi Kieu Trang" userId="5328ddf0-b8c7-4bba-ad6b-017a18ae336b" providerId="ADAL" clId="{7E28F35E-EDDA-4196-8347-1FEE51063C7C}" dt="2025-11-13T14:40:12.528" v="312" actId="20577"/>
          <ac:spMkLst>
            <pc:docMk/>
            <pc:sldMk cId="0" sldId="262"/>
            <ac:spMk id="14" creationId="{00000000-0000-0000-0000-000000000000}"/>
          </ac:spMkLst>
        </pc:spChg>
      </pc:sldChg>
      <pc:sldChg chg="addSp delSp modSp mod">
        <pc:chgData name="Le Thi Kieu Trang" userId="5328ddf0-b8c7-4bba-ad6b-017a18ae336b" providerId="ADAL" clId="{7E28F35E-EDDA-4196-8347-1FEE51063C7C}" dt="2025-11-13T14:42:38.999" v="336" actId="14100"/>
        <pc:sldMkLst>
          <pc:docMk/>
          <pc:sldMk cId="0" sldId="264"/>
        </pc:sldMkLst>
        <pc:spChg chg="mod">
          <ac:chgData name="Le Thi Kieu Trang" userId="5328ddf0-b8c7-4bba-ad6b-017a18ae336b" providerId="ADAL" clId="{7E28F35E-EDDA-4196-8347-1FEE51063C7C}" dt="2025-11-13T14:41:07.508" v="316" actId="20577"/>
          <ac:spMkLst>
            <pc:docMk/>
            <pc:sldMk cId="0" sldId="264"/>
            <ac:spMk id="6" creationId="{00000000-0000-0000-0000-000000000000}"/>
          </ac:spMkLst>
        </pc:spChg>
        <pc:spChg chg="mod">
          <ac:chgData name="Le Thi Kieu Trang" userId="5328ddf0-b8c7-4bba-ad6b-017a18ae336b" providerId="ADAL" clId="{7E28F35E-EDDA-4196-8347-1FEE51063C7C}" dt="2025-11-13T14:41:59.755" v="328" actId="1076"/>
          <ac:spMkLst>
            <pc:docMk/>
            <pc:sldMk cId="0" sldId="264"/>
            <ac:spMk id="7" creationId="{00000000-0000-0000-0000-000000000000}"/>
          </ac:spMkLst>
        </pc:spChg>
        <pc:spChg chg="mod">
          <ac:chgData name="Le Thi Kieu Trang" userId="5328ddf0-b8c7-4bba-ad6b-017a18ae336b" providerId="ADAL" clId="{7E28F35E-EDDA-4196-8347-1FEE51063C7C}" dt="2025-11-13T14:41:48.160" v="325" actId="20577"/>
          <ac:spMkLst>
            <pc:docMk/>
            <pc:sldMk cId="0" sldId="264"/>
            <ac:spMk id="9" creationId="{00000000-0000-0000-0000-000000000000}"/>
          </ac:spMkLst>
        </pc:spChg>
        <pc:spChg chg="mod">
          <ac:chgData name="Le Thi Kieu Trang" userId="5328ddf0-b8c7-4bba-ad6b-017a18ae336b" providerId="ADAL" clId="{7E28F35E-EDDA-4196-8347-1FEE51063C7C}" dt="2025-11-13T14:42:08.991" v="332" actId="20577"/>
          <ac:spMkLst>
            <pc:docMk/>
            <pc:sldMk cId="0" sldId="264"/>
            <ac:spMk id="10" creationId="{00000000-0000-0000-0000-000000000000}"/>
          </ac:spMkLst>
        </pc:spChg>
        <pc:spChg chg="mod">
          <ac:chgData name="Le Thi Kieu Trang" userId="5328ddf0-b8c7-4bba-ad6b-017a18ae336b" providerId="ADAL" clId="{7E28F35E-EDDA-4196-8347-1FEE51063C7C}" dt="2025-11-13T14:41:55.284" v="327" actId="1076"/>
          <ac:spMkLst>
            <pc:docMk/>
            <pc:sldMk cId="0" sldId="264"/>
            <ac:spMk id="13" creationId="{00000000-0000-0000-0000-000000000000}"/>
          </ac:spMkLst>
        </pc:spChg>
        <pc:picChg chg="add mod">
          <ac:chgData name="Le Thi Kieu Trang" userId="5328ddf0-b8c7-4bba-ad6b-017a18ae336b" providerId="ADAL" clId="{7E28F35E-EDDA-4196-8347-1FEE51063C7C}" dt="2025-11-13T14:42:38.999" v="336" actId="14100"/>
          <ac:picMkLst>
            <pc:docMk/>
            <pc:sldMk cId="0" sldId="264"/>
            <ac:picMk id="4" creationId="{DD59EB2D-1827-9CD5-FEA9-CC8F2BDE7D23}"/>
          </ac:picMkLst>
        </pc:picChg>
        <pc:picChg chg="del">
          <ac:chgData name="Le Thi Kieu Trang" userId="5328ddf0-b8c7-4bba-ad6b-017a18ae336b" providerId="ADAL" clId="{7E28F35E-EDDA-4196-8347-1FEE51063C7C}" dt="2025-11-13T14:42:17.471" v="333" actId="478"/>
          <ac:picMkLst>
            <pc:docMk/>
            <pc:sldMk cId="0" sldId="264"/>
            <ac:picMk id="17" creationId="{5D0D7CD6-DAB0-C907-E62F-85F7B2647A64}"/>
          </ac:picMkLst>
        </pc:picChg>
      </pc:sldChg>
      <pc:sldChg chg="modSp mod">
        <pc:chgData name="Le Thi Kieu Trang" userId="5328ddf0-b8c7-4bba-ad6b-017a18ae336b" providerId="ADAL" clId="{7E28F35E-EDDA-4196-8347-1FEE51063C7C}" dt="2025-11-13T14:43:51.182" v="344" actId="1076"/>
        <pc:sldMkLst>
          <pc:docMk/>
          <pc:sldMk cId="0" sldId="269"/>
        </pc:sldMkLst>
        <pc:spChg chg="mod">
          <ac:chgData name="Le Thi Kieu Trang" userId="5328ddf0-b8c7-4bba-ad6b-017a18ae336b" providerId="ADAL" clId="{7E28F35E-EDDA-4196-8347-1FEE51063C7C}" dt="2025-11-13T14:43:51.182" v="344" actId="1076"/>
          <ac:spMkLst>
            <pc:docMk/>
            <pc:sldMk cId="0" sldId="269"/>
            <ac:spMk id="14" creationId="{00000000-0000-0000-0000-000000000000}"/>
          </ac:spMkLst>
        </pc:spChg>
      </pc:sldChg>
      <pc:sldChg chg="modSp add del mod">
        <pc:chgData name="Le Thi Kieu Trang" userId="5328ddf0-b8c7-4bba-ad6b-017a18ae336b" providerId="ADAL" clId="{7E28F35E-EDDA-4196-8347-1FEE51063C7C}" dt="2025-11-13T14:44:28.925" v="345" actId="207"/>
        <pc:sldMkLst>
          <pc:docMk/>
          <pc:sldMk cId="0" sldId="272"/>
        </pc:sldMkLst>
        <pc:spChg chg="mod">
          <ac:chgData name="Le Thi Kieu Trang" userId="5328ddf0-b8c7-4bba-ad6b-017a18ae336b" providerId="ADAL" clId="{7E28F35E-EDDA-4196-8347-1FEE51063C7C}" dt="2025-11-13T14:44:28.925" v="345" actId="207"/>
          <ac:spMkLst>
            <pc:docMk/>
            <pc:sldMk cId="0" sldId="272"/>
            <ac:spMk id="2"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3"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4"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5"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8"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9"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12"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13"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16" creationId="{00000000-0000-0000-0000-000000000000}"/>
          </ac:spMkLst>
        </pc:spChg>
        <pc:spChg chg="mod">
          <ac:chgData name="Le Thi Kieu Trang" userId="5328ddf0-b8c7-4bba-ad6b-017a18ae336b" providerId="ADAL" clId="{7E28F35E-EDDA-4196-8347-1FEE51063C7C}" dt="2025-11-13T14:44:28.925" v="345" actId="207"/>
          <ac:spMkLst>
            <pc:docMk/>
            <pc:sldMk cId="0" sldId="272"/>
            <ac:spMk id="17" creationId="{00000000-0000-0000-0000-000000000000}"/>
          </ac:spMkLst>
        </pc:spChg>
      </pc:sldChg>
      <pc:sldChg chg="modSp add mod">
        <pc:chgData name="Le Thi Kieu Trang" userId="5328ddf0-b8c7-4bba-ad6b-017a18ae336b" providerId="ADAL" clId="{7E28F35E-EDDA-4196-8347-1FEE51063C7C}" dt="2025-11-13T14:44:50.079" v="348" actId="255"/>
        <pc:sldMkLst>
          <pc:docMk/>
          <pc:sldMk cId="0" sldId="273"/>
        </pc:sldMkLst>
        <pc:spChg chg="mod">
          <ac:chgData name="Le Thi Kieu Trang" userId="5328ddf0-b8c7-4bba-ad6b-017a18ae336b" providerId="ADAL" clId="{7E28F35E-EDDA-4196-8347-1FEE51063C7C}" dt="2025-11-13T14:44:50.079" v="348" actId="255"/>
          <ac:spMkLst>
            <pc:docMk/>
            <pc:sldMk cId="0" sldId="273"/>
            <ac:spMk id="2"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4"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5"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7"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8"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0"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1"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3"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4"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6"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7"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19" creationId="{00000000-0000-0000-0000-000000000000}"/>
          </ac:spMkLst>
        </pc:spChg>
        <pc:spChg chg="mod">
          <ac:chgData name="Le Thi Kieu Trang" userId="5328ddf0-b8c7-4bba-ad6b-017a18ae336b" providerId="ADAL" clId="{7E28F35E-EDDA-4196-8347-1FEE51063C7C}" dt="2025-11-13T14:44:46.643" v="347" actId="255"/>
          <ac:spMkLst>
            <pc:docMk/>
            <pc:sldMk cId="0" sldId="273"/>
            <ac:spMk id="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3813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90770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7590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github.com/agnessktt/HTTM_NHOM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5.webp"/><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svg"/></Relationships>
</file>

<file path=ppt/slides/_rels/slide7.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 Id="rId14" Type="http://schemas.openxmlformats.org/officeDocument/2006/relationships/image" Target="../media/image45.sv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6917" y="-82296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sp>
        <p:nvSpPr>
          <p:cNvPr id="3" name="Freeform 3"/>
          <p:cNvSpPr/>
          <p:nvPr/>
        </p:nvSpPr>
        <p:spPr>
          <a:xfrm rot="5400000" flipH="1">
            <a:off x="-436917" y="576072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sp>
        <p:nvSpPr>
          <p:cNvPr id="4" name="Freeform 4"/>
          <p:cNvSpPr/>
          <p:nvPr/>
        </p:nvSpPr>
        <p:spPr>
          <a:xfrm rot="-5400000">
            <a:off x="12547563" y="576072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sp>
        <p:nvSpPr>
          <p:cNvPr id="5" name="Freeform 5"/>
          <p:cNvSpPr/>
          <p:nvPr/>
        </p:nvSpPr>
        <p:spPr>
          <a:xfrm rot="-5400000" flipH="1">
            <a:off x="12547563" y="-82296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a:endParaRPr lang="en-US" sz="1440">
              <a:latin typeface="Times New Roman" panose="02020603050405020304" pitchFamily="18" charset="0"/>
              <a:cs typeface="Times New Roman" panose="02020603050405020304" pitchFamily="18" charset="0"/>
            </a:endParaRPr>
          </a:p>
        </p:txBody>
      </p:sp>
      <p:grpSp>
        <p:nvGrpSpPr>
          <p:cNvPr id="6" name="Group 6"/>
          <p:cNvGrpSpPr/>
          <p:nvPr/>
        </p:nvGrpSpPr>
        <p:grpSpPr>
          <a:xfrm>
            <a:off x="-1958340" y="7368540"/>
            <a:ext cx="18547080" cy="1043940"/>
            <a:chOff x="0" y="0"/>
            <a:chExt cx="6106035" cy="343684"/>
          </a:xfrm>
        </p:grpSpPr>
        <p:sp>
          <p:nvSpPr>
            <p:cNvPr id="7" name="Freeform 7"/>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latin typeface="Times New Roman" panose="02020603050405020304" pitchFamily="18" charset="0"/>
                <a:cs typeface="Times New Roman" panose="02020603050405020304" pitchFamily="18" charset="0"/>
              </a:endParaRPr>
            </a:p>
          </p:txBody>
        </p:sp>
        <p:sp>
          <p:nvSpPr>
            <p:cNvPr id="8" name="TextBox 8"/>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1958340" y="-175260"/>
            <a:ext cx="18547080" cy="1043940"/>
            <a:chOff x="0" y="0"/>
            <a:chExt cx="6106035" cy="343684"/>
          </a:xfrm>
        </p:grpSpPr>
        <p:sp>
          <p:nvSpPr>
            <p:cNvPr id="10" name="Freeform 10"/>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3418726" y="6431028"/>
            <a:ext cx="7792949" cy="620876"/>
          </a:xfrm>
          <a:prstGeom prst="rect">
            <a:avLst/>
          </a:prstGeom>
        </p:spPr>
        <p:txBody>
          <a:bodyPr lIns="0" tIns="0" rIns="0" bIns="0" rtlCol="0" anchor="t">
            <a:spAutoFit/>
          </a:bodyPr>
          <a:lstStyle/>
          <a:p>
            <a:pPr algn="ctr">
              <a:lnSpc>
                <a:spcPts val="5326"/>
              </a:lnSpc>
            </a:pPr>
            <a:r>
              <a:rPr lang="en-US" sz="3805">
                <a:latin typeface="Times New Roman" panose="02020603050405020304" pitchFamily="18" charset="0"/>
                <a:ea typeface="Slim Russian"/>
                <a:cs typeface="Times New Roman" panose="02020603050405020304" pitchFamily="18" charset="0"/>
                <a:sym typeface="Slim Russian"/>
              </a:rPr>
              <a:t>NHÓM 8</a:t>
            </a:r>
          </a:p>
        </p:txBody>
      </p:sp>
      <p:sp>
        <p:nvSpPr>
          <p:cNvPr id="13" name="TextBox 13"/>
          <p:cNvSpPr txBox="1"/>
          <p:nvPr/>
        </p:nvSpPr>
        <p:spPr>
          <a:xfrm>
            <a:off x="2360385" y="1877097"/>
            <a:ext cx="9909630" cy="1556965"/>
          </a:xfrm>
          <a:prstGeom prst="rect">
            <a:avLst/>
          </a:prstGeom>
        </p:spPr>
        <p:txBody>
          <a:bodyPr lIns="0" tIns="0" rIns="0" bIns="0" rtlCol="0" anchor="t">
            <a:spAutoFit/>
          </a:bodyPr>
          <a:lstStyle/>
          <a:p>
            <a:pPr algn="ctr">
              <a:lnSpc>
                <a:spcPts val="13313"/>
              </a:lnSpc>
            </a:pPr>
            <a:r>
              <a:rPr lang="en-US" sz="9509" dirty="0">
                <a:latin typeface="Times New Roman" panose="02020603050405020304" pitchFamily="18" charset="0"/>
                <a:ea typeface="CAT Neuzeit"/>
                <a:cs typeface="Times New Roman" panose="02020603050405020304" pitchFamily="18" charset="0"/>
                <a:sym typeface="CAT Neuzeit"/>
              </a:rPr>
              <a:t>AIRCARE</a:t>
            </a:r>
          </a:p>
        </p:txBody>
      </p:sp>
      <p:sp>
        <p:nvSpPr>
          <p:cNvPr id="14" name="TextBox 14"/>
          <p:cNvSpPr txBox="1"/>
          <p:nvPr/>
        </p:nvSpPr>
        <p:spPr>
          <a:xfrm>
            <a:off x="1372724" y="3745122"/>
            <a:ext cx="12433866" cy="2100832"/>
          </a:xfrm>
          <a:prstGeom prst="rect">
            <a:avLst/>
          </a:prstGeom>
        </p:spPr>
        <p:txBody>
          <a:bodyPr lIns="0" tIns="0" rIns="0" bIns="0" rtlCol="0" anchor="t">
            <a:spAutoFit/>
          </a:bodyPr>
          <a:lstStyle/>
          <a:p>
            <a:pPr algn="ctr">
              <a:lnSpc>
                <a:spcPct val="116000"/>
              </a:lnSpc>
              <a:spcAft>
                <a:spcPts val="800"/>
              </a:spcAft>
            </a:pPr>
            <a:r>
              <a:rPr lang="en-US" sz="4000" b="1" dirty="0">
                <a:effectLst/>
                <a:latin typeface="Times New Roman" panose="02020603050405020304" pitchFamily="18" charset="0"/>
                <a:ea typeface="Aptos" panose="020B0004020202020204" pitchFamily="34" charset="0"/>
                <a:cs typeface="Times New Roman" panose="02020603050405020304" pitchFamily="18" charset="0"/>
              </a:rPr>
              <a:t>DỰ ĐOÁN CHẤT LƯỢNG KHÔNG KHÍ AQI (TỪ PM2.5) TRONG 1, 3, 6 GIỜ TIẾP THEO VÀ CẢNH BÁO SỨC KHỎE CÁ NHÂN</a:t>
            </a:r>
            <a:endParaRPr lang="en-US" sz="40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39178"/>
            <a:ext cx="13042821" cy="1240155"/>
          </a:xfrm>
          <a:prstGeom prst="rect">
            <a:avLst/>
          </a:prstGeom>
          <a:noFill/>
          <a:ln/>
        </p:spPr>
        <p:txBody>
          <a:bodyPr wrap="square" lIns="0" tIns="0" rIns="0" bIns="0" rtlCol="0" anchor="t"/>
          <a:lstStyle/>
          <a:p>
            <a:pPr marL="0" indent="0" algn="l">
              <a:lnSpc>
                <a:spcPts val="4850"/>
              </a:lnSpc>
              <a:buNone/>
            </a:pPr>
            <a:r>
              <a:rPr lang="en-US" sz="3900" dirty="0">
                <a:latin typeface="Times New Roman" panose="02020603050405020304" pitchFamily="18" charset="0"/>
                <a:cs typeface="Times New Roman" panose="02020603050405020304" pitchFamily="18" charset="0"/>
              </a:rPr>
              <a:t>THÀNH VIÊN NHÓM 8</a:t>
            </a:r>
          </a:p>
        </p:txBody>
      </p:sp>
      <p:sp>
        <p:nvSpPr>
          <p:cNvPr id="3" name="Text 1"/>
          <p:cNvSpPr/>
          <p:nvPr/>
        </p:nvSpPr>
        <p:spPr>
          <a:xfrm>
            <a:off x="793790" y="2576989"/>
            <a:ext cx="13042821" cy="317540"/>
          </a:xfrm>
          <a:prstGeom prst="rect">
            <a:avLst/>
          </a:prstGeom>
          <a:noFill/>
          <a:ln/>
        </p:spPr>
        <p:txBody>
          <a:bodyPr wrap="none" lIns="0" tIns="0" rIns="0" bIns="0" rtlCol="0" anchor="t"/>
          <a:lstStyle/>
          <a:p>
            <a:pPr marL="0" indent="0" algn="l">
              <a:lnSpc>
                <a:spcPts val="2500"/>
              </a:lnSpc>
              <a:buNone/>
            </a:pPr>
            <a:endParaRPr lang="en-US" sz="1550" dirty="0">
              <a:latin typeface="Times New Roman" panose="02020603050405020304" pitchFamily="18" charset="0"/>
              <a:cs typeface="Times New Roman" panose="02020603050405020304" pitchFamily="18" charset="0"/>
            </a:endParaRPr>
          </a:p>
        </p:txBody>
      </p:sp>
      <p:sp>
        <p:nvSpPr>
          <p:cNvPr id="4" name="Shape 2"/>
          <p:cNvSpPr/>
          <p:nvPr/>
        </p:nvSpPr>
        <p:spPr>
          <a:xfrm>
            <a:off x="793790" y="3117771"/>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992148" y="3316129"/>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3479721"/>
            <a:ext cx="267891" cy="267891"/>
          </a:xfrm>
          <a:prstGeom prst="rect">
            <a:avLst/>
          </a:prstGeom>
        </p:spPr>
      </p:pic>
      <p:sp>
        <p:nvSpPr>
          <p:cNvPr id="7" name="Text 4"/>
          <p:cNvSpPr/>
          <p:nvPr/>
        </p:nvSpPr>
        <p:spPr>
          <a:xfrm>
            <a:off x="992148" y="41097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Lê Thị Kiều Trang</a:t>
            </a:r>
            <a:endParaRPr lang="en-US" sz="1950" dirty="0">
              <a:latin typeface="Times New Roman" panose="02020603050405020304" pitchFamily="18" charset="0"/>
              <a:cs typeface="Times New Roman" panose="02020603050405020304" pitchFamily="18" charset="0"/>
            </a:endParaRPr>
          </a:p>
        </p:txBody>
      </p:sp>
      <p:sp>
        <p:nvSpPr>
          <p:cNvPr id="8" name="Text 5"/>
          <p:cNvSpPr/>
          <p:nvPr/>
        </p:nvSpPr>
        <p:spPr>
          <a:xfrm>
            <a:off x="992148" y="4539020"/>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23010502</a:t>
            </a:r>
            <a:endParaRPr lang="en-US" sz="1550" dirty="0">
              <a:latin typeface="Times New Roman" panose="02020603050405020304" pitchFamily="18" charset="0"/>
              <a:cs typeface="Times New Roman" panose="02020603050405020304" pitchFamily="18" charset="0"/>
            </a:endParaRPr>
          </a:p>
        </p:txBody>
      </p:sp>
      <p:sp>
        <p:nvSpPr>
          <p:cNvPr id="9" name="Shape 6"/>
          <p:cNvSpPr/>
          <p:nvPr/>
        </p:nvSpPr>
        <p:spPr>
          <a:xfrm>
            <a:off x="7414379" y="3117771"/>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7"/>
          <p:cNvSpPr/>
          <p:nvPr/>
        </p:nvSpPr>
        <p:spPr>
          <a:xfrm>
            <a:off x="7612737" y="3316129"/>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6448" y="3479721"/>
            <a:ext cx="267891" cy="267891"/>
          </a:xfrm>
          <a:prstGeom prst="rect">
            <a:avLst/>
          </a:prstGeom>
        </p:spPr>
      </p:pic>
      <p:sp>
        <p:nvSpPr>
          <p:cNvPr id="12" name="Text 8"/>
          <p:cNvSpPr/>
          <p:nvPr/>
        </p:nvSpPr>
        <p:spPr>
          <a:xfrm>
            <a:off x="7612737" y="41097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Quách Hữu Nam</a:t>
            </a:r>
            <a:endParaRPr lang="en-US" sz="1950" dirty="0">
              <a:latin typeface="Times New Roman" panose="02020603050405020304" pitchFamily="18" charset="0"/>
              <a:cs typeface="Times New Roman" panose="02020603050405020304" pitchFamily="18" charset="0"/>
            </a:endParaRPr>
          </a:p>
        </p:txBody>
      </p:sp>
      <p:sp>
        <p:nvSpPr>
          <p:cNvPr id="13" name="Text 9"/>
          <p:cNvSpPr/>
          <p:nvPr/>
        </p:nvSpPr>
        <p:spPr>
          <a:xfrm>
            <a:off x="7612737" y="4539020"/>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23012358</a:t>
            </a:r>
            <a:endParaRPr lang="en-US" sz="1550" dirty="0">
              <a:latin typeface="Times New Roman" panose="02020603050405020304" pitchFamily="18" charset="0"/>
              <a:cs typeface="Times New Roman" panose="02020603050405020304" pitchFamily="18" charset="0"/>
            </a:endParaRPr>
          </a:p>
        </p:txBody>
      </p:sp>
      <p:sp>
        <p:nvSpPr>
          <p:cNvPr id="14" name="Shape 10"/>
          <p:cNvSpPr/>
          <p:nvPr/>
        </p:nvSpPr>
        <p:spPr>
          <a:xfrm>
            <a:off x="793790" y="5253276"/>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5" name="Shape 11"/>
          <p:cNvSpPr/>
          <p:nvPr/>
        </p:nvSpPr>
        <p:spPr>
          <a:xfrm>
            <a:off x="992148" y="5451634"/>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6"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5859" y="5615226"/>
            <a:ext cx="267891" cy="267891"/>
          </a:xfrm>
          <a:prstGeom prst="rect">
            <a:avLst/>
          </a:prstGeom>
        </p:spPr>
      </p:pic>
      <p:sp>
        <p:nvSpPr>
          <p:cNvPr id="17" name="Text 12"/>
          <p:cNvSpPr/>
          <p:nvPr/>
        </p:nvSpPr>
        <p:spPr>
          <a:xfrm>
            <a:off x="992148" y="62453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Nguyễn Minh Sang</a:t>
            </a:r>
            <a:endParaRPr lang="en-US" sz="1950" dirty="0">
              <a:latin typeface="Times New Roman" panose="02020603050405020304" pitchFamily="18" charset="0"/>
              <a:cs typeface="Times New Roman" panose="02020603050405020304" pitchFamily="18" charset="0"/>
            </a:endParaRPr>
          </a:p>
        </p:txBody>
      </p:sp>
      <p:sp>
        <p:nvSpPr>
          <p:cNvPr id="18" name="Text 13"/>
          <p:cNvSpPr/>
          <p:nvPr/>
        </p:nvSpPr>
        <p:spPr>
          <a:xfrm>
            <a:off x="992148" y="6674525"/>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23010888</a:t>
            </a:r>
            <a:endParaRPr lang="en-US" sz="1550" dirty="0">
              <a:latin typeface="Times New Roman" panose="02020603050405020304" pitchFamily="18" charset="0"/>
              <a:cs typeface="Times New Roman" panose="02020603050405020304" pitchFamily="18" charset="0"/>
            </a:endParaRPr>
          </a:p>
        </p:txBody>
      </p:sp>
      <p:sp>
        <p:nvSpPr>
          <p:cNvPr id="19" name="Shape 14"/>
          <p:cNvSpPr/>
          <p:nvPr/>
        </p:nvSpPr>
        <p:spPr>
          <a:xfrm>
            <a:off x="7414379" y="5253276"/>
            <a:ext cx="6422231" cy="1937147"/>
          </a:xfrm>
          <a:prstGeom prst="roundRect">
            <a:avLst>
              <a:gd name="adj" fmla="val 1537"/>
            </a:avLst>
          </a:prstGeom>
          <a:solidFill>
            <a:srgbClr val="4C505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Shape 15"/>
          <p:cNvSpPr/>
          <p:nvPr/>
        </p:nvSpPr>
        <p:spPr>
          <a:xfrm>
            <a:off x="7612737" y="5451634"/>
            <a:ext cx="595313" cy="595313"/>
          </a:xfrm>
          <a:prstGeom prst="roundRect">
            <a:avLst>
              <a:gd name="adj" fmla="val 15358451"/>
            </a:avLst>
          </a:prstGeom>
          <a:solidFill>
            <a:srgbClr val="AC9EF5"/>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2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76448" y="5615226"/>
            <a:ext cx="267891" cy="267891"/>
          </a:xfrm>
          <a:prstGeom prst="rect">
            <a:avLst/>
          </a:prstGeom>
        </p:spPr>
      </p:pic>
      <p:sp>
        <p:nvSpPr>
          <p:cNvPr id="22" name="Text 16"/>
          <p:cNvSpPr/>
          <p:nvPr/>
        </p:nvSpPr>
        <p:spPr>
          <a:xfrm>
            <a:off x="7612737" y="62453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Times New Roman" panose="02020603050405020304" pitchFamily="18" charset="0"/>
                <a:ea typeface="DM Sans Medium" pitchFamily="34" charset="-122"/>
                <a:cs typeface="Times New Roman" panose="02020603050405020304" pitchFamily="18" charset="0"/>
              </a:rPr>
              <a:t>Nguyễn Đức Trường</a:t>
            </a:r>
            <a:endParaRPr lang="en-US" sz="1950" dirty="0">
              <a:latin typeface="Times New Roman" panose="02020603050405020304" pitchFamily="18" charset="0"/>
              <a:cs typeface="Times New Roman" panose="02020603050405020304" pitchFamily="18" charset="0"/>
            </a:endParaRPr>
          </a:p>
        </p:txBody>
      </p:sp>
      <p:sp>
        <p:nvSpPr>
          <p:cNvPr id="23" name="Text 17"/>
          <p:cNvSpPr/>
          <p:nvPr/>
        </p:nvSpPr>
        <p:spPr>
          <a:xfrm>
            <a:off x="7612737" y="6674525"/>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Times New Roman" panose="02020603050405020304" pitchFamily="18" charset="0"/>
                <a:ea typeface="Inter" pitchFamily="34" charset="-122"/>
                <a:cs typeface="Times New Roman" panose="02020603050405020304" pitchFamily="18" charset="0"/>
              </a:rPr>
              <a:t>MSV: 23010767</a:t>
            </a:r>
            <a:endParaRPr lang="en-US" sz="15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683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89" y="1159311"/>
            <a:ext cx="13042821" cy="1240155"/>
          </a:xfrm>
          <a:prstGeom prst="rect">
            <a:avLst/>
          </a:prstGeom>
          <a:noFill/>
          <a:ln/>
        </p:spPr>
        <p:txBody>
          <a:bodyPr wrap="square" lIns="0" tIns="0" rIns="0" bIns="0" rtlCol="0" anchor="t"/>
          <a:lstStyle/>
          <a:p>
            <a:pPr algn="ctr">
              <a:lnSpc>
                <a:spcPts val="4850"/>
              </a:lnSpc>
            </a:pPr>
            <a:r>
              <a:rPr lang="en-US" sz="3200" dirty="0">
                <a:latin typeface="Times New Roman" panose="02020603050405020304" pitchFamily="18" charset="0"/>
                <a:ea typeface="Instrument Sans Semi Bold" pitchFamily="34" charset="-122"/>
                <a:cs typeface="Times New Roman" panose="02020603050405020304" pitchFamily="18" charset="0"/>
              </a:rPr>
              <a:t>DỰ ÁN AIRCARE: </a:t>
            </a:r>
            <a:r>
              <a:rPr lang="en-US" sz="3200" dirty="0">
                <a:effectLst/>
                <a:latin typeface="Times New Roman" panose="02020603050405020304" pitchFamily="18" charset="0"/>
                <a:ea typeface="Aptos" panose="020B0004020202020204" pitchFamily="34" charset="0"/>
                <a:cs typeface="Times New Roman" panose="02020603050405020304" pitchFamily="18" charset="0"/>
              </a:rPr>
              <a:t>DỰ ĐOÁN CHẤT LƯỢNG KHÔNG KHÍ AQI (TỪ PM2.5) TRONG 1, 3, 6 GIỜ TIẾP THEO VÀ CẢNH BÁO SỨC KHỎE CÁ NHÂN</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p>
            <a:pPr marL="0" indent="0" algn="ctr">
              <a:lnSpc>
                <a:spcPts val="4850"/>
              </a:lnSpc>
              <a:buNone/>
            </a:pP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793790" y="3218021"/>
            <a:ext cx="13042821" cy="952619"/>
          </a:xfrm>
          <a:prstGeom prst="rect">
            <a:avLst/>
          </a:prstGeom>
          <a:noFill/>
          <a:ln/>
        </p:spPr>
        <p:txBody>
          <a:bodyPr wrap="square" lIns="0" tIns="0" rIns="0" bIns="0" rtlCol="0" anchor="t"/>
          <a:lstStyle/>
          <a:p>
            <a:pPr>
              <a:lnSpc>
                <a:spcPts val="2500"/>
              </a:lnSpc>
            </a:pPr>
            <a:r>
              <a:rPr lang="en-US" kern="0" dirty="0" err="1">
                <a:latin typeface="Times New Roman" panose="02020603050405020304" pitchFamily="18" charset="0"/>
                <a:ea typeface="Times New Roman" panose="02020603050405020304" pitchFamily="18" charset="0"/>
              </a:rPr>
              <a:t>D</a:t>
            </a:r>
            <a:r>
              <a:rPr lang="en-US" sz="1800" kern="0" dirty="0" err="1">
                <a:effectLst/>
                <a:latin typeface="Times New Roman" panose="02020603050405020304" pitchFamily="18" charset="0"/>
                <a:ea typeface="Times New Roman" panose="02020603050405020304" pitchFamily="18" charset="0"/>
              </a:rPr>
              <a:t>ự</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án</a:t>
            </a:r>
            <a:r>
              <a:rPr lang="en-US" sz="1800" kern="0" dirty="0">
                <a:effectLst/>
                <a:latin typeface="Times New Roman" panose="02020603050405020304" pitchFamily="18" charset="0"/>
                <a:ea typeface="Times New Roman" panose="02020603050405020304" pitchFamily="18" charset="0"/>
              </a:rPr>
              <a:t> </a:t>
            </a:r>
            <a:r>
              <a:rPr lang="vi-VN" sz="1800" kern="0" dirty="0">
                <a:effectLst/>
                <a:latin typeface="Times New Roman" panose="02020603050405020304" pitchFamily="18" charset="0"/>
                <a:ea typeface="Times New Roman" panose="02020603050405020304" pitchFamily="18" charset="0"/>
              </a:rPr>
              <a:t>AIRCARE là một hệ thống dự báo và cảnh báo chất lượng không khí (AQI) theo thời gian thực, được xây dựng như một ML Application</a:t>
            </a:r>
            <a:r>
              <a:rPr lang="en-US" sz="1800" kern="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Kết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hợp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đoán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PM2.5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LightGBM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hiểu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ngôn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ngữ</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SentenceTransformer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ra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minh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toàn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diện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vừa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đoán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xác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vừa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hiểu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giao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tiếp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nhiên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dùng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lgn="l">
              <a:lnSpc>
                <a:spcPts val="2500"/>
              </a:lnSpc>
              <a:buNone/>
            </a:pP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93790" y="4393883"/>
            <a:ext cx="6422231" cy="2254687"/>
          </a:xfrm>
          <a:prstGeom prst="roundRect">
            <a:avLst>
              <a:gd name="adj" fmla="val 7922"/>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992148" y="4592241"/>
            <a:ext cx="595313" cy="595313"/>
          </a:xfrm>
          <a:prstGeom prst="roundRect">
            <a:avLst>
              <a:gd name="adj" fmla="val 15358451"/>
            </a:avLst>
          </a:prstGeom>
          <a:solidFill>
            <a:srgbClr val="0540A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4755833"/>
            <a:ext cx="267891" cy="267891"/>
          </a:xfrm>
          <a:prstGeom prst="rect">
            <a:avLst/>
          </a:prstGeom>
        </p:spPr>
      </p:pic>
      <p:sp>
        <p:nvSpPr>
          <p:cNvPr id="7" name="Text 4"/>
          <p:cNvSpPr/>
          <p:nvPr/>
        </p:nvSpPr>
        <p:spPr>
          <a:xfrm>
            <a:off x="992148" y="5385911"/>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Dự </a:t>
            </a:r>
            <a:r>
              <a:rPr lang="en-US" dirty="0" err="1">
                <a:latin typeface="Times New Roman" panose="02020603050405020304" pitchFamily="18" charset="0"/>
                <a:ea typeface="Instrument Sans Semi Bold" pitchFamily="34" charset="-122"/>
                <a:cs typeface="Times New Roman" panose="02020603050405020304" pitchFamily="18" charset="0"/>
              </a:rPr>
              <a:t>đoán</a:t>
            </a:r>
            <a:r>
              <a:rPr lang="en-US" dirty="0">
                <a:latin typeface="Times New Roman" panose="02020603050405020304" pitchFamily="18" charset="0"/>
                <a:ea typeface="Instrument Sans Semi Bold" pitchFamily="34" charset="-122"/>
                <a:cs typeface="Times New Roman" panose="02020603050405020304" pitchFamily="18" charset="0"/>
              </a:rPr>
              <a:t> AQI (</a:t>
            </a:r>
            <a:r>
              <a:rPr lang="en-US" dirty="0" err="1">
                <a:latin typeface="Times New Roman" panose="02020603050405020304" pitchFamily="18" charset="0"/>
                <a:ea typeface="Instrument Sans Semi Bold" pitchFamily="34" charset="-122"/>
                <a:cs typeface="Times New Roman" panose="02020603050405020304" pitchFamily="18" charset="0"/>
              </a:rPr>
              <a:t>từ</a:t>
            </a:r>
            <a:r>
              <a:rPr lang="en-US" dirty="0">
                <a:latin typeface="Times New Roman" panose="02020603050405020304" pitchFamily="18" charset="0"/>
                <a:ea typeface="Instrument Sans Semi Bold" pitchFamily="34" charset="-122"/>
                <a:cs typeface="Times New Roman" panose="02020603050405020304" pitchFamily="18" charset="0"/>
              </a:rPr>
              <a:t> PM2.5)</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992148" y="5815132"/>
            <a:ext cx="6025515"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Dự báo ngắn hạn (1h, 3h, 6h) dựa trên các thông số môi trường thực tế.</a:t>
            </a:r>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7414379" y="4393883"/>
            <a:ext cx="6422231" cy="2254687"/>
          </a:xfrm>
          <a:prstGeom prst="roundRect">
            <a:avLst>
              <a:gd name="adj" fmla="val 7922"/>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7"/>
          <p:cNvSpPr/>
          <p:nvPr/>
        </p:nvSpPr>
        <p:spPr>
          <a:xfrm>
            <a:off x="7612737" y="4592241"/>
            <a:ext cx="595313" cy="595313"/>
          </a:xfrm>
          <a:prstGeom prst="roundRect">
            <a:avLst>
              <a:gd name="adj" fmla="val 15358451"/>
            </a:avLst>
          </a:prstGeom>
          <a:solidFill>
            <a:srgbClr val="1A561C"/>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6448" y="4755833"/>
            <a:ext cx="267891" cy="267891"/>
          </a:xfrm>
          <a:prstGeom prst="rect">
            <a:avLst/>
          </a:prstGeom>
        </p:spPr>
      </p:pic>
      <p:sp>
        <p:nvSpPr>
          <p:cNvPr id="12" name="Text 8"/>
          <p:cNvSpPr/>
          <p:nvPr/>
        </p:nvSpPr>
        <p:spPr>
          <a:xfrm>
            <a:off x="7612737" y="5385911"/>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Cảnh báo Sức khỏe</a:t>
            </a:r>
            <a:endParaRPr lang="en-US" dirty="0">
              <a:latin typeface="Times New Roman" panose="02020603050405020304" pitchFamily="18" charset="0"/>
              <a:cs typeface="Times New Roman" panose="02020603050405020304" pitchFamily="18" charset="0"/>
            </a:endParaRPr>
          </a:p>
        </p:txBody>
      </p:sp>
      <p:sp>
        <p:nvSpPr>
          <p:cNvPr id="13" name="Text 9"/>
          <p:cNvSpPr/>
          <p:nvPr/>
        </p:nvSpPr>
        <p:spPr>
          <a:xfrm>
            <a:off x="7612737" y="5815132"/>
            <a:ext cx="6025515"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Sinh phản hồi thông minh, cá nhân hóa theo độ tuổi, thể trạng và bệnh lý.</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94D0C38-D34B-EC46-176F-FCBA9BAE6784}"/>
              </a:ext>
            </a:extLst>
          </p:cNvPr>
          <p:cNvSpPr txBox="1"/>
          <p:nvPr/>
        </p:nvSpPr>
        <p:spPr>
          <a:xfrm>
            <a:off x="2810909" y="6932712"/>
            <a:ext cx="9931078" cy="707886"/>
          </a:xfrm>
          <a:prstGeom prst="rect">
            <a:avLst/>
          </a:prstGeom>
          <a:noFill/>
        </p:spPr>
        <p:txBody>
          <a:bodyPr wrap="square" rtlCol="0">
            <a:spAutoFit/>
          </a:bodyPr>
          <a:lstStyle/>
          <a:p>
            <a:pPr algn="ctr"/>
            <a:r>
              <a:rPr lang="vi-VN" sz="2000" dirty="0">
                <a:effectLst/>
                <a:latin typeface="Times New Roman" panose="02020603050405020304" pitchFamily="18" charset="0"/>
                <a:ea typeface="Aptos" panose="020B0004020202020204" pitchFamily="34" charset="0"/>
                <a:cs typeface="Times New Roman" panose="02020603050405020304" pitchFamily="18" charset="0"/>
              </a:rPr>
              <a:t>Mã nguồn dự án GitHub</a:t>
            </a:r>
            <a:r>
              <a:rPr lang="en-US" sz="20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000" u="sng"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7"/>
              </a:rPr>
              <a:t>https://github.com/agnessktt/HTTM_NHOM8</a:t>
            </a:r>
            <a:endParaRPr lang="en-US" sz="2000" dirty="0">
              <a:effectLst/>
              <a:latin typeface="Times New Roman" panose="02020603050405020304" pitchFamily="18" charset="0"/>
              <a:ea typeface="Aptos" panose="020B0004020202020204" pitchFamily="34"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45448" y="1378927"/>
            <a:ext cx="4961811"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TỔNG QUAN</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524264" y="2208190"/>
            <a:ext cx="3912870" cy="372070"/>
          </a:xfrm>
          <a:prstGeom prst="rect">
            <a:avLst/>
          </a:prstGeom>
          <a:noFill/>
          <a:ln/>
        </p:spPr>
        <p:txBody>
          <a:bodyPr wrap="non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Bối</a:t>
            </a:r>
            <a:r>
              <a:rPr lang="en-US" dirty="0">
                <a:latin typeface="Times New Roman" panose="02020603050405020304" pitchFamily="18" charset="0"/>
                <a:ea typeface="Instrument Sans Semi Bold" pitchFamily="34" charset="-122"/>
                <a:cs typeface="Times New Roman" panose="02020603050405020304" pitchFamily="18" charset="0"/>
              </a:rPr>
              <a:t> cảnh Ô </a:t>
            </a:r>
            <a:r>
              <a:rPr lang="en-US" dirty="0" err="1">
                <a:latin typeface="Times New Roman" panose="02020603050405020304" pitchFamily="18" charset="0"/>
                <a:ea typeface="Instrument Sans Semi Bold" pitchFamily="34" charset="-122"/>
                <a:cs typeface="Times New Roman" panose="02020603050405020304" pitchFamily="18" charset="0"/>
              </a:rPr>
              <a:t>nhiễm</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không</a:t>
            </a:r>
            <a:r>
              <a:rPr lang="en-US" dirty="0">
                <a:latin typeface="Times New Roman" panose="02020603050405020304" pitchFamily="18" charset="0"/>
                <a:ea typeface="Instrument Sans Semi Bold" pitchFamily="34" charset="-122"/>
                <a:cs typeface="Times New Roman" panose="02020603050405020304" pitchFamily="18" charset="0"/>
              </a:rPr>
              <a:t> khí</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554295" y="2704837"/>
            <a:ext cx="7522896"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 Ô nhiễm không khí là thách thức môi trường toàn cầu, gây ra hơn 7 triệu ca tử vong mỗi năm (WHO, 2024). Các đô thị lớn của Việt Nam thường xuyên có chỉ số AQI ở </a:t>
            </a:r>
            <a:r>
              <a:rPr lang="en-US" dirty="0" err="1">
                <a:latin typeface="Times New Roman" panose="02020603050405020304" pitchFamily="18" charset="0"/>
                <a:ea typeface="Instrument Sans Medium" pitchFamily="34" charset="-122"/>
                <a:cs typeface="Times New Roman" panose="02020603050405020304" pitchFamily="18" charset="0"/>
              </a:rPr>
              <a:t>mức</a:t>
            </a:r>
            <a:r>
              <a:rPr lang="en-US" dirty="0">
                <a:latin typeface="Times New Roman" panose="02020603050405020304" pitchFamily="18" charset="0"/>
                <a:ea typeface="Instrument Sans Medium" pitchFamily="34" charset="-122"/>
                <a:cs typeface="Times New Roman" panose="02020603050405020304" pitchFamily="18" charset="0"/>
              </a:rPr>
              <a:t> “Trung </a:t>
            </a:r>
            <a:r>
              <a:rPr lang="en-US" dirty="0" err="1">
                <a:latin typeface="Times New Roman" panose="02020603050405020304" pitchFamily="18" charset="0"/>
                <a:ea typeface="Instrument Sans Medium" pitchFamily="34" charset="-122"/>
                <a:cs typeface="Times New Roman" panose="02020603050405020304" pitchFamily="18" charset="0"/>
              </a:rPr>
              <a:t>bình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hoặc</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Không</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lành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mạnh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Có</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hại</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cho</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sức</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khỏe</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554295" y="3759877"/>
            <a:ext cx="7337845"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Các</a:t>
            </a:r>
            <a:r>
              <a:rPr lang="en-US" dirty="0">
                <a:latin typeface="Times New Roman" panose="02020603050405020304" pitchFamily="18" charset="0"/>
                <a:ea typeface="Instrument Sans Medium" pitchFamily="34" charset="-122"/>
                <a:cs typeface="Times New Roman" panose="02020603050405020304" pitchFamily="18" charset="0"/>
              </a:rPr>
              <a:t> hệ thống hiện tại chủ yếu chỉ hiển thị dữ liệu thời gian thực, thiếu khả năng dự đoán xu hướng ô nhiễm trong tương lai hoặc cá nhân hóa cảnh báo theo từng đối tượng người dùng.</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554305" y="4965235"/>
            <a:ext cx="2977039" cy="372070"/>
          </a:xfrm>
          <a:prstGeom prst="rect">
            <a:avLst/>
          </a:prstGeom>
          <a:noFill/>
          <a:ln/>
        </p:spPr>
        <p:txBody>
          <a:bodyPr wrap="non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 Lý do chọn đề tài</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554296" y="5443975"/>
            <a:ext cx="13042821" cy="317540"/>
          </a:xfrm>
          <a:prstGeom prst="rect">
            <a:avLst/>
          </a:prstGeom>
          <a:noFill/>
          <a:ln/>
        </p:spPr>
        <p:txBody>
          <a:bodyPr wrap="none" lIns="0" tIns="0" rIns="0" bIns="0" rtlCol="0" anchor="t"/>
          <a:lstStyle/>
          <a:p>
            <a:pPr algn="l">
              <a:lnSpc>
                <a:spcPts val="2500"/>
              </a:lnSpc>
              <a:buSzPct val="100000"/>
            </a:pPr>
            <a:r>
              <a:rPr lang="en-US" dirty="0">
                <a:latin typeface="Times New Roman" panose="02020603050405020304" pitchFamily="18" charset="0"/>
                <a:ea typeface="Instrument Sans Medium" pitchFamily="34" charset="-122"/>
                <a:cs typeface="Times New Roman" panose="02020603050405020304" pitchFamily="18" charset="0"/>
              </a:rPr>
              <a:t>+ Ô nhiễm không khí ngày càng nghiêm trọng, đòi hỏi công cụ cảnh báo thông minh.</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54295" y="5833952"/>
            <a:ext cx="13042821" cy="317540"/>
          </a:xfrm>
          <a:prstGeom prst="rect">
            <a:avLst/>
          </a:prstGeom>
          <a:noFill/>
          <a:ln/>
        </p:spPr>
        <p:txBody>
          <a:bodyPr wrap="none" lIns="0" tIns="0" rIns="0" bIns="0" rtlCol="0" anchor="t"/>
          <a:lstStyle/>
          <a:p>
            <a:pPr algn="l">
              <a:lnSpc>
                <a:spcPts val="2500"/>
              </a:lnSpc>
              <a:buSzPct val="100000"/>
            </a:pP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Thiếu</a:t>
            </a:r>
            <a:r>
              <a:rPr lang="en-US" dirty="0">
                <a:latin typeface="Times New Roman" panose="02020603050405020304" pitchFamily="18" charset="0"/>
                <a:ea typeface="Instrument Sans Medium" pitchFamily="34" charset="-122"/>
                <a:cs typeface="Times New Roman" panose="02020603050405020304" pitchFamily="18" charset="0"/>
              </a:rPr>
              <a:t> giải pháp dự đoán AQI ngắn hạn, người dân chỉ biết tình trạng hiện tại.</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rot="10800000" flipV="1">
            <a:off x="554305" y="6296366"/>
            <a:ext cx="7522907" cy="280868"/>
          </a:xfrm>
          <a:prstGeom prst="rect">
            <a:avLst/>
          </a:prstGeom>
          <a:noFill/>
          <a:ln/>
        </p:spPr>
        <p:txBody>
          <a:bodyPr wrap="none" lIns="0" tIns="0" rIns="0" bIns="0" rtlCol="0" anchor="t"/>
          <a:lstStyle/>
          <a:p>
            <a:pPr algn="l">
              <a:lnSpc>
                <a:spcPts val="2500"/>
              </a:lnSpc>
              <a:buSzPct val="100000"/>
            </a:pPr>
            <a:r>
              <a:rPr lang="en-US"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Công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nghệ</a:t>
            </a:r>
            <a:r>
              <a:rPr lang="en-US" sz="1800" dirty="0">
                <a:latin typeface="Times New Roman" panose="02020603050405020304" pitchFamily="18" charset="0"/>
                <a:ea typeface="Instrument Sans Medium" pitchFamily="34" charset="-122"/>
                <a:cs typeface="Times New Roman" panose="02020603050405020304" pitchFamily="18" charset="0"/>
              </a:rPr>
              <a:t> ML </a:t>
            </a:r>
            <a:r>
              <a:rPr lang="en-US" sz="1800" dirty="0" err="1">
                <a:latin typeface="Times New Roman" panose="02020603050405020304" pitchFamily="18" charset="0"/>
                <a:ea typeface="Instrument Sans Medium" pitchFamily="34" charset="-122"/>
                <a:cs typeface="Times New Roman" panose="02020603050405020304" pitchFamily="18" charset="0"/>
              </a:rPr>
              <a:t>và</a:t>
            </a:r>
            <a:r>
              <a:rPr lang="en-US" sz="1800" dirty="0">
                <a:latin typeface="Times New Roman" panose="02020603050405020304" pitchFamily="18" charset="0"/>
                <a:ea typeface="Instrument Sans Medium" pitchFamily="34" charset="-122"/>
                <a:cs typeface="Times New Roman" panose="02020603050405020304" pitchFamily="18" charset="0"/>
              </a:rPr>
              <a:t> NLP </a:t>
            </a:r>
            <a:r>
              <a:rPr lang="en-US" sz="1800" dirty="0" err="1">
                <a:latin typeface="Times New Roman" panose="02020603050405020304" pitchFamily="18" charset="0"/>
                <a:ea typeface="Instrument Sans Medium" pitchFamily="34" charset="-122"/>
                <a:cs typeface="Times New Roman" panose="02020603050405020304" pitchFamily="18" charset="0"/>
              </a:rPr>
              <a:t>phát</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triển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mạnh</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mẽ</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tạo</a:t>
            </a:r>
            <a:r>
              <a:rPr lang="en-US" dirty="0">
                <a:latin typeface="Times New Roman" panose="02020603050405020304" pitchFamily="18" charset="0"/>
                <a:ea typeface="Instrument Sans Medium" pitchFamily="34" charset="-122"/>
                <a:cs typeface="Times New Roman" panose="02020603050405020304" pitchFamily="18" charset="0"/>
              </a:rPr>
              <a:t> ra hệ thống thông </a:t>
            </a:r>
            <a:r>
              <a:rPr lang="en-US" dirty="0" err="1">
                <a:latin typeface="Times New Roman" panose="02020603050405020304" pitchFamily="18" charset="0"/>
                <a:ea typeface="Instrument Sans Medium" pitchFamily="34" charset="-122"/>
                <a:cs typeface="Times New Roman" panose="02020603050405020304" pitchFamily="18" charset="0"/>
              </a:rPr>
              <a:t>minh</a:t>
            </a:r>
            <a:r>
              <a:rPr lang="en-US" dirty="0">
                <a:latin typeface="Times New Roman" panose="02020603050405020304" pitchFamily="18" charset="0"/>
                <a:ea typeface="Instrument Sans Medium" pitchFamily="34" charset="-122"/>
                <a:cs typeface="Times New Roman" panose="02020603050405020304" pitchFamily="18" charset="0"/>
              </a:rPr>
              <a:t> </a:t>
            </a:r>
          </a:p>
          <a:p>
            <a:pPr algn="l">
              <a:lnSpc>
                <a:spcPts val="2500"/>
              </a:lnSpc>
              <a:buSzPct val="100000"/>
            </a:pPr>
            <a:r>
              <a:rPr lang="en-US" dirty="0" err="1">
                <a:latin typeface="Times New Roman" panose="02020603050405020304" pitchFamily="18" charset="0"/>
                <a:ea typeface="Instrument Sans Medium" pitchFamily="34" charset="-122"/>
                <a:cs typeface="Times New Roman" panose="02020603050405020304" pitchFamily="18" charset="0"/>
              </a:rPr>
              <a:t>toàn</a:t>
            </a:r>
            <a:r>
              <a:rPr lang="en-US" dirty="0">
                <a:latin typeface="Times New Roman" panose="02020603050405020304" pitchFamily="18" charset="0"/>
                <a:ea typeface="Instrument Sans Medium" pitchFamily="34" charset="-122"/>
                <a:cs typeface="Times New Roman" panose="02020603050405020304" pitchFamily="18" charset="0"/>
              </a:rPr>
              <a:t> diện, vừa dự đoán vừa giao tiếp hiệu quả.</a:t>
            </a:r>
            <a:endParaRPr lang="en-US" dirty="0">
              <a:latin typeface="Times New Roman" panose="02020603050405020304" pitchFamily="18" charset="0"/>
              <a:cs typeface="Times New Roman" panose="02020603050405020304" pitchFamily="18" charset="0"/>
            </a:endParaRPr>
          </a:p>
        </p:txBody>
      </p:sp>
      <p:pic>
        <p:nvPicPr>
          <p:cNvPr id="12" name="Picture 11" descr="A screenshot of a computer&#10;&#10;AI-generated content may be incorrect.">
            <a:extLst>
              <a:ext uri="{FF2B5EF4-FFF2-40B4-BE49-F238E27FC236}">
                <a16:creationId xmlns:a16="http://schemas.microsoft.com/office/drawing/2014/main" id="{99D31EEA-5F6B-D344-F137-C5D4BAF58ACD}"/>
              </a:ext>
            </a:extLst>
          </p:cNvPr>
          <p:cNvPicPr>
            <a:picLocks noChangeAspect="1"/>
          </p:cNvPicPr>
          <p:nvPr/>
        </p:nvPicPr>
        <p:blipFill>
          <a:blip r:embed="rId3"/>
          <a:stretch>
            <a:fillRect/>
          </a:stretch>
        </p:blipFill>
        <p:spPr>
          <a:xfrm>
            <a:off x="8501743" y="1761132"/>
            <a:ext cx="5604393" cy="48870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61160"/>
            <a:ext cx="8860393"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Ý NGHĨA DỰ ÁN VÀ XU HƯỚNG GENAI</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793790" y="2975729"/>
            <a:ext cx="4215289" cy="2734270"/>
          </a:xfrm>
          <a:prstGeom prst="roundRect">
            <a:avLst>
              <a:gd name="adj" fmla="val 4013"/>
            </a:avLst>
          </a:pr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793790" y="2952869"/>
            <a:ext cx="4215289" cy="91440"/>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2603778" y="2678073"/>
            <a:ext cx="595313" cy="595313"/>
          </a:xfrm>
          <a:prstGeom prst="roundRect">
            <a:avLst>
              <a:gd name="adj" fmla="val 153600"/>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2372" y="2856667"/>
            <a:ext cx="238125" cy="238125"/>
          </a:xfrm>
          <a:prstGeom prst="rect">
            <a:avLst/>
          </a:prstGeom>
        </p:spPr>
      </p:pic>
      <p:sp>
        <p:nvSpPr>
          <p:cNvPr id="7" name="Text 4"/>
          <p:cNvSpPr/>
          <p:nvPr/>
        </p:nvSpPr>
        <p:spPr>
          <a:xfrm>
            <a:off x="1015008" y="3471863"/>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Về mặt Công nghệ</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1015008" y="3901083"/>
            <a:ext cx="3772853" cy="1587698"/>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Ứng dụng AI lai (Hybrid AI) kết hợp Machine Learning </a:t>
            </a:r>
            <a:r>
              <a:rPr lang="en-US" dirty="0" err="1">
                <a:latin typeface="Times New Roman" panose="02020603050405020304" pitchFamily="18" charset="0"/>
                <a:ea typeface="Instrument Sans Medium" pitchFamily="34" charset="-122"/>
                <a:cs typeface="Times New Roman" panose="02020603050405020304" pitchFamily="18" charset="0"/>
              </a:rPr>
              <a:t>và</a:t>
            </a:r>
            <a:r>
              <a:rPr lang="en-US" dirty="0">
                <a:latin typeface="Times New Roman" panose="02020603050405020304" pitchFamily="18" charset="0"/>
                <a:ea typeface="Instrument Sans Medium" pitchFamily="34" charset="-122"/>
                <a:cs typeface="Times New Roman" panose="02020603050405020304" pitchFamily="18" charset="0"/>
              </a:rPr>
              <a:t> NLP. </a:t>
            </a:r>
          </a:p>
          <a:p>
            <a:pPr marL="0" indent="0" algn="l">
              <a:lnSpc>
                <a:spcPts val="2500"/>
              </a:lnSpc>
              <a:buNone/>
            </a:pPr>
            <a:r>
              <a:rPr lang="en-US" dirty="0" err="1">
                <a:latin typeface="Times New Roman" panose="02020603050405020304" pitchFamily="18" charset="0"/>
                <a:ea typeface="Instrument Sans Medium" pitchFamily="34" charset="-122"/>
                <a:cs typeface="Times New Roman" panose="02020603050405020304" pitchFamily="18" charset="0"/>
              </a:rPr>
              <a:t>Thực</a:t>
            </a:r>
            <a:r>
              <a:rPr lang="en-US" dirty="0">
                <a:latin typeface="Times New Roman" panose="02020603050405020304" pitchFamily="18" charset="0"/>
                <a:ea typeface="Instrument Sans Medium" pitchFamily="34" charset="-122"/>
                <a:cs typeface="Times New Roman" panose="02020603050405020304" pitchFamily="18" charset="0"/>
              </a:rPr>
              <a:t> hành pipeline dữ liệu hoàn chỉnh từ thu thập đến triển khai hệ thống dự đoán thời gian thực (real-time inference).</a:t>
            </a:r>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5207437" y="2975729"/>
            <a:ext cx="4215408" cy="2734270"/>
          </a:xfrm>
          <a:prstGeom prst="roundRect">
            <a:avLst>
              <a:gd name="adj" fmla="val 4013"/>
            </a:avLst>
          </a:pr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7"/>
          <p:cNvSpPr/>
          <p:nvPr/>
        </p:nvSpPr>
        <p:spPr>
          <a:xfrm>
            <a:off x="5207437" y="2952869"/>
            <a:ext cx="4215408" cy="91440"/>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Shape 8"/>
          <p:cNvSpPr/>
          <p:nvPr/>
        </p:nvSpPr>
        <p:spPr>
          <a:xfrm>
            <a:off x="7017425" y="2678073"/>
            <a:ext cx="595313" cy="595313"/>
          </a:xfrm>
          <a:prstGeom prst="roundRect">
            <a:avLst>
              <a:gd name="adj" fmla="val 153600"/>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18" y="2856667"/>
            <a:ext cx="238125" cy="238125"/>
          </a:xfrm>
          <a:prstGeom prst="rect">
            <a:avLst/>
          </a:prstGeom>
        </p:spPr>
      </p:pic>
      <p:sp>
        <p:nvSpPr>
          <p:cNvPr id="13" name="Text 9"/>
          <p:cNvSpPr/>
          <p:nvPr/>
        </p:nvSpPr>
        <p:spPr>
          <a:xfrm>
            <a:off x="5428655" y="3471863"/>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Về mặt Xã hội</a:t>
            </a:r>
            <a:endParaRPr lang="en-US" dirty="0">
              <a:latin typeface="Times New Roman" panose="02020603050405020304" pitchFamily="18" charset="0"/>
              <a:cs typeface="Times New Roman" panose="02020603050405020304" pitchFamily="18" charset="0"/>
            </a:endParaRPr>
          </a:p>
        </p:txBody>
      </p:sp>
      <p:sp>
        <p:nvSpPr>
          <p:cNvPr id="14" name="Text 10"/>
          <p:cNvSpPr/>
          <p:nvPr/>
        </p:nvSpPr>
        <p:spPr>
          <a:xfrm>
            <a:off x="5428655" y="3901083"/>
            <a:ext cx="3772972" cy="1587698"/>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Cung cấp công cụ hữu ích giúp người dân theo dõi và dự đoán mức độ ô nhiễm. Hỗ trợ người có bệnh lý hô hấp đưa ra quyết định an toàn khi ra ngoài, nâng cao nhận thức cộng đồng.</a:t>
            </a:r>
            <a:endParaRPr lang="en-US" dirty="0">
              <a:latin typeface="Times New Roman" panose="02020603050405020304" pitchFamily="18" charset="0"/>
              <a:cs typeface="Times New Roman" panose="02020603050405020304" pitchFamily="18" charset="0"/>
            </a:endParaRPr>
          </a:p>
        </p:txBody>
      </p:sp>
      <p:sp>
        <p:nvSpPr>
          <p:cNvPr id="15" name="Shape 11"/>
          <p:cNvSpPr/>
          <p:nvPr/>
        </p:nvSpPr>
        <p:spPr>
          <a:xfrm>
            <a:off x="9621203" y="2975729"/>
            <a:ext cx="4215289" cy="2734270"/>
          </a:xfrm>
          <a:prstGeom prst="roundRect">
            <a:avLst>
              <a:gd name="adj" fmla="val 4013"/>
            </a:avLst>
          </a:pr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Shape 12"/>
          <p:cNvSpPr/>
          <p:nvPr/>
        </p:nvSpPr>
        <p:spPr>
          <a:xfrm>
            <a:off x="9621203" y="2952869"/>
            <a:ext cx="4215289" cy="91440"/>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7" name="Shape 13"/>
          <p:cNvSpPr/>
          <p:nvPr/>
        </p:nvSpPr>
        <p:spPr>
          <a:xfrm>
            <a:off x="11431191" y="2678073"/>
            <a:ext cx="595313" cy="595313"/>
          </a:xfrm>
          <a:prstGeom prst="roundRect">
            <a:avLst>
              <a:gd name="adj" fmla="val 153600"/>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9784" y="2856667"/>
            <a:ext cx="238125" cy="238125"/>
          </a:xfrm>
          <a:prstGeom prst="rect">
            <a:avLst/>
          </a:prstGeom>
        </p:spPr>
      </p:pic>
      <p:sp>
        <p:nvSpPr>
          <p:cNvPr id="19" name="Text 14"/>
          <p:cNvSpPr/>
          <p:nvPr/>
        </p:nvSpPr>
        <p:spPr>
          <a:xfrm>
            <a:off x="9842421" y="3471863"/>
            <a:ext cx="2674501" cy="310158"/>
          </a:xfrm>
          <a:prstGeom prst="rect">
            <a:avLst/>
          </a:prstGeom>
          <a:noFill/>
          <a:ln/>
        </p:spPr>
        <p:txBody>
          <a:bodyPr wrap="none" lIns="0" tIns="0" rIns="0" bIns="0" rtlCol="0" anchor="t"/>
          <a:lstStyle/>
          <a:p>
            <a:pPr>
              <a:lnSpc>
                <a:spcPct val="115000"/>
              </a:lnSpc>
              <a:spcBef>
                <a:spcPts val="800"/>
              </a:spcBef>
              <a:spcAft>
                <a:spcPts val="4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Kết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nối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xu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hướng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AI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Ngữ</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nghĩa</a:t>
            </a:r>
            <a:endParaRPr lang="en-US" sz="1800" dirty="0">
              <a:effectLst/>
              <a:latin typeface="Aptos Display" panose="020B0004020202020204" pitchFamily="34" charset="0"/>
              <a:ea typeface="Times New Roman" panose="02020603050405020304" pitchFamily="18" charset="0"/>
              <a:cs typeface="Times New Roman" panose="02020603050405020304" pitchFamily="18" charset="0"/>
            </a:endParaRPr>
          </a:p>
        </p:txBody>
      </p:sp>
      <p:sp>
        <p:nvSpPr>
          <p:cNvPr id="20" name="Text 15"/>
          <p:cNvSpPr/>
          <p:nvPr/>
        </p:nvSpPr>
        <p:spPr>
          <a:xfrm>
            <a:off x="9842421" y="3901083"/>
            <a:ext cx="3772853" cy="723671"/>
          </a:xfrm>
          <a:prstGeom prst="rect">
            <a:avLst/>
          </a:prstGeom>
          <a:noFill/>
          <a:ln/>
        </p:spPr>
        <p:txBody>
          <a:bodyPr wrap="square" lIns="0" tIns="0" rIns="0" bIns="0" rtlCol="0" anchor="t"/>
          <a:lstStyle/>
          <a:p>
            <a:pPr marL="0" indent="0" algn="l">
              <a:lnSpc>
                <a:spcPts val="2850"/>
              </a:lnSpc>
              <a:buNone/>
            </a:pPr>
            <a:r>
              <a:rPr lang="en-US" sz="1800" dirty="0">
                <a:latin typeface="Times New Roman" panose="02020603050405020304" pitchFamily="18" charset="0"/>
                <a:ea typeface="Instrument Sans Medium" pitchFamily="34" charset="-122"/>
                <a:cs typeface="Times New Roman" panose="02020603050405020304" pitchFamily="18" charset="0"/>
              </a:rPr>
              <a:t>AIRCARE </a:t>
            </a:r>
            <a:r>
              <a:rPr lang="en-US" sz="1800" dirty="0" err="1">
                <a:latin typeface="Times New Roman" panose="02020603050405020304" pitchFamily="18" charset="0"/>
                <a:ea typeface="Instrument Sans Medium" pitchFamily="34" charset="-122"/>
                <a:cs typeface="Times New Roman" panose="02020603050405020304" pitchFamily="18" charset="0"/>
              </a:rPr>
              <a:t>ứng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dụng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mô</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hình</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nhúng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ngữ</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nghĩa</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SentenceTransformer</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để</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hiểu</a:t>
            </a:r>
            <a:r>
              <a:rPr lang="en-US" sz="1800" dirty="0">
                <a:latin typeface="Times New Roman" panose="02020603050405020304" pitchFamily="18" charset="0"/>
                <a:ea typeface="Instrument Sans Medium" pitchFamily="34" charset="-122"/>
                <a:cs typeface="Times New Roman" panose="02020603050405020304" pitchFamily="18" charset="0"/>
              </a:rPr>
              <a:t> ý </a:t>
            </a:r>
            <a:r>
              <a:rPr lang="en-US" sz="1800" dirty="0" err="1">
                <a:latin typeface="Times New Roman" panose="02020603050405020304" pitchFamily="18" charset="0"/>
                <a:ea typeface="Instrument Sans Medium" pitchFamily="34" charset="-122"/>
                <a:cs typeface="Times New Roman" panose="02020603050405020304" pitchFamily="18" charset="0"/>
              </a:rPr>
              <a:t>định</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người</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dùng</a:t>
            </a:r>
            <a:r>
              <a:rPr lang="en-US" sz="1800" dirty="0">
                <a:latin typeface="Times New Roman" panose="02020603050405020304" pitchFamily="18" charset="0"/>
                <a:ea typeface="Instrument Sans Medium" pitchFamily="34" charset="-122"/>
                <a:cs typeface="Times New Roman" panose="02020603050405020304" pitchFamily="18" charset="0"/>
              </a:rPr>
              <a:t> qua </a:t>
            </a:r>
            <a:r>
              <a:rPr lang="en-US" sz="1800" dirty="0" err="1">
                <a:latin typeface="Times New Roman" panose="02020603050405020304" pitchFamily="18" charset="0"/>
                <a:ea typeface="Instrument Sans Medium" pitchFamily="34" charset="-122"/>
                <a:cs typeface="Times New Roman" panose="02020603050405020304" pitchFamily="18" charset="0"/>
              </a:rPr>
              <a:t>ngôn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ngữ</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tự</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nhiên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kết</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hợp</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dữ</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liệu</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cảm</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biến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thực</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để</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phản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hồi</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thực</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tiễn</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1" name="Text 16"/>
          <p:cNvSpPr/>
          <p:nvPr/>
        </p:nvSpPr>
        <p:spPr>
          <a:xfrm>
            <a:off x="793790" y="6249233"/>
            <a:ext cx="13042821" cy="635079"/>
          </a:xfrm>
          <a:prstGeom prst="rect">
            <a:avLst/>
          </a:prstGeom>
          <a:noFill/>
          <a:ln/>
        </p:spPr>
        <p:txBody>
          <a:bodyPr wrap="square" lIns="0" tIns="0" rIns="0" bIns="0" rtlCol="0" anchor="t"/>
          <a:lstStyle/>
          <a:p>
            <a:pPr>
              <a:lnSpc>
                <a:spcPct val="115000"/>
              </a:lnSpc>
              <a:spcAft>
                <a:spcPts val="8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2024–2025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đánh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dấu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sự</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bùng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nổ</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ngôn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ngữ</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việc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hiểu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tương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tác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con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AI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trợ</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môi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trường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(Environmental AI Assistants)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đang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dần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trở</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thành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hạ</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tầng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minh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tại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nhiều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quốc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gia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42023"/>
            <a:ext cx="7989094" cy="708779"/>
          </a:xfrm>
          <a:prstGeom prst="rect">
            <a:avLst/>
          </a:prstGeom>
          <a:noFill/>
          <a:ln/>
        </p:spPr>
        <p:txBody>
          <a:bodyPr wrap="none" lIns="0" tIns="0" rIns="0" bIns="0" rtlCol="0" anchor="t"/>
          <a:lstStyle/>
          <a:p>
            <a:pPr marL="0" indent="0" algn="l">
              <a:lnSpc>
                <a:spcPts val="55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Kiến </a:t>
            </a:r>
            <a:r>
              <a:rPr lang="en-US" sz="3600" dirty="0" err="1">
                <a:latin typeface="Times New Roman" panose="02020603050405020304" pitchFamily="18" charset="0"/>
                <a:ea typeface="Instrument Sans Semi Bold" pitchFamily="34" charset="-122"/>
                <a:cs typeface="Times New Roman" panose="02020603050405020304" pitchFamily="18" charset="0"/>
              </a:rPr>
              <a:t>trúc</a:t>
            </a:r>
            <a:r>
              <a:rPr lang="en-US" sz="3600" dirty="0">
                <a:latin typeface="Times New Roman" panose="02020603050405020304" pitchFamily="18" charset="0"/>
                <a:ea typeface="Instrument Sans Semi Bold" pitchFamily="34" charset="-122"/>
                <a:cs typeface="Times New Roman" panose="02020603050405020304" pitchFamily="18" charset="0"/>
              </a:rPr>
              <a:t> </a:t>
            </a:r>
            <a:r>
              <a:rPr lang="en-US" sz="3600" dirty="0" err="1">
                <a:latin typeface="Times New Roman" panose="02020603050405020304" pitchFamily="18" charset="0"/>
                <a:ea typeface="Instrument Sans Semi Bold" pitchFamily="34" charset="-122"/>
                <a:cs typeface="Times New Roman" panose="02020603050405020304" pitchFamily="18" charset="0"/>
              </a:rPr>
              <a:t>tổng</a:t>
            </a:r>
            <a:r>
              <a:rPr lang="en-US" sz="3600" dirty="0">
                <a:latin typeface="Times New Roman" panose="02020603050405020304" pitchFamily="18" charset="0"/>
                <a:ea typeface="Instrument Sans Semi Bold" pitchFamily="34" charset="-122"/>
                <a:cs typeface="Times New Roman" panose="02020603050405020304" pitchFamily="18" charset="0"/>
              </a:rPr>
              <a:t> quan AIRCARE</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104430"/>
            <a:ext cx="13042821" cy="362903"/>
          </a:xfrm>
          <a:prstGeom prst="rect">
            <a:avLst/>
          </a:prstGeom>
          <a:noFill/>
          <a:ln/>
        </p:spPr>
        <p:txBody>
          <a:bodyPr wrap="none" lIns="0" tIns="0" rIns="0" bIns="0" rtlCol="0" anchor="t"/>
          <a:lstStyle/>
          <a:p>
            <a:pPr marL="0" indent="0" algn="l">
              <a:lnSpc>
                <a:spcPts val="285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AIRCARE được thiết kế theo mô hình kiến trúc module, gồm 4 lớp chính:</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857256" y="3170515"/>
            <a:ext cx="2835235" cy="354330"/>
          </a:xfrm>
          <a:prstGeom prst="rect">
            <a:avLst/>
          </a:prstGeom>
          <a:noFill/>
          <a:ln/>
        </p:spPr>
        <p:txBody>
          <a:bodyPr wrap="none" lIns="0" tIns="0" rIns="0" bIns="0" rtlCol="0" anchor="t"/>
          <a:lstStyle/>
          <a:p>
            <a:pPr marL="0" indent="0" algn="r">
              <a:lnSpc>
                <a:spcPts val="2750"/>
              </a:lnSpc>
              <a:buNone/>
            </a:pPr>
            <a:r>
              <a:rPr lang="en-US" dirty="0">
                <a:latin typeface="Times New Roman" panose="02020603050405020304" pitchFamily="18" charset="0"/>
                <a:ea typeface="Instrument Sans Semi Bold" pitchFamily="34" charset="-122"/>
                <a:cs typeface="Times New Roman" panose="02020603050405020304" pitchFamily="18" charset="0"/>
              </a:rPr>
              <a:t>Thu thập dữ liệu</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793790" y="3660934"/>
            <a:ext cx="3898702" cy="725805"/>
          </a:xfrm>
          <a:prstGeom prst="rect">
            <a:avLst/>
          </a:prstGeom>
          <a:noFill/>
          <a:ln/>
        </p:spPr>
        <p:txBody>
          <a:bodyPr wrap="square" lIns="0" tIns="0" rIns="0" bIns="0" rtlCol="0" anchor="t"/>
          <a:lstStyle/>
          <a:p>
            <a:pPr marL="0" indent="0" algn="r">
              <a:lnSpc>
                <a:spcPts val="2850"/>
              </a:lnSpc>
              <a:buNone/>
            </a:pPr>
            <a:r>
              <a:rPr lang="en-US" dirty="0">
                <a:latin typeface="Times New Roman" panose="02020603050405020304" pitchFamily="18" charset="0"/>
                <a:ea typeface="Instrument Sans Medium" pitchFamily="34" charset="-122"/>
                <a:cs typeface="Times New Roman" panose="02020603050405020304" pitchFamily="18" charset="0"/>
              </a:rPr>
              <a:t>Lấy dữ liệu thời tiết &amp; không khí từ OpenWeather API.</a:t>
            </a:r>
            <a:endParaRPr lang="en-US"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5032653" y="2722483"/>
            <a:ext cx="4564975" cy="456497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731" y="3527941"/>
            <a:ext cx="339328" cy="339328"/>
          </a:xfrm>
          <a:prstGeom prst="rect">
            <a:avLst/>
          </a:prstGeom>
        </p:spPr>
      </p:pic>
      <p:sp>
        <p:nvSpPr>
          <p:cNvPr id="8" name="Text 4"/>
          <p:cNvSpPr/>
          <p:nvPr/>
        </p:nvSpPr>
        <p:spPr>
          <a:xfrm>
            <a:off x="9937790" y="3170515"/>
            <a:ext cx="3095387"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Semi Bold" pitchFamily="34" charset="-122"/>
                <a:cs typeface="Times New Roman" panose="02020603050405020304" pitchFamily="18" charset="0"/>
              </a:rPr>
              <a:t>Tiền xử lý &amp; Huấn luyện</a:t>
            </a:r>
            <a:endParaRPr lang="en-US" dirty="0">
              <a:latin typeface="Times New Roman" panose="02020603050405020304" pitchFamily="18" charset="0"/>
              <a:cs typeface="Times New Roman" panose="02020603050405020304" pitchFamily="18" charset="0"/>
            </a:endParaRPr>
          </a:p>
        </p:txBody>
      </p:sp>
      <p:sp>
        <p:nvSpPr>
          <p:cNvPr id="9" name="Text 5"/>
          <p:cNvSpPr/>
          <p:nvPr/>
        </p:nvSpPr>
        <p:spPr>
          <a:xfrm>
            <a:off x="9937790" y="3660934"/>
            <a:ext cx="3898821" cy="725805"/>
          </a:xfrm>
          <a:prstGeom prst="rect">
            <a:avLst/>
          </a:prstGeom>
          <a:noFill/>
          <a:ln/>
        </p:spPr>
        <p:txBody>
          <a:bodyPr wrap="square" lIns="0" tIns="0" rIns="0" bIns="0" rtlCol="0" anchor="t"/>
          <a:lstStyle/>
          <a:p>
            <a:pPr marL="0" indent="0" algn="l">
              <a:lnSpc>
                <a:spcPts val="2850"/>
              </a:lnSpc>
              <a:buNone/>
            </a:pPr>
            <a:r>
              <a:rPr lang="en-US" dirty="0">
                <a:latin typeface="Times New Roman" panose="02020603050405020304" pitchFamily="18" charset="0"/>
                <a:ea typeface="Instrument Sans Medium" pitchFamily="34" charset="-122"/>
                <a:cs typeface="Times New Roman" panose="02020603050405020304" pitchFamily="18" charset="0"/>
              </a:rPr>
              <a:t>Làm sạch dữ liệu, huấn luyện và lưu model dự đoán.</a:t>
            </a:r>
            <a:endParaRPr lang="en-US"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6"/>
          <a:stretch>
            <a:fillRect/>
          </a:stretch>
        </p:blipFill>
        <p:spPr>
          <a:xfrm>
            <a:off x="5032653" y="2722483"/>
            <a:ext cx="4564975" cy="4564975"/>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52604" y="3916442"/>
            <a:ext cx="339328" cy="339328"/>
          </a:xfrm>
          <a:prstGeom prst="rect">
            <a:avLst/>
          </a:prstGeom>
        </p:spPr>
      </p:pic>
      <p:sp>
        <p:nvSpPr>
          <p:cNvPr id="12" name="Text 6"/>
          <p:cNvSpPr/>
          <p:nvPr/>
        </p:nvSpPr>
        <p:spPr>
          <a:xfrm>
            <a:off x="9937790" y="5623084"/>
            <a:ext cx="3239095"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Semi Bold" pitchFamily="34" charset="-122"/>
                <a:cs typeface="Times New Roman" panose="02020603050405020304" pitchFamily="18" charset="0"/>
              </a:rPr>
              <a:t>Triển khai API &amp; Chatbot</a:t>
            </a:r>
            <a:endParaRPr lang="en-US" dirty="0">
              <a:latin typeface="Times New Roman" panose="02020603050405020304" pitchFamily="18" charset="0"/>
              <a:cs typeface="Times New Roman" panose="02020603050405020304" pitchFamily="18" charset="0"/>
            </a:endParaRPr>
          </a:p>
        </p:txBody>
      </p:sp>
      <p:sp>
        <p:nvSpPr>
          <p:cNvPr id="13" name="Text 7"/>
          <p:cNvSpPr/>
          <p:nvPr/>
        </p:nvSpPr>
        <p:spPr>
          <a:xfrm>
            <a:off x="9937790" y="6113502"/>
            <a:ext cx="3898821" cy="725805"/>
          </a:xfrm>
          <a:prstGeom prst="rect">
            <a:avLst/>
          </a:prstGeom>
          <a:noFill/>
          <a:ln/>
        </p:spPr>
        <p:txBody>
          <a:bodyPr wrap="square" lIns="0" tIns="0" rIns="0" bIns="0" rtlCol="0" anchor="t"/>
          <a:lstStyle/>
          <a:p>
            <a:pPr marL="0" indent="0" algn="l">
              <a:lnSpc>
                <a:spcPts val="2850"/>
              </a:lnSpc>
              <a:buNone/>
            </a:pPr>
            <a:r>
              <a:rPr lang="en-US" dirty="0">
                <a:latin typeface="Times New Roman" panose="02020603050405020304" pitchFamily="18" charset="0"/>
                <a:ea typeface="Instrument Sans Medium" pitchFamily="34" charset="-122"/>
                <a:cs typeface="Times New Roman" panose="02020603050405020304" pitchFamily="18" charset="0"/>
              </a:rPr>
              <a:t>Cung cấp giao diện giao tiếp và dự đoán thời gian thực.</a:t>
            </a:r>
            <a:endParaRPr lang="en-US" dirty="0">
              <a:latin typeface="Times New Roman" panose="02020603050405020304" pitchFamily="18" charset="0"/>
              <a:cs typeface="Times New Roman" panose="02020603050405020304" pitchFamily="18" charset="0"/>
            </a:endParaRPr>
          </a:p>
        </p:txBody>
      </p:sp>
      <p:pic>
        <p:nvPicPr>
          <p:cNvPr id="14" name="Image 4" descr="preencoded.png"/>
          <p:cNvPicPr>
            <a:picLocks noChangeAspect="1"/>
          </p:cNvPicPr>
          <p:nvPr/>
        </p:nvPicPr>
        <p:blipFill>
          <a:blip r:embed="rId9"/>
          <a:stretch>
            <a:fillRect/>
          </a:stretch>
        </p:blipFill>
        <p:spPr>
          <a:xfrm>
            <a:off x="5032653" y="2722483"/>
            <a:ext cx="4564975" cy="4564975"/>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64103" y="6142315"/>
            <a:ext cx="339328" cy="339328"/>
          </a:xfrm>
          <a:prstGeom prst="rect">
            <a:avLst/>
          </a:prstGeom>
        </p:spPr>
      </p:pic>
      <p:sp>
        <p:nvSpPr>
          <p:cNvPr id="16" name="Text 8"/>
          <p:cNvSpPr/>
          <p:nvPr/>
        </p:nvSpPr>
        <p:spPr>
          <a:xfrm>
            <a:off x="1857256" y="5623084"/>
            <a:ext cx="2835235" cy="354330"/>
          </a:xfrm>
          <a:prstGeom prst="rect">
            <a:avLst/>
          </a:prstGeom>
          <a:noFill/>
          <a:ln/>
        </p:spPr>
        <p:txBody>
          <a:bodyPr wrap="none" lIns="0" tIns="0" rIns="0" bIns="0" rtlCol="0" anchor="t"/>
          <a:lstStyle/>
          <a:p>
            <a:pPr marL="0" indent="0" algn="r">
              <a:lnSpc>
                <a:spcPts val="2750"/>
              </a:lnSpc>
              <a:buNone/>
            </a:pPr>
            <a:r>
              <a:rPr lang="en-US" dirty="0">
                <a:latin typeface="Times New Roman" panose="02020603050405020304" pitchFamily="18" charset="0"/>
                <a:ea typeface="Instrument Sans Semi Bold" pitchFamily="34" charset="-122"/>
                <a:cs typeface="Times New Roman" panose="02020603050405020304" pitchFamily="18" charset="0"/>
              </a:rPr>
              <a:t>Lưu trữ &amp; Kiểm thử</a:t>
            </a:r>
            <a:endParaRPr lang="en-US" dirty="0">
              <a:latin typeface="Times New Roman" panose="02020603050405020304" pitchFamily="18" charset="0"/>
              <a:cs typeface="Times New Roman" panose="02020603050405020304" pitchFamily="18" charset="0"/>
            </a:endParaRPr>
          </a:p>
        </p:txBody>
      </p:sp>
      <p:sp>
        <p:nvSpPr>
          <p:cNvPr id="17" name="Text 9"/>
          <p:cNvSpPr/>
          <p:nvPr/>
        </p:nvSpPr>
        <p:spPr>
          <a:xfrm>
            <a:off x="793790" y="6113502"/>
            <a:ext cx="3898702" cy="725805"/>
          </a:xfrm>
          <a:prstGeom prst="rect">
            <a:avLst/>
          </a:prstGeom>
          <a:noFill/>
          <a:ln/>
        </p:spPr>
        <p:txBody>
          <a:bodyPr wrap="square" lIns="0" tIns="0" rIns="0" bIns="0" rtlCol="0" anchor="t"/>
          <a:lstStyle/>
          <a:p>
            <a:pPr marL="0" indent="0" algn="r">
              <a:lnSpc>
                <a:spcPts val="2850"/>
              </a:lnSpc>
              <a:buNone/>
            </a:pPr>
            <a:r>
              <a:rPr lang="en-US" dirty="0">
                <a:latin typeface="Times New Roman" panose="02020603050405020304" pitchFamily="18" charset="0"/>
                <a:ea typeface="Instrument Sans Medium" pitchFamily="34" charset="-122"/>
                <a:cs typeface="Times New Roman" panose="02020603050405020304" pitchFamily="18" charset="0"/>
              </a:rPr>
              <a:t>Quản lý dữ liệu, mô hình và kiểm thử các endpoint.</a:t>
            </a:r>
            <a:endParaRPr lang="en-US" dirty="0">
              <a:latin typeface="Times New Roman" panose="02020603050405020304" pitchFamily="18" charset="0"/>
              <a:cs typeface="Times New Roman" panose="02020603050405020304" pitchFamily="18" charset="0"/>
            </a:endParaRPr>
          </a:p>
        </p:txBody>
      </p:sp>
      <p:pic>
        <p:nvPicPr>
          <p:cNvPr id="18" name="Image 6" descr="preencoded.png"/>
          <p:cNvPicPr>
            <a:picLocks noChangeAspect="1"/>
          </p:cNvPicPr>
          <p:nvPr/>
        </p:nvPicPr>
        <p:blipFill>
          <a:blip r:embed="rId12"/>
          <a:stretch>
            <a:fillRect/>
          </a:stretch>
        </p:blipFill>
        <p:spPr>
          <a:xfrm>
            <a:off x="5032653" y="2722483"/>
            <a:ext cx="4564975" cy="4564975"/>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838230" y="5753814"/>
            <a:ext cx="339328" cy="3393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5216" y="609005"/>
            <a:ext cx="5537359" cy="692110"/>
          </a:xfrm>
          <a:prstGeom prst="rect">
            <a:avLst/>
          </a:prstGeom>
          <a:noFill/>
          <a:ln/>
        </p:spPr>
        <p:txBody>
          <a:bodyPr wrap="none" lIns="0" tIns="0" rIns="0" bIns="0" rtlCol="0" anchor="t"/>
          <a:lstStyle/>
          <a:p>
            <a:pPr marL="0" indent="0" algn="l">
              <a:lnSpc>
                <a:spcPts val="54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Công </a:t>
            </a:r>
            <a:r>
              <a:rPr lang="en-US" sz="3600" dirty="0" err="1">
                <a:latin typeface="Times New Roman" panose="02020603050405020304" pitchFamily="18" charset="0"/>
                <a:ea typeface="Instrument Sans Semi Bold" pitchFamily="34" charset="-122"/>
                <a:cs typeface="Times New Roman" panose="02020603050405020304" pitchFamily="18" charset="0"/>
              </a:rPr>
              <a:t>nghệ</a:t>
            </a:r>
            <a:r>
              <a:rPr lang="en-US" sz="3600" dirty="0">
                <a:latin typeface="Times New Roman" panose="02020603050405020304" pitchFamily="18" charset="0"/>
                <a:ea typeface="Instrument Sans Semi Bold" pitchFamily="34" charset="-122"/>
                <a:cs typeface="Times New Roman" panose="02020603050405020304" pitchFamily="18" charset="0"/>
              </a:rPr>
              <a:t> </a:t>
            </a:r>
            <a:r>
              <a:rPr lang="en-US" sz="3600" dirty="0" err="1">
                <a:latin typeface="Times New Roman" panose="02020603050405020304" pitchFamily="18" charset="0"/>
                <a:ea typeface="Instrument Sans Semi Bold" pitchFamily="34" charset="-122"/>
                <a:cs typeface="Times New Roman" panose="02020603050405020304" pitchFamily="18" charset="0"/>
              </a:rPr>
              <a:t>sử</a:t>
            </a:r>
            <a:r>
              <a:rPr lang="en-US" sz="3600" dirty="0">
                <a:latin typeface="Times New Roman" panose="02020603050405020304" pitchFamily="18" charset="0"/>
                <a:ea typeface="Instrument Sans Semi Bold" pitchFamily="34" charset="-122"/>
                <a:cs typeface="Times New Roman" panose="02020603050405020304" pitchFamily="18" charset="0"/>
              </a:rPr>
              <a:t> dụng</a:t>
            </a:r>
            <a:endParaRPr lang="en-US" sz="36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216" y="1744028"/>
            <a:ext cx="553641" cy="553641"/>
          </a:xfrm>
          <a:prstGeom prst="rect">
            <a:avLst/>
          </a:prstGeom>
        </p:spPr>
      </p:pic>
      <p:sp>
        <p:nvSpPr>
          <p:cNvPr id="4" name="Text 1"/>
          <p:cNvSpPr/>
          <p:nvPr/>
        </p:nvSpPr>
        <p:spPr>
          <a:xfrm>
            <a:off x="775216" y="2574488"/>
            <a:ext cx="2768679" cy="345996"/>
          </a:xfrm>
          <a:prstGeom prst="rect">
            <a:avLst/>
          </a:prstGeom>
          <a:noFill/>
          <a:ln/>
        </p:spPr>
        <p:txBody>
          <a:bodyPr wrap="none" lIns="0" tIns="0" rIns="0" bIns="0" rtlCol="0" anchor="t"/>
          <a:lstStyle/>
          <a:p>
            <a:pPr marL="0" indent="0" algn="l">
              <a:lnSpc>
                <a:spcPts val="2700"/>
              </a:lnSpc>
              <a:buNone/>
            </a:pPr>
            <a:r>
              <a:rPr lang="en-US" dirty="0">
                <a:latin typeface="Times New Roman" panose="02020603050405020304" pitchFamily="18" charset="0"/>
                <a:ea typeface="Instrument Sans Semi Bold" pitchFamily="34" charset="-122"/>
                <a:cs typeface="Times New Roman" panose="02020603050405020304" pitchFamily="18" charset="0"/>
              </a:rPr>
              <a:t>Python</a:t>
            </a:r>
            <a:endParaRPr lang="en-US" dirty="0">
              <a:latin typeface="Times New Roman" panose="02020603050405020304" pitchFamily="18" charset="0"/>
              <a:cs typeface="Times New Roman" panose="02020603050405020304" pitchFamily="18" charset="0"/>
            </a:endParaRPr>
          </a:p>
        </p:txBody>
      </p:sp>
      <p:sp>
        <p:nvSpPr>
          <p:cNvPr id="5" name="Text 2"/>
          <p:cNvSpPr/>
          <p:nvPr/>
        </p:nvSpPr>
        <p:spPr>
          <a:xfrm>
            <a:off x="775216" y="3053358"/>
            <a:ext cx="6401514"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Medium" pitchFamily="34" charset="-122"/>
                <a:cs typeface="Times New Roman" panose="02020603050405020304" pitchFamily="18" charset="0"/>
              </a:rPr>
              <a:t>Ngôn ngữ lập trình chính.</a:t>
            </a:r>
            <a:endParaRPr lang="en-US"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3551" y="1744028"/>
            <a:ext cx="553641" cy="553641"/>
          </a:xfrm>
          <a:prstGeom prst="rect">
            <a:avLst/>
          </a:prstGeom>
        </p:spPr>
      </p:pic>
      <p:sp>
        <p:nvSpPr>
          <p:cNvPr id="7" name="Text 3"/>
          <p:cNvSpPr/>
          <p:nvPr/>
        </p:nvSpPr>
        <p:spPr>
          <a:xfrm>
            <a:off x="7453551" y="2574488"/>
            <a:ext cx="2768679" cy="345996"/>
          </a:xfrm>
          <a:prstGeom prst="rect">
            <a:avLst/>
          </a:prstGeom>
          <a:noFill/>
          <a:ln/>
        </p:spPr>
        <p:txBody>
          <a:bodyPr wrap="none" lIns="0" tIns="0" rIns="0" bIns="0" rtlCol="0" anchor="t"/>
          <a:lstStyle/>
          <a:p>
            <a:pPr marL="0" indent="0" algn="l">
              <a:lnSpc>
                <a:spcPts val="2700"/>
              </a:lnSpc>
              <a:buNone/>
            </a:pPr>
            <a:r>
              <a:rPr lang="en-US" dirty="0">
                <a:latin typeface="Times New Roman" panose="02020603050405020304" pitchFamily="18" charset="0"/>
                <a:ea typeface="Instrument Sans Semi Bold" pitchFamily="34" charset="-122"/>
                <a:cs typeface="Times New Roman" panose="02020603050405020304" pitchFamily="18" charset="0"/>
              </a:rPr>
              <a:t>Pandas &amp; NumPy</a:t>
            </a:r>
            <a:endParaRPr lang="en-US" dirty="0">
              <a:latin typeface="Times New Roman" panose="02020603050405020304" pitchFamily="18" charset="0"/>
              <a:cs typeface="Times New Roman" panose="02020603050405020304" pitchFamily="18" charset="0"/>
            </a:endParaRPr>
          </a:p>
        </p:txBody>
      </p:sp>
      <p:sp>
        <p:nvSpPr>
          <p:cNvPr id="8" name="Text 4"/>
          <p:cNvSpPr/>
          <p:nvPr/>
        </p:nvSpPr>
        <p:spPr>
          <a:xfrm>
            <a:off x="7453551" y="3053358"/>
            <a:ext cx="6401633"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Medium" pitchFamily="34" charset="-122"/>
                <a:cs typeface="Times New Roman" panose="02020603050405020304" pitchFamily="18" charset="0"/>
              </a:rPr>
              <a:t>Xử lý, làm sạch và phân tích dữ liệu.</a:t>
            </a:r>
            <a:endParaRPr lang="en-US"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5216" y="3850600"/>
            <a:ext cx="553641" cy="553641"/>
          </a:xfrm>
          <a:prstGeom prst="rect">
            <a:avLst/>
          </a:prstGeom>
        </p:spPr>
      </p:pic>
      <p:sp>
        <p:nvSpPr>
          <p:cNvPr id="10" name="Text 5"/>
          <p:cNvSpPr/>
          <p:nvPr/>
        </p:nvSpPr>
        <p:spPr>
          <a:xfrm>
            <a:off x="775216" y="4681061"/>
            <a:ext cx="3140869" cy="345996"/>
          </a:xfrm>
          <a:prstGeom prst="rect">
            <a:avLst/>
          </a:prstGeom>
          <a:noFill/>
          <a:ln/>
        </p:spPr>
        <p:txBody>
          <a:bodyPr wrap="none" lIns="0" tIns="0" rIns="0" bIns="0" rtlCol="0" anchor="t"/>
          <a:lstStyle/>
          <a:p>
            <a:pPr marL="0" indent="0" algn="l">
              <a:lnSpc>
                <a:spcPts val="2700"/>
              </a:lnSpc>
              <a:buNone/>
            </a:pPr>
            <a:r>
              <a:rPr lang="en-US" dirty="0">
                <a:latin typeface="Times New Roman" panose="02020603050405020304" pitchFamily="18" charset="0"/>
                <a:ea typeface="Instrument Sans Semi Bold" pitchFamily="34" charset="-122"/>
                <a:cs typeface="Times New Roman" panose="02020603050405020304" pitchFamily="18" charset="0"/>
              </a:rPr>
              <a:t>Scikit-learn &amp; LightGBM</a:t>
            </a:r>
            <a:endParaRPr lang="en-US" dirty="0">
              <a:latin typeface="Times New Roman" panose="02020603050405020304" pitchFamily="18" charset="0"/>
              <a:cs typeface="Times New Roman" panose="02020603050405020304" pitchFamily="18" charset="0"/>
            </a:endParaRPr>
          </a:p>
        </p:txBody>
      </p:sp>
      <p:sp>
        <p:nvSpPr>
          <p:cNvPr id="11" name="Text 6"/>
          <p:cNvSpPr/>
          <p:nvPr/>
        </p:nvSpPr>
        <p:spPr>
          <a:xfrm>
            <a:off x="775216" y="5159931"/>
            <a:ext cx="6401514"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Medium" pitchFamily="34" charset="-122"/>
                <a:cs typeface="Times New Roman" panose="02020603050405020304" pitchFamily="18" charset="0"/>
              </a:rPr>
              <a:t>Xây dựng và huấn luyện mô hình dự đoán PM2.5.</a:t>
            </a:r>
            <a:endParaRPr lang="en-US"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3551" y="3850600"/>
            <a:ext cx="553641" cy="553641"/>
          </a:xfrm>
          <a:prstGeom prst="rect">
            <a:avLst/>
          </a:prstGeom>
        </p:spPr>
      </p:pic>
      <p:sp>
        <p:nvSpPr>
          <p:cNvPr id="13" name="Text 7"/>
          <p:cNvSpPr/>
          <p:nvPr/>
        </p:nvSpPr>
        <p:spPr>
          <a:xfrm>
            <a:off x="7453551" y="4681061"/>
            <a:ext cx="2922746" cy="345996"/>
          </a:xfrm>
          <a:prstGeom prst="rect">
            <a:avLst/>
          </a:prstGeom>
          <a:noFill/>
          <a:ln/>
        </p:spPr>
        <p:txBody>
          <a:bodyPr wrap="none" lIns="0" tIns="0" rIns="0" bIns="0" rtlCol="0" anchor="t"/>
          <a:lstStyle/>
          <a:p>
            <a:pPr marL="0" indent="0" algn="l">
              <a:lnSpc>
                <a:spcPts val="2700"/>
              </a:lnSpc>
              <a:buNone/>
            </a:pPr>
            <a:r>
              <a:rPr lang="en-US" dirty="0">
                <a:latin typeface="Times New Roman" panose="02020603050405020304" pitchFamily="18" charset="0"/>
                <a:ea typeface="Instrument Sans Semi Bold" pitchFamily="34" charset="-122"/>
                <a:cs typeface="Times New Roman" panose="02020603050405020304" pitchFamily="18" charset="0"/>
              </a:rPr>
              <a:t>OpenWeatherMap API</a:t>
            </a:r>
            <a:endParaRPr lang="en-US" dirty="0">
              <a:latin typeface="Times New Roman" panose="02020603050405020304" pitchFamily="18" charset="0"/>
              <a:cs typeface="Times New Roman" panose="02020603050405020304" pitchFamily="18" charset="0"/>
            </a:endParaRPr>
          </a:p>
        </p:txBody>
      </p:sp>
      <p:sp>
        <p:nvSpPr>
          <p:cNvPr id="14" name="Text 8"/>
          <p:cNvSpPr/>
          <p:nvPr/>
        </p:nvSpPr>
        <p:spPr>
          <a:xfrm>
            <a:off x="7453551" y="5159931"/>
            <a:ext cx="6401633"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Medium" pitchFamily="34" charset="-122"/>
                <a:cs typeface="Times New Roman" panose="02020603050405020304" pitchFamily="18" charset="0"/>
              </a:rPr>
              <a:t>Cung cấp dữ liệu thời tiết và chất lượng không khí.</a:t>
            </a:r>
            <a:endParaRPr lang="en-US" dirty="0">
              <a:latin typeface="Times New Roman" panose="02020603050405020304" pitchFamily="18" charset="0"/>
              <a:cs typeface="Times New Roman" panose="02020603050405020304" pitchFamily="18" charset="0"/>
            </a:endParaRPr>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5216" y="5957173"/>
            <a:ext cx="553641" cy="553641"/>
          </a:xfrm>
          <a:prstGeom prst="rect">
            <a:avLst/>
          </a:prstGeom>
        </p:spPr>
      </p:pic>
      <p:sp>
        <p:nvSpPr>
          <p:cNvPr id="16" name="Text 9"/>
          <p:cNvSpPr/>
          <p:nvPr/>
        </p:nvSpPr>
        <p:spPr>
          <a:xfrm>
            <a:off x="775216" y="6787634"/>
            <a:ext cx="2768679" cy="345996"/>
          </a:xfrm>
          <a:prstGeom prst="rect">
            <a:avLst/>
          </a:prstGeom>
          <a:noFill/>
          <a:ln/>
        </p:spPr>
        <p:txBody>
          <a:bodyPr wrap="none" lIns="0" tIns="0" rIns="0" bIns="0" rtlCol="0" anchor="t"/>
          <a:lstStyle/>
          <a:p>
            <a:pPr marL="0" indent="0" algn="l">
              <a:lnSpc>
                <a:spcPts val="2700"/>
              </a:lnSpc>
              <a:buNone/>
            </a:pPr>
            <a:r>
              <a:rPr lang="en-US" dirty="0">
                <a:latin typeface="Times New Roman" panose="02020603050405020304" pitchFamily="18" charset="0"/>
                <a:ea typeface="Instrument Sans Semi Bold" pitchFamily="34" charset="-122"/>
                <a:cs typeface="Times New Roman" panose="02020603050405020304" pitchFamily="18" charset="0"/>
              </a:rPr>
              <a:t>AI Ngữ nghĩa (NLP)</a:t>
            </a:r>
            <a:endParaRPr lang="en-US" dirty="0">
              <a:latin typeface="Times New Roman" panose="02020603050405020304" pitchFamily="18" charset="0"/>
              <a:cs typeface="Times New Roman" panose="02020603050405020304" pitchFamily="18" charset="0"/>
            </a:endParaRPr>
          </a:p>
        </p:txBody>
      </p:sp>
      <p:sp>
        <p:nvSpPr>
          <p:cNvPr id="17" name="Text 10"/>
          <p:cNvSpPr/>
          <p:nvPr/>
        </p:nvSpPr>
        <p:spPr>
          <a:xfrm>
            <a:off x="775216" y="7266503"/>
            <a:ext cx="6401514"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Medium" pitchFamily="34" charset="-122"/>
                <a:cs typeface="Times New Roman" panose="02020603050405020304" pitchFamily="18" charset="0"/>
              </a:rPr>
              <a:t>SentenceTransformer để phát hiện ý định người dùng.</a:t>
            </a:r>
            <a:endParaRPr lang="en-US" dirty="0">
              <a:latin typeface="Times New Roman" panose="02020603050405020304" pitchFamily="18" charset="0"/>
              <a:cs typeface="Times New Roman" panose="02020603050405020304" pitchFamily="18" charset="0"/>
            </a:endParaRPr>
          </a:p>
        </p:txBody>
      </p:sp>
      <p:pic>
        <p:nvPicPr>
          <p:cNvPr id="18"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53551" y="5957173"/>
            <a:ext cx="553641" cy="553641"/>
          </a:xfrm>
          <a:prstGeom prst="rect">
            <a:avLst/>
          </a:prstGeom>
        </p:spPr>
      </p:pic>
      <p:sp>
        <p:nvSpPr>
          <p:cNvPr id="19" name="Text 11"/>
          <p:cNvSpPr/>
          <p:nvPr/>
        </p:nvSpPr>
        <p:spPr>
          <a:xfrm>
            <a:off x="7453551" y="6787634"/>
            <a:ext cx="2768679" cy="345996"/>
          </a:xfrm>
          <a:prstGeom prst="rect">
            <a:avLst/>
          </a:prstGeom>
          <a:noFill/>
          <a:ln/>
        </p:spPr>
        <p:txBody>
          <a:bodyPr wrap="none" lIns="0" tIns="0" rIns="0" bIns="0" rtlCol="0" anchor="t"/>
          <a:lstStyle/>
          <a:p>
            <a:pPr marL="0" indent="0" algn="l">
              <a:lnSpc>
                <a:spcPts val="2700"/>
              </a:lnSpc>
              <a:buNone/>
            </a:pPr>
            <a:r>
              <a:rPr lang="en-US" dirty="0">
                <a:latin typeface="Times New Roman" panose="02020603050405020304" pitchFamily="18" charset="0"/>
                <a:ea typeface="Instrument Sans Semi Bold" pitchFamily="34" charset="-122"/>
                <a:cs typeface="Times New Roman" panose="02020603050405020304" pitchFamily="18" charset="0"/>
              </a:rPr>
              <a:t>Streamlit</a:t>
            </a:r>
            <a:endParaRPr lang="en-US" dirty="0">
              <a:latin typeface="Times New Roman" panose="02020603050405020304" pitchFamily="18" charset="0"/>
              <a:cs typeface="Times New Roman" panose="02020603050405020304" pitchFamily="18" charset="0"/>
            </a:endParaRPr>
          </a:p>
        </p:txBody>
      </p:sp>
      <p:sp>
        <p:nvSpPr>
          <p:cNvPr id="20" name="Text 12"/>
          <p:cNvSpPr/>
          <p:nvPr/>
        </p:nvSpPr>
        <p:spPr>
          <a:xfrm>
            <a:off x="7453551" y="7266503"/>
            <a:ext cx="6401633" cy="354330"/>
          </a:xfrm>
          <a:prstGeom prst="rect">
            <a:avLst/>
          </a:prstGeom>
          <a:noFill/>
          <a:ln/>
        </p:spPr>
        <p:txBody>
          <a:bodyPr wrap="none" lIns="0" tIns="0" rIns="0" bIns="0" rtlCol="0" anchor="t"/>
          <a:lstStyle/>
          <a:p>
            <a:pPr marL="0" indent="0" algn="l">
              <a:lnSpc>
                <a:spcPts val="2750"/>
              </a:lnSpc>
              <a:buNone/>
            </a:pPr>
            <a:r>
              <a:rPr lang="en-US" dirty="0">
                <a:latin typeface="Times New Roman" panose="02020603050405020304" pitchFamily="18" charset="0"/>
                <a:ea typeface="Instrument Sans Medium" pitchFamily="34" charset="-122"/>
                <a:cs typeface="Times New Roman" panose="02020603050405020304" pitchFamily="18" charset="0"/>
              </a:rPr>
              <a:t>Xây dựng giao diện người dùng chatbot nhanh chóng.</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8538" y="473273"/>
            <a:ext cx="9237345" cy="537924"/>
          </a:xfrm>
          <a:prstGeom prst="rect">
            <a:avLst/>
          </a:prstGeom>
          <a:noFill/>
          <a:ln/>
        </p:spPr>
        <p:txBody>
          <a:bodyPr wrap="none" lIns="0" tIns="0" rIns="0" bIns="0" rtlCol="0" anchor="t"/>
          <a:lstStyle/>
          <a:p>
            <a:pPr marL="0" indent="0" algn="l">
              <a:lnSpc>
                <a:spcPts val="420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CẤU TRÚC THƯ MỤC VÀ LUỒNG HOẠT ĐỘNG</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80918" y="1323082"/>
            <a:ext cx="2959418" cy="322778"/>
          </a:xfrm>
          <a:prstGeom prst="rect">
            <a:avLst/>
          </a:prstGeom>
          <a:noFill/>
          <a:ln/>
        </p:spPr>
        <p:txBody>
          <a:bodyPr wrap="none" lIns="0" tIns="0" rIns="0" bIns="0" rtlCol="0" anchor="t"/>
          <a:lstStyle/>
          <a:p>
            <a:pPr marL="0" indent="0" algn="l">
              <a:lnSpc>
                <a:spcPts val="2500"/>
              </a:lnSpc>
              <a:buNone/>
            </a:pPr>
            <a:r>
              <a:rPr lang="en-US" sz="2000" dirty="0">
                <a:latin typeface="Times New Roman" panose="02020603050405020304" pitchFamily="18" charset="0"/>
                <a:ea typeface="Instrument Sans Semi Bold" pitchFamily="34" charset="-122"/>
                <a:cs typeface="Times New Roman" panose="02020603050405020304" pitchFamily="18" charset="0"/>
              </a:rPr>
              <a:t>Cấu trúc Thư </a:t>
            </a:r>
            <a:r>
              <a:rPr lang="en-US" sz="2000" dirty="0" err="1">
                <a:latin typeface="Times New Roman" panose="02020603050405020304" pitchFamily="18" charset="0"/>
                <a:ea typeface="Instrument Sans Semi Bold" pitchFamily="34" charset="-122"/>
                <a:cs typeface="Times New Roman" panose="02020603050405020304" pitchFamily="18" charset="0"/>
              </a:rPr>
              <a:t>mục</a:t>
            </a:r>
            <a:r>
              <a:rPr lang="en-US" sz="2000" dirty="0">
                <a:latin typeface="Times New Roman" panose="02020603050405020304" pitchFamily="18" charset="0"/>
                <a:ea typeface="Instrument Sans Semi Bold" pitchFamily="34" charset="-122"/>
                <a:cs typeface="Times New Roman" panose="02020603050405020304" pitchFamily="18" charset="0"/>
              </a:rPr>
              <a:t> </a:t>
            </a:r>
            <a:r>
              <a:rPr lang="en-US" sz="2000" dirty="0" err="1">
                <a:latin typeface="Times New Roman" panose="02020603050405020304" pitchFamily="18" charset="0"/>
                <a:ea typeface="Instrument Sans Semi Bold" pitchFamily="34" charset="-122"/>
                <a:cs typeface="Times New Roman" panose="02020603050405020304" pitchFamily="18" charset="0"/>
              </a:rPr>
              <a:t>chính</a:t>
            </a:r>
            <a:endParaRPr lang="en-US" sz="2000" dirty="0">
              <a:latin typeface="Times New Roman" panose="02020603050405020304" pitchFamily="18" charset="0"/>
              <a:cs typeface="Times New Roman" panose="02020603050405020304" pitchFamily="18" charset="0"/>
            </a:endParaRPr>
          </a:p>
        </p:txBody>
      </p:sp>
      <p:sp>
        <p:nvSpPr>
          <p:cNvPr id="4" name="Shape 2"/>
          <p:cNvSpPr/>
          <p:nvPr/>
        </p:nvSpPr>
        <p:spPr>
          <a:xfrm>
            <a:off x="680918" y="1764149"/>
            <a:ext cx="5057061" cy="6160651"/>
          </a:xfrm>
          <a:prstGeom prst="roundRect">
            <a:avLst>
              <a:gd name="adj" fmla="val 3321"/>
            </a:avLst>
          </a:prstGeom>
          <a:solidFill>
            <a:srgbClr val="F2F2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852011" y="2086808"/>
            <a:ext cx="4722495" cy="4406265"/>
          </a:xfrm>
          <a:prstGeom prst="rect">
            <a:avLst/>
          </a:prstGeom>
          <a:noFill/>
          <a:ln/>
        </p:spPr>
        <p:txBody>
          <a:bodyPr wrap="square" lIns="0" tIns="0" rIns="0" bIns="0" rtlCol="0" anchor="t"/>
          <a:lstStyle/>
          <a:p>
            <a:pPr marL="0" indent="0" algn="l">
              <a:lnSpc>
                <a:spcPts val="2150"/>
              </a:lnSpc>
              <a:buNone/>
            </a:pP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6165413" y="1364158"/>
            <a:ext cx="3517583" cy="322778"/>
          </a:xfrm>
          <a:prstGeom prst="rect">
            <a:avLst/>
          </a:prstGeom>
          <a:noFill/>
          <a:ln/>
        </p:spPr>
        <p:txBody>
          <a:bodyPr wrap="none" lIns="0" tIns="0" rIns="0" bIns="0" rtlCol="0" anchor="t"/>
          <a:lstStyle/>
          <a:p>
            <a:pPr marL="0" indent="0" algn="l">
              <a:lnSpc>
                <a:spcPts val="2500"/>
              </a:lnSpc>
              <a:buNone/>
            </a:pPr>
            <a:r>
              <a:rPr lang="en-US" sz="2000" dirty="0">
                <a:latin typeface="Times New Roman" panose="02020603050405020304" pitchFamily="18" charset="0"/>
                <a:ea typeface="Instrument Sans Semi Bold" pitchFamily="34" charset="-122"/>
                <a:cs typeface="Times New Roman" panose="02020603050405020304" pitchFamily="18" charset="0"/>
              </a:rPr>
              <a:t>Luồng Hoạt động (Workflow)</a:t>
            </a:r>
            <a:endParaRPr lang="en-US" sz="2000" dirty="0">
              <a:latin typeface="Times New Roman" panose="02020603050405020304" pitchFamily="18" charset="0"/>
              <a:cs typeface="Times New Roman" panose="02020603050405020304" pitchFamily="18" charset="0"/>
            </a:endParaRPr>
          </a:p>
        </p:txBody>
      </p:sp>
      <p:pic>
        <p:nvPicPr>
          <p:cNvPr id="8" name="Image 0" descr="preencoded.png"/>
          <p:cNvPicPr>
            <a:picLocks noChangeAspect="1"/>
          </p:cNvPicPr>
          <p:nvPr/>
        </p:nvPicPr>
        <p:blipFill>
          <a:blip r:embed="rId3"/>
          <a:stretch>
            <a:fillRect/>
          </a:stretch>
        </p:blipFill>
        <p:spPr>
          <a:xfrm>
            <a:off x="6165413" y="1957745"/>
            <a:ext cx="516374" cy="1143000"/>
          </a:xfrm>
          <a:prstGeom prst="rect">
            <a:avLst/>
          </a:prstGeom>
        </p:spPr>
      </p:pic>
      <p:sp>
        <p:nvSpPr>
          <p:cNvPr id="9" name="Text 6"/>
          <p:cNvSpPr/>
          <p:nvPr/>
        </p:nvSpPr>
        <p:spPr>
          <a:xfrm>
            <a:off x="6853833" y="2129790"/>
            <a:ext cx="2418993"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1: Thu thập Dữ liệu</a:t>
            </a:r>
            <a:endParaRPr lang="en-US" dirty="0">
              <a:latin typeface="Times New Roman" panose="02020603050405020304" pitchFamily="18" charset="0"/>
              <a:cs typeface="Times New Roman" panose="02020603050405020304" pitchFamily="18" charset="0"/>
            </a:endParaRPr>
          </a:p>
        </p:txBody>
      </p:sp>
      <p:sp>
        <p:nvSpPr>
          <p:cNvPr id="10" name="Text 7"/>
          <p:cNvSpPr/>
          <p:nvPr/>
        </p:nvSpPr>
        <p:spPr>
          <a:xfrm>
            <a:off x="6853833" y="2570678"/>
            <a:ext cx="7504424" cy="290632"/>
          </a:xfrm>
          <a:prstGeom prst="rect">
            <a:avLst/>
          </a:prstGeom>
          <a:noFill/>
          <a:ln/>
        </p:spPr>
        <p:txBody>
          <a:bodyPr wrap="none" lIns="0" tIns="0" rIns="0" bIns="0" rtlCol="0" anchor="t"/>
          <a:lstStyle/>
          <a:p>
            <a:r>
              <a:rPr lang="vi-VN" dirty="0">
                <a:latin typeface="Times New Roman" panose="02020603050405020304" pitchFamily="18" charset="0"/>
                <a:cs typeface="Times New Roman" panose="02020603050405020304" pitchFamily="18" charset="0"/>
              </a:rPr>
              <a:t>Script collector.py gọi API OpenWeather, thu thập thông tin thời tiết và PM2.5, </a:t>
            </a:r>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lưu vào air_data.csv.</a:t>
            </a:r>
          </a:p>
        </p:txBody>
      </p:sp>
      <p:pic>
        <p:nvPicPr>
          <p:cNvPr id="11" name="Image 1" descr="preencoded.png"/>
          <p:cNvPicPr>
            <a:picLocks noChangeAspect="1"/>
          </p:cNvPicPr>
          <p:nvPr/>
        </p:nvPicPr>
        <p:blipFill>
          <a:blip r:embed="rId4"/>
          <a:stretch>
            <a:fillRect/>
          </a:stretch>
        </p:blipFill>
        <p:spPr>
          <a:xfrm>
            <a:off x="6423541" y="3205401"/>
            <a:ext cx="516374" cy="1143000"/>
          </a:xfrm>
          <a:prstGeom prst="rect">
            <a:avLst/>
          </a:prstGeom>
        </p:spPr>
      </p:pic>
      <p:sp>
        <p:nvSpPr>
          <p:cNvPr id="12" name="Text 8"/>
          <p:cNvSpPr/>
          <p:nvPr/>
        </p:nvSpPr>
        <p:spPr>
          <a:xfrm>
            <a:off x="7111960" y="3377446"/>
            <a:ext cx="2772013"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2: </a:t>
            </a:r>
            <a:r>
              <a:rPr lang="en-US" dirty="0" err="1">
                <a:latin typeface="Times New Roman" panose="02020603050405020304" pitchFamily="18" charset="0"/>
                <a:ea typeface="Instrument Sans Semi Bold" pitchFamily="34" charset="-122"/>
                <a:cs typeface="Times New Roman" panose="02020603050405020304" pitchFamily="18" charset="0"/>
              </a:rPr>
              <a:t>Tiền</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xử</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lý</a:t>
            </a:r>
            <a:r>
              <a:rPr lang="en-US" dirty="0">
                <a:latin typeface="Times New Roman" panose="02020603050405020304" pitchFamily="18" charset="0"/>
                <a:ea typeface="Instrument Sans Semi Bold" pitchFamily="34" charset="-122"/>
                <a:cs typeface="Times New Roman" panose="02020603050405020304" pitchFamily="18" charset="0"/>
              </a:rPr>
              <a:t> &amp; </a:t>
            </a:r>
            <a:r>
              <a:rPr lang="en-US" dirty="0" err="1">
                <a:latin typeface="Times New Roman" panose="02020603050405020304" pitchFamily="18" charset="0"/>
                <a:ea typeface="Instrument Sans Semi Bold" pitchFamily="34" charset="-122"/>
                <a:cs typeface="Times New Roman" panose="02020603050405020304" pitchFamily="18" charset="0"/>
              </a:rPr>
              <a:t>Huấn</a:t>
            </a:r>
            <a:r>
              <a:rPr lang="en-US" dirty="0">
                <a:latin typeface="Times New Roman" panose="02020603050405020304" pitchFamily="18" charset="0"/>
                <a:ea typeface="Instrument Sans Semi Bold" pitchFamily="34" charset="-122"/>
                <a:cs typeface="Times New Roman" panose="02020603050405020304" pitchFamily="18" charset="0"/>
              </a:rPr>
              <a:t> luyện Mô hình</a:t>
            </a:r>
            <a:endParaRPr lang="en-US" dirty="0">
              <a:latin typeface="Times New Roman" panose="02020603050405020304" pitchFamily="18" charset="0"/>
              <a:cs typeface="Times New Roman" panose="02020603050405020304" pitchFamily="18" charset="0"/>
            </a:endParaRPr>
          </a:p>
        </p:txBody>
      </p:sp>
      <p:sp>
        <p:nvSpPr>
          <p:cNvPr id="13" name="Text 9"/>
          <p:cNvSpPr/>
          <p:nvPr/>
        </p:nvSpPr>
        <p:spPr>
          <a:xfrm>
            <a:off x="7111960" y="3818334"/>
            <a:ext cx="6837521" cy="581263"/>
          </a:xfrm>
          <a:prstGeom prst="rect">
            <a:avLst/>
          </a:prstGeom>
          <a:noFill/>
          <a:ln/>
        </p:spPr>
        <p:txBody>
          <a:bodyPr wrap="squar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Chạy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train_model.py</a:t>
            </a:r>
            <a:r>
              <a:rPr lang="en-US" dirty="0">
                <a:latin typeface="Times New Roman" panose="02020603050405020304" pitchFamily="18" charset="0"/>
                <a:ea typeface="Instrument Sans Medium" pitchFamily="34" charset="-122"/>
                <a:cs typeface="Times New Roman" panose="02020603050405020304" pitchFamily="18" charset="0"/>
              </a:rPr>
              <a:t> → làm sạch dữ liệu, chia train/test → huấn luyện mô hình LightGBM → xuất 3 model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.pkl</a:t>
            </a:r>
            <a:r>
              <a:rPr lang="en-US" dirty="0">
                <a:latin typeface="Times New Roman" panose="02020603050405020304" pitchFamily="18" charset="0"/>
                <a:ea typeface="Instrument Sans Medium" pitchFamily="34" charset="-122"/>
                <a:cs typeface="Times New Roman" panose="02020603050405020304" pitchFamily="18" charset="0"/>
              </a:rPr>
              <a:t> (1h, 3h, 6h).</a:t>
            </a:r>
            <a:endParaRPr lang="en-US" dirty="0">
              <a:latin typeface="Times New Roman" panose="02020603050405020304" pitchFamily="18" charset="0"/>
              <a:cs typeface="Times New Roman" panose="02020603050405020304" pitchFamily="18" charset="0"/>
            </a:endParaRPr>
          </a:p>
        </p:txBody>
      </p:sp>
      <p:pic>
        <p:nvPicPr>
          <p:cNvPr id="14" name="Image 2" descr="preencoded.png"/>
          <p:cNvPicPr>
            <a:picLocks noChangeAspect="1"/>
          </p:cNvPicPr>
          <p:nvPr/>
        </p:nvPicPr>
        <p:blipFill>
          <a:blip r:embed="rId5"/>
          <a:stretch>
            <a:fillRect/>
          </a:stretch>
        </p:blipFill>
        <p:spPr>
          <a:xfrm>
            <a:off x="6681787" y="4743688"/>
            <a:ext cx="516374" cy="1143000"/>
          </a:xfrm>
          <a:prstGeom prst="rect">
            <a:avLst/>
          </a:prstGeom>
        </p:spPr>
      </p:pic>
      <p:sp>
        <p:nvSpPr>
          <p:cNvPr id="15" name="Text 10"/>
          <p:cNvSpPr/>
          <p:nvPr/>
        </p:nvSpPr>
        <p:spPr>
          <a:xfrm>
            <a:off x="7370207" y="4915733"/>
            <a:ext cx="3065383"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3: Triển khai Ứng dụng AI</a:t>
            </a:r>
            <a:endParaRPr lang="en-US" dirty="0">
              <a:latin typeface="Times New Roman" panose="02020603050405020304" pitchFamily="18" charset="0"/>
              <a:cs typeface="Times New Roman" panose="02020603050405020304" pitchFamily="18" charset="0"/>
            </a:endParaRPr>
          </a:p>
        </p:txBody>
      </p:sp>
      <p:sp>
        <p:nvSpPr>
          <p:cNvPr id="16" name="Text 11"/>
          <p:cNvSpPr/>
          <p:nvPr/>
        </p:nvSpPr>
        <p:spPr>
          <a:xfrm>
            <a:off x="7370207" y="5356622"/>
            <a:ext cx="6579275" cy="550783"/>
          </a:xfrm>
          <a:prstGeom prst="rect">
            <a:avLst/>
          </a:prstGeom>
          <a:noFill/>
          <a:ln/>
        </p:spPr>
        <p:txBody>
          <a:bodyPr wrap="square" lIns="0" tIns="0" rIns="0" bIns="0" rtlCol="0" anchor="t"/>
          <a:lstStyle/>
          <a:p>
            <a:r>
              <a:rPr lang="en-US" dirty="0" err="1">
                <a:latin typeface="Times New Roman" panose="02020603050405020304" pitchFamily="18" charset="0"/>
                <a:cs typeface="Times New Roman" panose="02020603050405020304" pitchFamily="18" charset="0"/>
              </a:rPr>
              <a:t>Tải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PM2.5,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sang AQI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khuyên</a:t>
            </a:r>
            <a:r>
              <a:rPr lang="en-US" dirty="0">
                <a:latin typeface="Times New Roman" panose="02020603050405020304" pitchFamily="18" charset="0"/>
                <a:cs typeface="Times New Roman" panose="02020603050405020304" pitchFamily="18" charset="0"/>
              </a:rPr>
              <a:t>.</a:t>
            </a:r>
          </a:p>
        </p:txBody>
      </p:sp>
      <p:pic>
        <p:nvPicPr>
          <p:cNvPr id="17" name="Image 3" descr="preencoded.png"/>
          <p:cNvPicPr>
            <a:picLocks noChangeAspect="1"/>
          </p:cNvPicPr>
          <p:nvPr/>
        </p:nvPicPr>
        <p:blipFill>
          <a:blip r:embed="rId5"/>
          <a:stretch>
            <a:fillRect/>
          </a:stretch>
        </p:blipFill>
        <p:spPr>
          <a:xfrm>
            <a:off x="6940034" y="6251496"/>
            <a:ext cx="516374" cy="1143000"/>
          </a:xfrm>
          <a:prstGeom prst="rect">
            <a:avLst/>
          </a:prstGeom>
        </p:spPr>
      </p:pic>
      <p:sp>
        <p:nvSpPr>
          <p:cNvPr id="18" name="Text 12"/>
          <p:cNvSpPr/>
          <p:nvPr/>
        </p:nvSpPr>
        <p:spPr>
          <a:xfrm>
            <a:off x="7628453" y="6423541"/>
            <a:ext cx="2792135" cy="268843"/>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Bước 4: Hiển thị &amp; Cảnh báo</a:t>
            </a:r>
            <a:endParaRPr lang="en-US" dirty="0">
              <a:latin typeface="Times New Roman" panose="02020603050405020304" pitchFamily="18" charset="0"/>
              <a:cs typeface="Times New Roman" panose="02020603050405020304" pitchFamily="18" charset="0"/>
            </a:endParaRPr>
          </a:p>
        </p:txBody>
      </p:sp>
      <p:sp>
        <p:nvSpPr>
          <p:cNvPr id="19" name="Text 13"/>
          <p:cNvSpPr/>
          <p:nvPr/>
        </p:nvSpPr>
        <p:spPr>
          <a:xfrm>
            <a:off x="7628453" y="6864429"/>
            <a:ext cx="6321028" cy="550783"/>
          </a:xfrm>
          <a:prstGeom prst="rect">
            <a:avLst/>
          </a:prstGeom>
          <a:noFill/>
          <a:ln/>
        </p:spPr>
        <p:txBody>
          <a:bodyPr wrap="squar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Hiển thị biểu đồ dự đoán AQI, cảnh báo sức khỏe theo mức AQI, và chatbot hỗ trợ hỏi đáp.</a:t>
            </a:r>
            <a:endParaRPr lang="en-US"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F44955E2-D836-7485-5C40-DFDF5C2AEF4F}"/>
              </a:ext>
            </a:extLst>
          </p:cNvPr>
          <p:cNvSpPr txBox="1"/>
          <p:nvPr/>
        </p:nvSpPr>
        <p:spPr>
          <a:xfrm>
            <a:off x="688538" y="1711446"/>
            <a:ext cx="4722495" cy="6580263"/>
          </a:xfrm>
          <a:prstGeom prst="rect">
            <a:avLst/>
          </a:prstGeom>
          <a:noFill/>
        </p:spPr>
        <p:txBody>
          <a:bodyPr wrap="square" rtlCol="0">
            <a:spAutoFit/>
          </a:bodyPr>
          <a:lstStyle/>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AIRCARE/</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.venv312/</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data/</a:t>
            </a:r>
          </a:p>
          <a:p>
            <a:pPr>
              <a:lnSpc>
                <a:spcPct val="116000"/>
              </a:lnSpc>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logs/ </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raw/</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air_data.csv</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models/</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t>
            </a:r>
            <a:r>
              <a:rPr lang="vi-VN" sz="1800" kern="0" dirty="0">
                <a:effectLst/>
                <a:latin typeface="Times New Roman" panose="02020603050405020304" pitchFamily="18" charset="0"/>
                <a:ea typeface="Aptos" panose="020B0004020202020204" pitchFamily="34" charset="0"/>
                <a:cs typeface="Times New Roman" panose="02020603050405020304" pitchFamily="18" charset="0"/>
              </a:rPr>
              <a:t>pm2_5_model_1h.pkl</a:t>
            </a:r>
            <a:endParaRPr lang="en-US" sz="16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effectLst/>
                <a:latin typeface="Times New Roman" panose="02020603050405020304" pitchFamily="18" charset="0"/>
                <a:ea typeface="Aptos" panose="020B0004020202020204" pitchFamily="34" charset="0"/>
                <a:cs typeface="Times New Roman" panose="02020603050405020304" pitchFamily="18" charset="0"/>
              </a:rPr>
              <a:t>src</a:t>
            </a:r>
            <a:r>
              <a:rPr lang="en-US" sz="1600" dirty="0">
                <a:effectLst/>
                <a:latin typeface="Times New Roman" panose="02020603050405020304" pitchFamily="18" charset="0"/>
                <a:ea typeface="Aptos" panose="020B0004020202020204" pitchFamily="34" charset="0"/>
                <a:cs typeface="Times New Roman" panose="02020603050405020304" pitchFamily="18" charset="0"/>
              </a:rPr>
              <a:t>/</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data/</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 collector.py</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models/</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 train_model.py</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run/</a:t>
            </a:r>
          </a:p>
          <a:p>
            <a:pPr marL="0" marR="0">
              <a:lnSpc>
                <a:spcPct val="116000"/>
              </a:lnSpc>
              <a:spcBef>
                <a:spcPts val="0"/>
              </a:spcBef>
              <a:spcAft>
                <a:spcPts val="800"/>
              </a:spcAft>
            </a:pPr>
            <a:r>
              <a:rPr lang="en-US" sz="1600" dirty="0">
                <a:effectLst/>
                <a:latin typeface="Times New Roman" panose="02020603050405020304" pitchFamily="18" charset="0"/>
                <a:ea typeface="Aptos" panose="020B0004020202020204" pitchFamily="34" charset="0"/>
                <a:cs typeface="Times New Roman" panose="02020603050405020304" pitchFamily="18" charset="0"/>
              </a:rPr>
              <a:t>    └── app.py</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50250"/>
            <a:ext cx="7206496"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DỮ LIỆU: NGUỒN VÀ ĐẶC ĐIỂM</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067163"/>
            <a:ext cx="13042821"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Dữ liệu được thu thập từ OpenWeatherMap API, cung cấp thông tin thời tiết và chất lượng không khí theo thời gian thực tại Hà Nội (mặc định).</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93790" y="2607945"/>
            <a:ext cx="13042821" cy="3187303"/>
          </a:xfrm>
          <a:prstGeom prst="roundRect">
            <a:avLst>
              <a:gd name="adj" fmla="val 5604"/>
            </a:avLst>
          </a:prstGeom>
          <a:noFill/>
          <a:ln w="7620">
            <a:solidFill>
              <a:srgbClr val="000000">
                <a:alpha val="8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707572" y="2607945"/>
            <a:ext cx="13121420" cy="578525"/>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1000125" y="2742248"/>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timestamp</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609380" y="2742248"/>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Datetime</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563433" y="2742248"/>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N/A</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866096" y="2742248"/>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Thời điểm ghi nhận dữ liệu.</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801410" y="3186470"/>
            <a:ext cx="13027581" cy="570905"/>
          </a:xfrm>
          <a:prstGeom prst="rect">
            <a:avLst/>
          </a:prstGeom>
          <a:solidFill>
            <a:srgbClr val="000000">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1000125" y="3313152"/>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pm2_5, pm10</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3609380" y="3313152"/>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Float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5563433" y="3313152"/>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µg/m³</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6866096" y="3313152"/>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Nồng độ bụi mịn và bụi thô, gây hại cho </a:t>
            </a:r>
            <a:r>
              <a:rPr lang="en-US" dirty="0" err="1">
                <a:latin typeface="Times New Roman" panose="02020603050405020304" pitchFamily="18" charset="0"/>
                <a:ea typeface="Instrument Sans Medium" pitchFamily="34" charset="-122"/>
                <a:cs typeface="Times New Roman" panose="02020603050405020304" pitchFamily="18" charset="0"/>
              </a:rPr>
              <a:t>hô</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hấp</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mục</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tiêu</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dự</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đoán</a:t>
            </a:r>
            <a:r>
              <a:rPr lang="en-US" dirty="0">
                <a:latin typeface="Times New Roman" panose="02020603050405020304" pitchFamily="18" charset="0"/>
                <a:ea typeface="Instrument Sans Medium" pitchFamily="34" charset="-122"/>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a:off x="754490" y="3952474"/>
            <a:ext cx="13027581" cy="888444"/>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4"/>
          <p:cNvSpPr/>
          <p:nvPr/>
        </p:nvSpPr>
        <p:spPr>
          <a:xfrm>
            <a:off x="1000125" y="3884057"/>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no2, co, o3, so2</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3609380" y="3884057"/>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Float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5563433" y="3884057"/>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µg/m³</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866096" y="3884057"/>
            <a:ext cx="6764536"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Các khí gây ô nhiễm chính (Nitơ Dioxit, Carbon Monoxit, Ozon, Lưu huỳnh Dioxit).</a:t>
            </a:r>
            <a:endParaRPr lang="en-US" dirty="0">
              <a:latin typeface="Times New Roman" panose="02020603050405020304" pitchFamily="18" charset="0"/>
              <a:cs typeface="Times New Roman" panose="02020603050405020304" pitchFamily="18" charset="0"/>
            </a:endParaRPr>
          </a:p>
        </p:txBody>
      </p:sp>
      <p:sp>
        <p:nvSpPr>
          <p:cNvPr id="20" name="Shape 18"/>
          <p:cNvSpPr/>
          <p:nvPr/>
        </p:nvSpPr>
        <p:spPr>
          <a:xfrm>
            <a:off x="754491" y="4822359"/>
            <a:ext cx="13027581" cy="570905"/>
          </a:xfrm>
          <a:prstGeom prst="rect">
            <a:avLst/>
          </a:prstGeom>
          <a:solidFill>
            <a:srgbClr val="000000">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1000125" y="4772501"/>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temp, humidity</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3609380" y="4772501"/>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Float/Integer</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5563433" y="4772501"/>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 / %</a:t>
            </a: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6866096" y="4772501"/>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Nhiệt độ và độ ẩm không khí hiện tại.</a:t>
            </a:r>
            <a:endParaRPr lang="en-US" dirty="0">
              <a:latin typeface="Times New Roman" panose="02020603050405020304" pitchFamily="18" charset="0"/>
              <a:cs typeface="Times New Roman" panose="02020603050405020304" pitchFamily="18" charset="0"/>
            </a:endParaRPr>
          </a:p>
        </p:txBody>
      </p:sp>
      <p:sp>
        <p:nvSpPr>
          <p:cNvPr id="25" name="Shape 23"/>
          <p:cNvSpPr/>
          <p:nvPr/>
        </p:nvSpPr>
        <p:spPr>
          <a:xfrm>
            <a:off x="793789" y="5509796"/>
            <a:ext cx="13027581" cy="570905"/>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6" name="Text 24"/>
          <p:cNvSpPr/>
          <p:nvPr/>
        </p:nvSpPr>
        <p:spPr>
          <a:xfrm>
            <a:off x="1000125" y="5343406"/>
            <a:ext cx="2204918"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aqi</a:t>
            </a:r>
            <a:endParaRPr lang="en-US" dirty="0">
              <a:latin typeface="Times New Roman" panose="02020603050405020304" pitchFamily="18" charset="0"/>
              <a:cs typeface="Times New Roman" panose="02020603050405020304" pitchFamily="18" charset="0"/>
            </a:endParaRPr>
          </a:p>
        </p:txBody>
      </p:sp>
      <p:sp>
        <p:nvSpPr>
          <p:cNvPr id="27" name="Text 25"/>
          <p:cNvSpPr/>
          <p:nvPr/>
        </p:nvSpPr>
        <p:spPr>
          <a:xfrm>
            <a:off x="3609380" y="5343406"/>
            <a:ext cx="154971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Integer</a:t>
            </a:r>
            <a:endParaRPr lang="en-US" dirty="0">
              <a:latin typeface="Times New Roman" panose="02020603050405020304" pitchFamily="18" charset="0"/>
              <a:cs typeface="Times New Roman" panose="02020603050405020304" pitchFamily="18" charset="0"/>
            </a:endParaRPr>
          </a:p>
        </p:txBody>
      </p:sp>
      <p:sp>
        <p:nvSpPr>
          <p:cNvPr id="28" name="Text 26"/>
          <p:cNvSpPr/>
          <p:nvPr/>
        </p:nvSpPr>
        <p:spPr>
          <a:xfrm>
            <a:off x="5563433" y="5343406"/>
            <a:ext cx="898327"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1-5</a:t>
            </a:r>
            <a:endParaRPr lang="en-US" dirty="0">
              <a:latin typeface="Times New Roman" panose="02020603050405020304" pitchFamily="18" charset="0"/>
              <a:cs typeface="Times New Roman" panose="02020603050405020304" pitchFamily="18" charset="0"/>
            </a:endParaRPr>
          </a:p>
        </p:txBody>
      </p:sp>
      <p:sp>
        <p:nvSpPr>
          <p:cNvPr id="29" name="Text 27"/>
          <p:cNvSpPr/>
          <p:nvPr/>
        </p:nvSpPr>
        <p:spPr>
          <a:xfrm>
            <a:off x="6866096" y="5343406"/>
            <a:ext cx="6764536"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Chỉ số chất lượng </a:t>
            </a:r>
            <a:r>
              <a:rPr lang="en-US" dirty="0" err="1">
                <a:latin typeface="Times New Roman" panose="02020603050405020304" pitchFamily="18" charset="0"/>
                <a:ea typeface="Instrument Sans Medium" pitchFamily="34" charset="-122"/>
                <a:cs typeface="Times New Roman" panose="02020603050405020304" pitchFamily="18" charset="0"/>
              </a:rPr>
              <a:t>không</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khí</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0" name="Shape 28"/>
          <p:cNvSpPr/>
          <p:nvPr/>
        </p:nvSpPr>
        <p:spPr>
          <a:xfrm>
            <a:off x="793790" y="6018490"/>
            <a:ext cx="13042821" cy="1160740"/>
          </a:xfrm>
          <a:prstGeom prst="roundRect">
            <a:avLst>
              <a:gd name="adj" fmla="val 15389"/>
            </a:avLst>
          </a:prstGeom>
          <a:solidFill>
            <a:srgbClr val="B5DAFC"/>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31" name="Image 0" descr="preencoded.png"/>
          <p:cNvPicPr>
            <a:picLocks noChangeAspect="1"/>
          </p:cNvPicPr>
          <p:nvPr/>
        </p:nvPicPr>
        <p:blipFill>
          <a:blip r:embed="rId3"/>
          <a:stretch>
            <a:fillRect/>
          </a:stretch>
        </p:blipFill>
        <p:spPr>
          <a:xfrm>
            <a:off x="992148" y="6313765"/>
            <a:ext cx="248007" cy="198358"/>
          </a:xfrm>
          <a:prstGeom prst="rect">
            <a:avLst/>
          </a:prstGeom>
        </p:spPr>
      </p:pic>
      <p:sp>
        <p:nvSpPr>
          <p:cNvPr id="32" name="Text 29"/>
          <p:cNvSpPr/>
          <p:nvPr/>
        </p:nvSpPr>
        <p:spPr>
          <a:xfrm>
            <a:off x="1438513" y="6266378"/>
            <a:ext cx="12199739" cy="635079"/>
          </a:xfrm>
          <a:prstGeom prst="rect">
            <a:avLst/>
          </a:prstGeom>
          <a:noFill/>
          <a:ln/>
        </p:spPr>
        <p:txBody>
          <a:bodyPr wrap="square" lIns="0" tIns="0" rIns="0" bIns="0" rtlCol="0" anchor="t"/>
          <a:lstStyle/>
          <a:p>
            <a:pPr>
              <a:lnSpc>
                <a:spcPts val="2500"/>
              </a:lnSpc>
            </a:pPr>
            <a:r>
              <a:rPr lang="en-US" dirty="0" err="1">
                <a:latin typeface="Times New Roman" panose="02020603050405020304" pitchFamily="18" charset="0"/>
                <a:ea typeface="Instrument Sans Medium" pitchFamily="34" charset="-122"/>
                <a:cs typeface="Times New Roman" panose="02020603050405020304" pitchFamily="18" charset="0"/>
              </a:rPr>
              <a:t>Mục</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tiêu</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sử</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dụng</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dữ</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liệu</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Huấn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luyện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mô</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hình</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dự</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đoán</a:t>
            </a:r>
            <a:r>
              <a:rPr lang="en-US" sz="1800" dirty="0">
                <a:latin typeface="Times New Roman" panose="02020603050405020304" pitchFamily="18" charset="0"/>
                <a:ea typeface="Instrument Sans Medium" pitchFamily="34" charset="-122"/>
                <a:cs typeface="Times New Roman" panose="02020603050405020304" pitchFamily="18" charset="0"/>
              </a:rPr>
              <a:t> PM2.5</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c</a:t>
            </a:r>
            <a:r>
              <a:rPr lang="en-US" sz="1800" dirty="0" err="1">
                <a:latin typeface="Times New Roman" panose="02020603050405020304" pitchFamily="18" charset="0"/>
                <a:ea typeface="Instrument Sans Medium" pitchFamily="34" charset="-122"/>
                <a:cs typeface="Times New Roman" panose="02020603050405020304" pitchFamily="18" charset="0"/>
              </a:rPr>
              <a:t>ung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cấp</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dữ</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liệu</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cho</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ứng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dụng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để</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quy</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đổi</a:t>
            </a:r>
            <a:r>
              <a:rPr lang="en-US" sz="1800" dirty="0">
                <a:latin typeface="Times New Roman" panose="02020603050405020304" pitchFamily="18" charset="0"/>
                <a:ea typeface="Instrument Sans Medium" pitchFamily="34" charset="-122"/>
                <a:cs typeface="Times New Roman" panose="02020603050405020304" pitchFamily="18" charset="0"/>
              </a:rPr>
              <a:t> sang AQI, </a:t>
            </a:r>
            <a:r>
              <a:rPr lang="en-US" dirty="0" err="1">
                <a:latin typeface="Times New Roman" panose="02020603050405020304" pitchFamily="18" charset="0"/>
                <a:ea typeface="Instrument Sans Medium" pitchFamily="34" charset="-122"/>
                <a:cs typeface="Times New Roman" panose="02020603050405020304" pitchFamily="18" charset="0"/>
              </a:rPr>
              <a:t>p</a:t>
            </a:r>
            <a:r>
              <a:rPr lang="en-US" sz="1800" dirty="0" err="1">
                <a:latin typeface="Times New Roman" panose="02020603050405020304" pitchFamily="18" charset="0"/>
                <a:ea typeface="Instrument Sans Medium" pitchFamily="34" charset="-122"/>
                <a:cs typeface="Times New Roman" panose="02020603050405020304" pitchFamily="18" charset="0"/>
              </a:rPr>
              <a:t>hát</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hiện</a:t>
            </a:r>
            <a:r>
              <a:rPr lang="en-US" sz="1800" dirty="0">
                <a:latin typeface="Times New Roman" panose="02020603050405020304" pitchFamily="18" charset="0"/>
                <a:ea typeface="Instrument Sans Medium" pitchFamily="34" charset="-122"/>
                <a:cs typeface="Times New Roman" panose="02020603050405020304" pitchFamily="18" charset="0"/>
              </a:rPr>
              <a:t> ý </a:t>
            </a:r>
            <a:r>
              <a:rPr lang="en-US" sz="1800" dirty="0" err="1">
                <a:latin typeface="Times New Roman" panose="02020603050405020304" pitchFamily="18" charset="0"/>
                <a:ea typeface="Instrument Sans Medium" pitchFamily="34" charset="-122"/>
                <a:cs typeface="Times New Roman" panose="02020603050405020304" pitchFamily="18" charset="0"/>
              </a:rPr>
              <a:t>định</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cho</a:t>
            </a:r>
            <a:r>
              <a:rPr lang="en-US" sz="1800" dirty="0">
                <a:latin typeface="Times New Roman" panose="02020603050405020304" pitchFamily="18" charset="0"/>
                <a:ea typeface="Instrument Sans Medium" pitchFamily="34" charset="-122"/>
                <a:cs typeface="Times New Roman" panose="02020603050405020304" pitchFamily="18" charset="0"/>
              </a:rPr>
              <a:t> chatbot </a:t>
            </a:r>
            <a:r>
              <a:rPr lang="en-US" sz="1800" dirty="0" err="1">
                <a:latin typeface="Times New Roman" panose="02020603050405020304" pitchFamily="18" charset="0"/>
                <a:ea typeface="Instrument Sans Medium" pitchFamily="34" charset="-122"/>
                <a:cs typeface="Times New Roman" panose="02020603050405020304" pitchFamily="18" charset="0"/>
              </a:rPr>
              <a:t>thông</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minh</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a:lnSpc>
                <a:spcPts val="2500"/>
              </a:lnSpc>
            </a:pPr>
            <a:endParaRPr lang="en-US" sz="1800" dirty="0">
              <a:latin typeface="Times New Roman" panose="02020603050405020304" pitchFamily="18" charset="0"/>
              <a:cs typeface="Times New Roman" panose="02020603050405020304" pitchFamily="18" charset="0"/>
            </a:endParaRPr>
          </a:p>
          <a:p>
            <a:pPr>
              <a:lnSpc>
                <a:spcPts val="25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54004"/>
            <a:ext cx="9370576"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THUẬT TOÁN VÀ MÔ HÌNH HUẤN LUYỆN</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570917"/>
            <a:ext cx="13042821" cy="31754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sử dụng mô </a:t>
            </a:r>
            <a:r>
              <a:rPr lang="en-US" dirty="0" err="1">
                <a:latin typeface="Times New Roman" panose="02020603050405020304" pitchFamily="18" charset="0"/>
                <a:ea typeface="Instrument Sans Medium" pitchFamily="34" charset="-122"/>
                <a:cs typeface="Times New Roman" panose="02020603050405020304" pitchFamily="18" charset="0"/>
              </a:rPr>
              <a:t>hình</a:t>
            </a:r>
            <a:r>
              <a:rPr lang="en-US" dirty="0">
                <a:latin typeface="Times New Roman" panose="02020603050405020304" pitchFamily="18" charset="0"/>
                <a:ea typeface="Instrument Sans Medium" pitchFamily="34" charset="-122"/>
                <a:cs typeface="Times New Roman" panose="02020603050405020304" pitchFamily="18" charset="0"/>
              </a:rPr>
              <a:t> </a:t>
            </a:r>
            <a:r>
              <a:rPr lang="en-US" sz="1800" dirty="0">
                <a:latin typeface="Times New Roman" panose="02020603050405020304" pitchFamily="18" charset="0"/>
                <a:ea typeface="Instrument Sans Semi Bold" pitchFamily="34" charset="-122"/>
                <a:cs typeface="Times New Roman" panose="02020603050405020304" pitchFamily="18" charset="0"/>
              </a:rPr>
              <a:t>LIGHTGBM, </a:t>
            </a:r>
            <a:r>
              <a:rPr lang="en-US" sz="1800" dirty="0" err="1">
                <a:latin typeface="Times New Roman" panose="02020603050405020304" pitchFamily="18" charset="0"/>
                <a:ea typeface="Instrument Sans Semi Bold" pitchFamily="34" charset="-122"/>
                <a:cs typeface="Times New Roman" panose="02020603050405020304" pitchFamily="18" charset="0"/>
              </a:rPr>
              <a:t>dạn</a:t>
            </a:r>
            <a:r>
              <a:rPr lang="en-US" dirty="0" err="1">
                <a:latin typeface="Times New Roman" panose="02020603050405020304" pitchFamily="18" charset="0"/>
                <a:ea typeface="Instrument Sans Semi Bold" pitchFamily="34" charset="-122"/>
                <a:cs typeface="Times New Roman" panose="02020603050405020304" pitchFamily="18" charset="0"/>
              </a:rPr>
              <a:t>g</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bài</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hồi</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quy</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Medium" pitchFamily="34" charset="-122"/>
                <a:cs typeface="Times New Roman" panose="02020603050405020304" pitchFamily="18" charset="0"/>
              </a:rPr>
              <a:t>để</a:t>
            </a:r>
            <a:r>
              <a:rPr lang="en-US" dirty="0">
                <a:latin typeface="Times New Roman" panose="02020603050405020304" pitchFamily="18" charset="0"/>
                <a:ea typeface="Instrument Sans Medium" pitchFamily="34" charset="-122"/>
                <a:cs typeface="Times New Roman" panose="02020603050405020304" pitchFamily="18" charset="0"/>
              </a:rPr>
              <a:t> dự đoán chỉ số AQI (1-5).</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793790" y="3111698"/>
            <a:ext cx="6422231" cy="3563779"/>
          </a:xfrm>
          <a:prstGeom prst="roundRect">
            <a:avLst>
              <a:gd name="adj" fmla="val 3079"/>
            </a:avLst>
          </a:prstGeom>
          <a:solidFill>
            <a:srgbClr val="FFFFFF"/>
          </a:solidFill>
          <a:ln w="22860">
            <a:solidFill>
              <a:srgbClr val="B4CCE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770930" y="3111698"/>
            <a:ext cx="91440" cy="3563779"/>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1083588" y="3332917"/>
            <a:ext cx="5911215" cy="744141"/>
          </a:xfrm>
          <a:prstGeom prst="rect">
            <a:avLst/>
          </a:prstGeom>
          <a:noFill/>
          <a:ln/>
        </p:spPr>
        <p:txBody>
          <a:bodyPr wrap="squar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LightGBM (Light Gradient Boosting Machine)</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1083588" y="4196120"/>
            <a:ext cx="5911215"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Đây là thuật toán Boosting dạng cây quyết định, được phát triển bởi Microsoft. LightGBM xây dựng nhiều cây yếu theo chuỗi, mỗi cây học từ sai số của các cây trước đó, giúp tăng tốc độ huấn luyện và hiệu suất so với các thuật toán Boosting khác.</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7414379" y="3111698"/>
            <a:ext cx="6422231" cy="3563779"/>
          </a:xfrm>
          <a:prstGeom prst="roundRect">
            <a:avLst>
              <a:gd name="adj" fmla="val 3079"/>
            </a:avLst>
          </a:prstGeom>
          <a:solidFill>
            <a:srgbClr val="FFFFFF"/>
          </a:solidFill>
          <a:ln w="22860">
            <a:solidFill>
              <a:srgbClr val="B4CCE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7391519" y="3111698"/>
            <a:ext cx="91440" cy="3563779"/>
          </a:xfrm>
          <a:prstGeom prst="roundRect">
            <a:avLst>
              <a:gd name="adj" fmla="val 195349"/>
            </a:avLst>
          </a:prstGeom>
          <a:solidFill>
            <a:srgbClr val="84C1F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0" name="Text 8"/>
          <p:cNvSpPr/>
          <p:nvPr/>
        </p:nvSpPr>
        <p:spPr>
          <a:xfrm>
            <a:off x="7704177" y="3332917"/>
            <a:ext cx="3990499" cy="372070"/>
          </a:xfrm>
          <a:prstGeom prst="rect">
            <a:avLst/>
          </a:prstGeom>
          <a:noFill/>
          <a:ln/>
        </p:spPr>
        <p:txBody>
          <a:bodyPr wrap="none" lIns="0" tIns="0" rIns="0" bIns="0" rtlCol="0" anchor="t"/>
          <a:lstStyle/>
          <a:p>
            <a:pPr marL="0" indent="0" algn="l">
              <a:lnSpc>
                <a:spcPts val="2900"/>
              </a:lnSpc>
              <a:buNone/>
            </a:pPr>
            <a:r>
              <a:rPr lang="en-US" dirty="0">
                <a:latin typeface="Times New Roman" panose="02020603050405020304" pitchFamily="18" charset="0"/>
                <a:ea typeface="Instrument Sans Semi Bold" pitchFamily="34" charset="-122"/>
                <a:cs typeface="Times New Roman" panose="02020603050405020304" pitchFamily="18" charset="0"/>
              </a:rPr>
              <a:t>Cấu trúc Mô </a:t>
            </a:r>
            <a:r>
              <a:rPr lang="en-US" dirty="0" err="1">
                <a:latin typeface="Times New Roman" panose="02020603050405020304" pitchFamily="18" charset="0"/>
                <a:ea typeface="Instrument Sans Semi Bold" pitchFamily="34" charset="-122"/>
                <a:cs typeface="Times New Roman" panose="02020603050405020304" pitchFamily="18" charset="0"/>
              </a:rPr>
              <a:t>hình</a:t>
            </a:r>
            <a:r>
              <a:rPr lang="en-US" dirty="0">
                <a:latin typeface="Times New Roman" panose="02020603050405020304" pitchFamily="18" charset="0"/>
                <a:ea typeface="Instrument Sans Semi Bold" pitchFamily="34" charset="-122"/>
                <a:cs typeface="Times New Roman" panose="02020603050405020304" pitchFamily="18" charset="0"/>
              </a:rPr>
              <a:t> </a:t>
            </a:r>
            <a:r>
              <a:rPr lang="en-US" dirty="0" err="1">
                <a:latin typeface="Times New Roman" panose="02020603050405020304" pitchFamily="18" charset="0"/>
                <a:ea typeface="Instrument Sans Semi Bold" pitchFamily="34" charset="-122"/>
                <a:cs typeface="Times New Roman" panose="02020603050405020304" pitchFamily="18" charset="0"/>
              </a:rPr>
              <a:t>huấn</a:t>
            </a:r>
            <a:r>
              <a:rPr lang="en-US" dirty="0">
                <a:latin typeface="Times New Roman" panose="02020603050405020304" pitchFamily="18" charset="0"/>
                <a:ea typeface="Instrument Sans Semi Bold" pitchFamily="34" charset="-122"/>
                <a:cs typeface="Times New Roman" panose="02020603050405020304" pitchFamily="18" charset="0"/>
              </a:rPr>
              <a:t> luyện</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7704177" y="3824049"/>
            <a:ext cx="5911215" cy="9678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Mã nguồn huấn luyện nằm trong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src/models/train_model.py</a:t>
            </a:r>
            <a:r>
              <a:rPr lang="en-US" dirty="0">
                <a:latin typeface="Times New Roman" panose="02020603050405020304" pitchFamily="18" charset="0"/>
                <a:ea typeface="Instrument Sans Medium" pitchFamily="34" charset="-122"/>
                <a:cs typeface="Times New Roman" panose="02020603050405020304" pitchFamily="18" charset="0"/>
              </a:rPr>
              <a:t>. Mô hình được huấn luyện tự động cho 3 mốc thời gian dự báo riêng biệt: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704177" y="4910971"/>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dirty="0">
                <a:latin typeface="Times New Roman" panose="02020603050405020304" pitchFamily="18" charset="0"/>
                <a:ea typeface="Instrument Sans Medium" pitchFamily="34" charset="-122"/>
                <a:cs typeface="Times New Roman" panose="02020603050405020304" pitchFamily="18" charset="0"/>
              </a:rPr>
              <a:t>PM2.5 sau 1 giờ</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7704177" y="5297924"/>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dirty="0">
                <a:latin typeface="Times New Roman" panose="02020603050405020304" pitchFamily="18" charset="0"/>
                <a:ea typeface="Instrument Sans Medium" pitchFamily="34" charset="-122"/>
                <a:cs typeface="Times New Roman" panose="02020603050405020304" pitchFamily="18" charset="0"/>
              </a:rPr>
              <a:t>PM2.5 sau 3 giờ</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7704177" y="5684877"/>
            <a:ext cx="5911215" cy="317540"/>
          </a:xfrm>
          <a:prstGeom prst="rect">
            <a:avLst/>
          </a:prstGeom>
          <a:noFill/>
          <a:ln/>
        </p:spPr>
        <p:txBody>
          <a:bodyPr wrap="none" lIns="0" tIns="0" rIns="0" bIns="0" rtlCol="0" anchor="t"/>
          <a:lstStyle/>
          <a:p>
            <a:pPr marL="342900" indent="-342900" algn="l">
              <a:lnSpc>
                <a:spcPts val="2500"/>
              </a:lnSpc>
              <a:buSzPct val="100000"/>
              <a:buChar char="•"/>
            </a:pPr>
            <a:r>
              <a:rPr lang="en-US" dirty="0">
                <a:latin typeface="Times New Roman" panose="02020603050405020304" pitchFamily="18" charset="0"/>
                <a:ea typeface="Instrument Sans Medium" pitchFamily="34" charset="-122"/>
                <a:cs typeface="Times New Roman" panose="02020603050405020304" pitchFamily="18" charset="0"/>
              </a:rPr>
              <a:t>PM2.5 sau 6 giờ</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7704177" y="6121479"/>
            <a:ext cx="5911215" cy="33278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Mỗi mô hình được lưu lại dưới dạng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.pkl</a:t>
            </a:r>
            <a:r>
              <a:rPr lang="en-US" dirty="0">
                <a:latin typeface="Times New Roman" panose="02020603050405020304" pitchFamily="18" charset="0"/>
                <a:ea typeface="Instrument Sans Medium" pitchFamily="34" charset="-122"/>
                <a:cs typeface="Times New Roman" panose="02020603050405020304" pitchFamily="18" charset="0"/>
              </a:rPr>
              <a:t> trong thư mục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models/</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5206" y="478036"/>
            <a:ext cx="9472374" cy="543163"/>
          </a:xfrm>
          <a:prstGeom prst="rect">
            <a:avLst/>
          </a:prstGeom>
          <a:noFill/>
          <a:ln/>
        </p:spPr>
        <p:txBody>
          <a:bodyPr wrap="none" lIns="0" tIns="0" rIns="0" bIns="0" rtlCol="0" anchor="t"/>
          <a:lstStyle/>
          <a:p>
            <a:pPr marL="0" indent="0" algn="l">
              <a:lnSpc>
                <a:spcPts val="42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QUY TRÌNH HUẤN LUYỆN MÔ HÌNH LIGHTGBM</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95206" y="1368743"/>
            <a:ext cx="13239988"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Quy trình huấn luyện được thiết kế để xử lý dữ liệu chuỗi thời gian một cách hiệu quả, đảm bảo mô hình học được xu hướng biến động của AQI.</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695206" y="1842373"/>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495" y="2233493"/>
            <a:ext cx="260628" cy="260628"/>
          </a:xfrm>
          <a:prstGeom prst="rect">
            <a:avLst/>
          </a:prstGeom>
        </p:spPr>
      </p:pic>
      <p:sp>
        <p:nvSpPr>
          <p:cNvPr id="6" name="Text 3"/>
          <p:cNvSpPr/>
          <p:nvPr/>
        </p:nvSpPr>
        <p:spPr>
          <a:xfrm>
            <a:off x="1564124" y="2016085"/>
            <a:ext cx="21726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Nạp và Xử lý Dữ liệu</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1564124" y="2391847"/>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Dữ liệu được sắp xếp theo thời gian (timestamp), loại bỏ bản ghi trùng lặp và giá trị thiếu (NaN).</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695206" y="3058954"/>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495" y="3450074"/>
            <a:ext cx="260628" cy="260628"/>
          </a:xfrm>
          <a:prstGeom prst="rect">
            <a:avLst/>
          </a:prstGeom>
        </p:spPr>
      </p:pic>
      <p:sp>
        <p:nvSpPr>
          <p:cNvPr id="10" name="Text 6"/>
          <p:cNvSpPr/>
          <p:nvPr/>
        </p:nvSpPr>
        <p:spPr>
          <a:xfrm>
            <a:off x="1564124" y="3232666"/>
            <a:ext cx="21726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Feature Engineering</a:t>
            </a:r>
            <a:endParaRPr lang="en-US" dirty="0">
              <a:latin typeface="Times New Roman" panose="02020603050405020304" pitchFamily="18" charset="0"/>
              <a:cs typeface="Times New Roman" panose="02020603050405020304" pitchFamily="18" charset="0"/>
            </a:endParaRPr>
          </a:p>
        </p:txBody>
      </p:sp>
      <p:sp>
        <p:nvSpPr>
          <p:cNvPr id="11" name="Text 7"/>
          <p:cNvSpPr/>
          <p:nvPr/>
        </p:nvSpPr>
        <p:spPr>
          <a:xfrm>
            <a:off x="1564124" y="3608427"/>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Tạo độ trễ (lag features) cho các chỉ số ô nhiễm (pm2_5, no2, aqi) và thêm đặc trưng thời gian (giờ, ngày, tháng) để mô hình học chu </a:t>
            </a:r>
            <a:r>
              <a:rPr lang="en-US" dirty="0" err="1">
                <a:latin typeface="Times New Roman" panose="02020603050405020304" pitchFamily="18" charset="0"/>
                <a:ea typeface="Instrument Sans Medium" pitchFamily="34" charset="-122"/>
                <a:cs typeface="Times New Roman" panose="02020603050405020304" pitchFamily="18" charset="0"/>
              </a:rPr>
              <a:t>kỳ</a:t>
            </a:r>
            <a:r>
              <a:rPr lang="en-US" dirty="0">
                <a:latin typeface="Times New Roman" panose="02020603050405020304" pitchFamily="18" charset="0"/>
                <a:ea typeface="Instrument Sans Medium" pitchFamily="34" charset="-122"/>
                <a:cs typeface="Times New Roman" panose="02020603050405020304" pitchFamily="18" charset="0"/>
              </a:rPr>
              <a:t> </a:t>
            </a:r>
          </a:p>
          <a:p>
            <a:pPr marL="0" indent="0" algn="l">
              <a:lnSpc>
                <a:spcPts val="2150"/>
              </a:lnSpc>
              <a:buNone/>
            </a:pPr>
            <a:r>
              <a:rPr lang="en-US" dirty="0" err="1">
                <a:latin typeface="Times New Roman" panose="02020603050405020304" pitchFamily="18" charset="0"/>
                <a:ea typeface="Instrument Sans Medium" pitchFamily="34" charset="-122"/>
                <a:cs typeface="Times New Roman" panose="02020603050405020304" pitchFamily="18" charset="0"/>
              </a:rPr>
              <a:t>ngày</a:t>
            </a:r>
            <a:r>
              <a:rPr lang="en-US" dirty="0">
                <a:latin typeface="Times New Roman" panose="02020603050405020304" pitchFamily="18" charset="0"/>
                <a:ea typeface="Instrument Sans Medium" pitchFamily="34" charset="-122"/>
                <a:cs typeface="Times New Roman" panose="02020603050405020304" pitchFamily="18" charset="0"/>
              </a:rPr>
              <a:t> – </a:t>
            </a:r>
            <a:r>
              <a:rPr lang="en-US" dirty="0" err="1">
                <a:latin typeface="Times New Roman" panose="02020603050405020304" pitchFamily="18" charset="0"/>
                <a:ea typeface="Instrument Sans Medium" pitchFamily="34" charset="-122"/>
                <a:cs typeface="Times New Roman" panose="02020603050405020304" pitchFamily="18" charset="0"/>
              </a:rPr>
              <a:t>đêm</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Shape 8"/>
          <p:cNvSpPr/>
          <p:nvPr/>
        </p:nvSpPr>
        <p:spPr>
          <a:xfrm>
            <a:off x="695206" y="4275534"/>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2495" y="4666655"/>
            <a:ext cx="260628" cy="260628"/>
          </a:xfrm>
          <a:prstGeom prst="rect">
            <a:avLst/>
          </a:prstGeom>
        </p:spPr>
      </p:pic>
      <p:sp>
        <p:nvSpPr>
          <p:cNvPr id="14" name="Text 9"/>
          <p:cNvSpPr/>
          <p:nvPr/>
        </p:nvSpPr>
        <p:spPr>
          <a:xfrm>
            <a:off x="1564124" y="4449247"/>
            <a:ext cx="21726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Tạo Dữ liệu Mục tiêu</a:t>
            </a:r>
            <a:endParaRPr lang="en-US" dirty="0">
              <a:latin typeface="Times New Roman" panose="02020603050405020304" pitchFamily="18" charset="0"/>
              <a:cs typeface="Times New Roman" panose="02020603050405020304" pitchFamily="18" charset="0"/>
            </a:endParaRPr>
          </a:p>
        </p:txBody>
      </p:sp>
      <p:sp>
        <p:nvSpPr>
          <p:cNvPr id="15" name="Text 10"/>
          <p:cNvSpPr/>
          <p:nvPr/>
        </p:nvSpPr>
        <p:spPr>
          <a:xfrm>
            <a:off x="1564124" y="4825008"/>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Tạo cột mục tiêu bằng cách dịch (shift) chỉ số AQI về sau để dự đoán giá trị AQI trong tương lai (1h, 3h, 6h).</a:t>
            </a:r>
            <a:endParaRPr lang="en-US" dirty="0">
              <a:latin typeface="Times New Roman" panose="02020603050405020304" pitchFamily="18" charset="0"/>
              <a:cs typeface="Times New Roman" panose="02020603050405020304" pitchFamily="18" charset="0"/>
            </a:endParaRPr>
          </a:p>
        </p:txBody>
      </p:sp>
      <p:sp>
        <p:nvSpPr>
          <p:cNvPr id="16" name="Shape 11"/>
          <p:cNvSpPr/>
          <p:nvPr/>
        </p:nvSpPr>
        <p:spPr>
          <a:xfrm>
            <a:off x="695206" y="5492115"/>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2495" y="5883235"/>
            <a:ext cx="260628" cy="260628"/>
          </a:xfrm>
          <a:prstGeom prst="rect">
            <a:avLst/>
          </a:prstGeom>
        </p:spPr>
      </p:pic>
      <p:sp>
        <p:nvSpPr>
          <p:cNvPr id="18" name="Text 12"/>
          <p:cNvSpPr/>
          <p:nvPr/>
        </p:nvSpPr>
        <p:spPr>
          <a:xfrm>
            <a:off x="1564124" y="5665827"/>
            <a:ext cx="2302669"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Chia Dữ liệu Train/Test</a:t>
            </a:r>
            <a:endParaRPr lang="en-US" dirty="0">
              <a:latin typeface="Times New Roman" panose="02020603050405020304" pitchFamily="18" charset="0"/>
              <a:cs typeface="Times New Roman" panose="02020603050405020304" pitchFamily="18" charset="0"/>
            </a:endParaRPr>
          </a:p>
        </p:txBody>
      </p:sp>
      <p:sp>
        <p:nvSpPr>
          <p:cNvPr id="19" name="Text 13"/>
          <p:cNvSpPr/>
          <p:nvPr/>
        </p:nvSpPr>
        <p:spPr>
          <a:xfrm>
            <a:off x="1564124" y="6041588"/>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Sử dụng phương pháp chia không xáo trộn ngẫu nhiên (shuffle=False) để giữ nguyên thứ tự thời gian của dữ liệu.</a:t>
            </a:r>
            <a:endParaRPr lang="en-US" dirty="0">
              <a:latin typeface="Times New Roman" panose="02020603050405020304" pitchFamily="18" charset="0"/>
              <a:cs typeface="Times New Roman" panose="02020603050405020304" pitchFamily="18" charset="0"/>
            </a:endParaRPr>
          </a:p>
        </p:txBody>
      </p:sp>
      <p:sp>
        <p:nvSpPr>
          <p:cNvPr id="20" name="Shape 14"/>
          <p:cNvSpPr/>
          <p:nvPr/>
        </p:nvSpPr>
        <p:spPr>
          <a:xfrm>
            <a:off x="695206" y="6708696"/>
            <a:ext cx="695206" cy="1042868"/>
          </a:xfrm>
          <a:prstGeom prst="roundRect">
            <a:avLst>
              <a:gd name="adj" fmla="val 360026"/>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2495" y="7099816"/>
            <a:ext cx="260628" cy="260628"/>
          </a:xfrm>
          <a:prstGeom prst="rect">
            <a:avLst/>
          </a:prstGeom>
        </p:spPr>
      </p:pic>
      <p:sp>
        <p:nvSpPr>
          <p:cNvPr id="22" name="Text 15"/>
          <p:cNvSpPr/>
          <p:nvPr/>
        </p:nvSpPr>
        <p:spPr>
          <a:xfrm>
            <a:off x="1564124" y="6882408"/>
            <a:ext cx="2291953" cy="271582"/>
          </a:xfrm>
          <a:prstGeom prst="rect">
            <a:avLst/>
          </a:prstGeom>
          <a:noFill/>
          <a:ln/>
        </p:spPr>
        <p:txBody>
          <a:bodyPr wrap="none" lIns="0" tIns="0" rIns="0" bIns="0" rtlCol="0" anchor="t"/>
          <a:lstStyle/>
          <a:p>
            <a:pPr marL="0" indent="0" algn="l">
              <a:lnSpc>
                <a:spcPts val="2100"/>
              </a:lnSpc>
              <a:buNone/>
            </a:pPr>
            <a:r>
              <a:rPr lang="en-US" dirty="0">
                <a:latin typeface="Times New Roman" panose="02020603050405020304" pitchFamily="18" charset="0"/>
                <a:ea typeface="Instrument Sans Semi Bold" pitchFamily="34" charset="-122"/>
                <a:cs typeface="Times New Roman" panose="02020603050405020304" pitchFamily="18" charset="0"/>
              </a:rPr>
              <a:t>Huấn luyện &amp; Đánh giá</a:t>
            </a:r>
            <a:endParaRPr lang="en-US" dirty="0">
              <a:latin typeface="Times New Roman" panose="02020603050405020304" pitchFamily="18" charset="0"/>
              <a:cs typeface="Times New Roman" panose="02020603050405020304" pitchFamily="18" charset="0"/>
            </a:endParaRPr>
          </a:p>
        </p:txBody>
      </p:sp>
      <p:sp>
        <p:nvSpPr>
          <p:cNvPr id="23" name="Text 16"/>
          <p:cNvSpPr/>
          <p:nvPr/>
        </p:nvSpPr>
        <p:spPr>
          <a:xfrm>
            <a:off x="1564124" y="7258169"/>
            <a:ext cx="12371070" cy="278130"/>
          </a:xfrm>
          <a:prstGeom prst="rect">
            <a:avLst/>
          </a:prstGeom>
          <a:noFill/>
          <a:ln/>
        </p:spPr>
        <p:txBody>
          <a:bodyPr wrap="none" lIns="0" tIns="0" rIns="0" bIns="0" rtlCol="0" anchor="t"/>
          <a:lstStyle/>
          <a:p>
            <a:pPr marL="0" indent="0" algn="l">
              <a:lnSpc>
                <a:spcPts val="2150"/>
              </a:lnSpc>
              <a:buNone/>
            </a:pPr>
            <a:r>
              <a:rPr lang="en-US" dirty="0">
                <a:latin typeface="Times New Roman" panose="02020603050405020304" pitchFamily="18" charset="0"/>
                <a:ea typeface="Instrument Sans Medium" pitchFamily="34" charset="-122"/>
                <a:cs typeface="Times New Roman" panose="02020603050405020304" pitchFamily="18" charset="0"/>
              </a:rPr>
              <a:t>Huấn luyện LightGBM với early stopping để tránh overfitting. Đánh giá bằng MAE (sai số tuyệt đối trung bình) và R² (mức độ giải </a:t>
            </a:r>
            <a:r>
              <a:rPr lang="en-US" dirty="0" err="1">
                <a:latin typeface="Times New Roman" panose="02020603050405020304" pitchFamily="18" charset="0"/>
                <a:ea typeface="Instrument Sans Medium" pitchFamily="34" charset="-122"/>
                <a:cs typeface="Times New Roman" panose="02020603050405020304" pitchFamily="18" charset="0"/>
              </a:rPr>
              <a:t>thích</a:t>
            </a:r>
            <a:r>
              <a:rPr lang="en-US" dirty="0">
                <a:latin typeface="Times New Roman" panose="02020603050405020304" pitchFamily="18" charset="0"/>
                <a:ea typeface="Instrument Sans Medium" pitchFamily="34" charset="-122"/>
                <a:cs typeface="Times New Roman" panose="02020603050405020304" pitchFamily="18" charset="0"/>
              </a:rPr>
              <a:t> </a:t>
            </a:r>
          </a:p>
          <a:p>
            <a:pPr marL="0" indent="0" algn="l">
              <a:lnSpc>
                <a:spcPts val="2150"/>
              </a:lnSpc>
              <a:buNone/>
            </a:pPr>
            <a:r>
              <a:rPr lang="en-US" dirty="0" err="1">
                <a:latin typeface="Times New Roman" panose="02020603050405020304" pitchFamily="18" charset="0"/>
                <a:ea typeface="Instrument Sans Medium" pitchFamily="34" charset="-122"/>
                <a:cs typeface="Times New Roman" panose="02020603050405020304" pitchFamily="18" charset="0"/>
              </a:rPr>
              <a:t>phương</a:t>
            </a:r>
            <a:r>
              <a:rPr lang="en-US" dirty="0">
                <a:latin typeface="Times New Roman" panose="02020603050405020304" pitchFamily="18" charset="0"/>
                <a:ea typeface="Instrument Sans Medium" pitchFamily="34" charset="-122"/>
                <a:cs typeface="Times New Roman" panose="02020603050405020304" pitchFamily="18" charset="0"/>
              </a:rPr>
              <a:t> sai).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6399" y="518041"/>
            <a:ext cx="10304859" cy="620078"/>
          </a:xfrm>
          <a:prstGeom prst="rect">
            <a:avLst/>
          </a:prstGeom>
          <a:noFill/>
          <a:ln/>
        </p:spPr>
        <p:txBody>
          <a:bodyPr wrap="none" lIns="0" tIns="0" rIns="0" bIns="0" rtlCol="0" anchor="t"/>
          <a:lstStyle/>
          <a:p>
            <a:pPr marL="0" indent="0" algn="l">
              <a:lnSpc>
                <a:spcPts val="4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GIAO DIỆN AIRCARE VÀ CHỨC NĂNG CHÍNH</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94134" y="1323678"/>
            <a:ext cx="13042821" cy="332780"/>
          </a:xfrm>
          <a:prstGeom prst="rect">
            <a:avLst/>
          </a:prstGeom>
          <a:noFill/>
          <a:ln/>
        </p:spPr>
        <p:txBody>
          <a:bodyPr wrap="non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Giao diện người dùng được xây dựng bằng Streamlit (</a:t>
            </a:r>
            <a:r>
              <a:rPr lang="en-US" dirty="0">
                <a:highlight>
                  <a:srgbClr val="F2F2F2"/>
                </a:highlight>
                <a:latin typeface="Times New Roman" panose="02020603050405020304" pitchFamily="18" charset="0"/>
                <a:ea typeface="Consolas" pitchFamily="34" charset="-122"/>
                <a:cs typeface="Times New Roman" panose="02020603050405020304" pitchFamily="18" charset="0"/>
              </a:rPr>
              <a:t>app.py</a:t>
            </a:r>
            <a:r>
              <a:rPr lang="en-US" dirty="0">
                <a:latin typeface="Times New Roman" panose="02020603050405020304" pitchFamily="18" charset="0"/>
                <a:ea typeface="Instrument Sans Medium" pitchFamily="34" charset="-122"/>
                <a:cs typeface="Times New Roman" panose="02020603050405020304" pitchFamily="18" charset="0"/>
              </a:rPr>
              <a:t>), cung cấp trải nghiệm tương tác thân thiện và trực quan.</a:t>
            </a:r>
            <a:endParaRPr lang="en-US" dirty="0">
              <a:latin typeface="Times New Roman" panose="02020603050405020304" pitchFamily="18" charset="0"/>
              <a:cs typeface="Times New Roman" panose="02020603050405020304" pitchFamily="18" charset="0"/>
            </a:endParaRPr>
          </a:p>
        </p:txBody>
      </p:sp>
      <p:sp>
        <p:nvSpPr>
          <p:cNvPr id="5" name="Shape 2"/>
          <p:cNvSpPr/>
          <p:nvPr/>
        </p:nvSpPr>
        <p:spPr>
          <a:xfrm>
            <a:off x="793790" y="5448538"/>
            <a:ext cx="446484" cy="446484"/>
          </a:xfrm>
          <a:prstGeom prst="roundRect">
            <a:avLst>
              <a:gd name="adj" fmla="val 40008"/>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1438632" y="5516761"/>
            <a:ext cx="2480905"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Chatbot </a:t>
            </a:r>
            <a:r>
              <a:rPr lang="en-US" sz="1800" dirty="0">
                <a:latin typeface="Times New Roman" panose="02020603050405020304" pitchFamily="18" charset="0"/>
                <a:ea typeface="Instrument Sans Medium" pitchFamily="34" charset="-122"/>
                <a:cs typeface="Times New Roman" panose="02020603050405020304" pitchFamily="18" charset="0"/>
              </a:rPr>
              <a:t>(AI </a:t>
            </a:r>
            <a:r>
              <a:rPr lang="en-US" sz="1800" dirty="0" err="1">
                <a:latin typeface="Times New Roman" panose="02020603050405020304" pitchFamily="18" charset="0"/>
                <a:ea typeface="Instrument Sans Medium" pitchFamily="34" charset="-122"/>
                <a:cs typeface="Times New Roman" panose="02020603050405020304" pitchFamily="18" charset="0"/>
              </a:rPr>
              <a:t>Ngữ</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nghĩa</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nhận</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lệnh</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tự</a:t>
            </a:r>
            <a:r>
              <a:rPr lang="en-US" sz="1800" dirty="0">
                <a:latin typeface="Times New Roman" panose="02020603050405020304" pitchFamily="18" charset="0"/>
                <a:ea typeface="Instrument Sans Medium" pitchFamily="34" charset="-122"/>
                <a:cs typeface="Times New Roman" panose="02020603050405020304" pitchFamily="18" charset="0"/>
              </a:rPr>
              <a:t> </a:t>
            </a:r>
          </a:p>
          <a:p>
            <a:pPr marL="0" indent="0" algn="l">
              <a:lnSpc>
                <a:spcPts val="2400"/>
              </a:lnSpc>
              <a:buNone/>
            </a:pPr>
            <a:r>
              <a:rPr lang="en-US" sz="1800" dirty="0" err="1">
                <a:latin typeface="Times New Roman" panose="02020603050405020304" pitchFamily="18" charset="0"/>
                <a:ea typeface="Instrument Sans Medium" pitchFamily="34" charset="-122"/>
                <a:cs typeface="Times New Roman" panose="02020603050405020304" pitchFamily="18" charset="0"/>
              </a:rPr>
              <a:t>nhiên</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1438632" y="6270840"/>
            <a:ext cx="3537347"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Nhận lệnh ngữ nghĩa như “Dự đoán AQI” hoặc “Tôi nên ra ngoài </a:t>
            </a:r>
            <a:r>
              <a:rPr lang="en-US" dirty="0" err="1">
                <a:latin typeface="Times New Roman" panose="02020603050405020304" pitchFamily="18" charset="0"/>
                <a:ea typeface="Instrument Sans Medium" pitchFamily="34" charset="-122"/>
                <a:cs typeface="Times New Roman" panose="02020603050405020304" pitchFamily="18" charset="0"/>
              </a:rPr>
              <a:t>không</a:t>
            </a:r>
            <a:r>
              <a:rPr lang="en-US" dirty="0">
                <a:latin typeface="Times New Roman" panose="02020603050405020304" pitchFamily="18" charset="0"/>
                <a:ea typeface="Instrument Sans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5223986" y="5448538"/>
            <a:ext cx="446484" cy="446484"/>
          </a:xfrm>
          <a:prstGeom prst="roundRect">
            <a:avLst>
              <a:gd name="adj" fmla="val 40008"/>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6"/>
          <p:cNvSpPr/>
          <p:nvPr/>
        </p:nvSpPr>
        <p:spPr>
          <a:xfrm>
            <a:off x="5868829" y="5516761"/>
            <a:ext cx="2693432" cy="310158"/>
          </a:xfrm>
          <a:prstGeom prst="rect">
            <a:avLst/>
          </a:prstGeom>
          <a:noFill/>
          <a:ln/>
        </p:spPr>
        <p:txBody>
          <a:bodyPr wrap="none" lIns="0" tIns="0" rIns="0" bIns="0" rtlCol="0" anchor="t"/>
          <a:lstStyle/>
          <a:p>
            <a:pPr algn="l">
              <a:lnSpc>
                <a:spcPts val="2850"/>
              </a:lnSpc>
              <a:buSzPct val="100000"/>
            </a:pPr>
            <a:r>
              <a:rPr lang="en-US" sz="1800" dirty="0">
                <a:latin typeface="Times New Roman" panose="02020603050405020304" pitchFamily="18" charset="0"/>
                <a:ea typeface="Instrument Sans Medium" pitchFamily="34" charset="-122"/>
                <a:cs typeface="Times New Roman" panose="02020603050405020304" pitchFamily="18" charset="0"/>
              </a:rPr>
              <a:t>Quy </a:t>
            </a:r>
            <a:r>
              <a:rPr lang="en-US" sz="1800" dirty="0" err="1">
                <a:latin typeface="Times New Roman" panose="02020603050405020304" pitchFamily="18" charset="0"/>
                <a:ea typeface="Instrument Sans Medium" pitchFamily="34" charset="-122"/>
                <a:cs typeface="Times New Roman" panose="02020603050405020304" pitchFamily="18" charset="0"/>
              </a:rPr>
              <a:t>đổi</a:t>
            </a:r>
            <a:r>
              <a:rPr lang="en-US" sz="1800" dirty="0">
                <a:latin typeface="Times New Roman" panose="02020603050405020304" pitchFamily="18" charset="0"/>
                <a:ea typeface="Instrument Sans Medium" pitchFamily="34" charset="-122"/>
                <a:cs typeface="Times New Roman" panose="02020603050405020304" pitchFamily="18" charset="0"/>
              </a:rPr>
              <a:t> PM2.5 sang AQI </a:t>
            </a:r>
            <a:r>
              <a:rPr lang="en-US" sz="1800" dirty="0" err="1">
                <a:latin typeface="Times New Roman" panose="02020603050405020304" pitchFamily="18" charset="0"/>
                <a:ea typeface="Instrument Sans Medium" pitchFamily="34" charset="-122"/>
                <a:cs typeface="Times New Roman" panose="02020603050405020304" pitchFamily="18" charset="0"/>
              </a:rPr>
              <a:t>theo</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chuẩn</a:t>
            </a:r>
            <a:r>
              <a:rPr lang="en-US" sz="1800" dirty="0">
                <a:latin typeface="Times New Roman" panose="02020603050405020304" pitchFamily="18" charset="0"/>
                <a:ea typeface="Instrument Sans Medium" pitchFamily="34" charset="-122"/>
                <a:cs typeface="Times New Roman" panose="02020603050405020304" pitchFamily="18" charset="0"/>
              </a:rPr>
              <a:t> </a:t>
            </a:r>
          </a:p>
          <a:p>
            <a:pPr algn="l">
              <a:lnSpc>
                <a:spcPts val="2850"/>
              </a:lnSpc>
              <a:buSzPct val="100000"/>
            </a:pPr>
            <a:r>
              <a:rPr lang="en-US" sz="1800" dirty="0">
                <a:latin typeface="Times New Roman" panose="02020603050405020304" pitchFamily="18" charset="0"/>
                <a:ea typeface="Instrument Sans Medium" pitchFamily="34" charset="-122"/>
                <a:cs typeface="Times New Roman" panose="02020603050405020304" pitchFamily="18" charset="0"/>
              </a:rPr>
              <a:t>US EPA.</a:t>
            </a:r>
            <a:endParaRPr lang="en-US" sz="1800" dirty="0">
              <a:latin typeface="Times New Roman" panose="02020603050405020304" pitchFamily="18" charset="0"/>
              <a:cs typeface="Times New Roman" panose="02020603050405020304" pitchFamily="18" charset="0"/>
            </a:endParaRPr>
          </a:p>
        </p:txBody>
      </p:sp>
      <p:sp>
        <p:nvSpPr>
          <p:cNvPr id="10" name="Text 7"/>
          <p:cNvSpPr/>
          <p:nvPr/>
        </p:nvSpPr>
        <p:spPr>
          <a:xfrm>
            <a:off x="5868829" y="6270842"/>
            <a:ext cx="3537466"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Hiển thị biểu đồ dự báo AQI minh họa biến động </a:t>
            </a:r>
            <a:r>
              <a:rPr lang="en-US" dirty="0" err="1">
                <a:latin typeface="Times New Roman" panose="02020603050405020304" pitchFamily="18" charset="0"/>
                <a:ea typeface="Instrument Sans Medium" pitchFamily="34" charset="-122"/>
                <a:cs typeface="Times New Roman" panose="02020603050405020304" pitchFamily="18" charset="0"/>
              </a:rPr>
              <a:t>trong</a:t>
            </a:r>
            <a:r>
              <a:rPr lang="en-US" dirty="0">
                <a:latin typeface="Times New Roman" panose="02020603050405020304" pitchFamily="18" charset="0"/>
                <a:ea typeface="Instrument Sans Medium" pitchFamily="34" charset="-122"/>
                <a:cs typeface="Times New Roman" panose="02020603050405020304" pitchFamily="18" charset="0"/>
              </a:rPr>
              <a:t> 1,3,6 giờ tới, giúp người dùng dễ dàng nắm bắt xu hướng ô nhiễm.</a:t>
            </a:r>
            <a:endParaRPr lang="en-US" dirty="0">
              <a:latin typeface="Times New Roman" panose="02020603050405020304" pitchFamily="18" charset="0"/>
              <a:cs typeface="Times New Roman" panose="02020603050405020304" pitchFamily="18" charset="0"/>
            </a:endParaRPr>
          </a:p>
        </p:txBody>
      </p:sp>
      <p:sp>
        <p:nvSpPr>
          <p:cNvPr id="11" name="Shape 8"/>
          <p:cNvSpPr/>
          <p:nvPr/>
        </p:nvSpPr>
        <p:spPr>
          <a:xfrm>
            <a:off x="9654302" y="5448538"/>
            <a:ext cx="446484" cy="446484"/>
          </a:xfrm>
          <a:prstGeom prst="roundRect">
            <a:avLst>
              <a:gd name="adj" fmla="val 40008"/>
            </a:avLst>
          </a:prstGeom>
          <a:solidFill>
            <a:srgbClr val="CEE6F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9"/>
          <p:cNvSpPr/>
          <p:nvPr/>
        </p:nvSpPr>
        <p:spPr>
          <a:xfrm>
            <a:off x="10299144" y="5516761"/>
            <a:ext cx="2604254" cy="310158"/>
          </a:xfrm>
          <a:prstGeom prst="rect">
            <a:avLst/>
          </a:prstGeom>
          <a:noFill/>
          <a:ln/>
        </p:spPr>
        <p:txBody>
          <a:bodyPr wrap="none" lIns="0" tIns="0" rIns="0" bIns="0" rtlCol="0" anchor="t"/>
          <a:lstStyle/>
          <a:p>
            <a:pPr marL="0" indent="0" algn="l">
              <a:lnSpc>
                <a:spcPts val="2400"/>
              </a:lnSpc>
              <a:buNone/>
            </a:pPr>
            <a:r>
              <a:rPr lang="en-US" dirty="0">
                <a:latin typeface="Times New Roman" panose="02020603050405020304" pitchFamily="18" charset="0"/>
                <a:ea typeface="Instrument Sans Semi Bold" pitchFamily="34" charset="-122"/>
                <a:cs typeface="Times New Roman" panose="02020603050405020304" pitchFamily="18" charset="0"/>
              </a:rPr>
              <a:t>Cảnh báo Cá nhân hóa</a:t>
            </a:r>
            <a:endParaRPr lang="en-US" dirty="0">
              <a:latin typeface="Times New Roman" panose="02020603050405020304" pitchFamily="18" charset="0"/>
              <a:cs typeface="Times New Roman" panose="02020603050405020304" pitchFamily="18" charset="0"/>
            </a:endParaRPr>
          </a:p>
        </p:txBody>
      </p:sp>
      <p:sp>
        <p:nvSpPr>
          <p:cNvPr id="13" name="Text 10"/>
          <p:cNvSpPr/>
          <p:nvPr/>
        </p:nvSpPr>
        <p:spPr>
          <a:xfrm>
            <a:off x="10199489" y="6270841"/>
            <a:ext cx="3537466" cy="127015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Instrument Sans Medium" pitchFamily="34" charset="-122"/>
                <a:cs typeface="Times New Roman" panose="02020603050405020304" pitchFamily="18" charset="0"/>
              </a:rPr>
              <a:t>Cung cấp cảnh báo sức khỏe tùy theo mức AQI dự đoán và thông tin bệnh lý (ví dụ: hen suyễn) mà người dùng nhập vào.</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59EB2D-1827-9CD5-FEA9-CC8F2BDE7D23}"/>
              </a:ext>
            </a:extLst>
          </p:cNvPr>
          <p:cNvPicPr>
            <a:picLocks noChangeAspect="1"/>
          </p:cNvPicPr>
          <p:nvPr/>
        </p:nvPicPr>
        <p:blipFill>
          <a:blip r:embed="rId3"/>
          <a:stretch>
            <a:fillRect/>
          </a:stretch>
        </p:blipFill>
        <p:spPr>
          <a:xfrm>
            <a:off x="2897029" y="1785253"/>
            <a:ext cx="8347914" cy="36040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27817" y="434102"/>
            <a:ext cx="8581549" cy="490538"/>
          </a:xfrm>
          <a:prstGeom prst="rect">
            <a:avLst/>
          </a:prstGeom>
          <a:noFill/>
          <a:ln/>
        </p:spPr>
        <p:txBody>
          <a:bodyPr wrap="none" lIns="0" tIns="0" rIns="0" bIns="0" rtlCol="0" anchor="t"/>
          <a:lstStyle/>
          <a:p>
            <a:pPr marL="0" indent="0" algn="l">
              <a:lnSpc>
                <a:spcPts val="3850"/>
              </a:lnSpc>
              <a:buNone/>
            </a:pPr>
            <a:r>
              <a:rPr lang="en-US" sz="3600" dirty="0">
                <a:latin typeface="Times New Roman" panose="02020603050405020304" pitchFamily="18" charset="0"/>
                <a:ea typeface="Instrument Sans Semi Bold" pitchFamily="34" charset="-122"/>
                <a:cs typeface="Times New Roman" panose="02020603050405020304" pitchFamily="18" charset="0"/>
              </a:rPr>
              <a:t>HƯỚNG PHÁT TRIỂN VÀ MỤC TIÊU TƯƠNG LAI</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627817" y="1238488"/>
            <a:ext cx="13374767" cy="250984"/>
          </a:xfrm>
          <a:prstGeom prst="rect">
            <a:avLst/>
          </a:prstGeom>
          <a:noFill/>
          <a:ln/>
        </p:spPr>
        <p:txBody>
          <a:bodyPr wrap="non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Dự án AIRCARE có tiềm năng mở rộng lớn, hướng tới việc tích hợp sâu hơn vào hệ sinh thái Smart City và công nghệ AI tiên tiến.</a:t>
            </a:r>
            <a:endParaRPr lang="en-US"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1847374"/>
            <a:ext cx="235387" cy="235387"/>
          </a:xfrm>
          <a:prstGeom prst="rect">
            <a:avLst/>
          </a:prstGeom>
        </p:spPr>
      </p:pic>
      <p:sp>
        <p:nvSpPr>
          <p:cNvPr id="5" name="Text 2"/>
          <p:cNvSpPr/>
          <p:nvPr/>
        </p:nvSpPr>
        <p:spPr>
          <a:xfrm>
            <a:off x="1137880" y="1842611"/>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Mở rộng Phạm vi</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1137880" y="2244804"/>
            <a:ext cx="10651349"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Mở rộng dự đoán AQI sang nhiều thành phố lớn khác (TP. Hồ Chí Minh, Đà Nẵng, Hải Phòng).</a:t>
            </a:r>
            <a:endParaRPr lang="en-US"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3065383"/>
            <a:ext cx="235387" cy="235387"/>
          </a:xfrm>
          <a:prstGeom prst="rect">
            <a:avLst/>
          </a:prstGeom>
        </p:spPr>
      </p:pic>
      <p:sp>
        <p:nvSpPr>
          <p:cNvPr id="8" name="Text 4"/>
          <p:cNvSpPr/>
          <p:nvPr/>
        </p:nvSpPr>
        <p:spPr>
          <a:xfrm>
            <a:off x="1137880" y="3060621"/>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Tích hợp IoT</a:t>
            </a:r>
            <a:endParaRPr lang="en-US" dirty="0">
              <a:latin typeface="Times New Roman" panose="02020603050405020304" pitchFamily="18" charset="0"/>
              <a:cs typeface="Times New Roman" panose="02020603050405020304" pitchFamily="18" charset="0"/>
            </a:endParaRPr>
          </a:p>
        </p:txBody>
      </p:sp>
      <p:sp>
        <p:nvSpPr>
          <p:cNvPr id="9" name="Text 5"/>
          <p:cNvSpPr/>
          <p:nvPr/>
        </p:nvSpPr>
        <p:spPr>
          <a:xfrm>
            <a:off x="1137880" y="3462814"/>
            <a:ext cx="11348034"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Kết nối với các cảm biến IoT để đo bụi thực tế, tăng độ chính xác của dữ liệu đầu vào.</a:t>
            </a:r>
            <a:endParaRPr lang="en-US"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4283393"/>
            <a:ext cx="235387" cy="235387"/>
          </a:xfrm>
          <a:prstGeom prst="rect">
            <a:avLst/>
          </a:prstGeom>
        </p:spPr>
      </p:pic>
      <p:sp>
        <p:nvSpPr>
          <p:cNvPr id="11" name="Text 6"/>
          <p:cNvSpPr/>
          <p:nvPr/>
        </p:nvSpPr>
        <p:spPr>
          <a:xfrm>
            <a:off x="1137880" y="4278630"/>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Triển khai Đám mây</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1137880" y="4680823"/>
            <a:ext cx="12044720"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Triển khai trên các nền tảng đám mây như AWS SageMaker hoặc Streamlit Cloud để tăng khả năng truy cập và mở rộng.</a:t>
            </a:r>
            <a:endParaRPr lang="en-US"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5501402"/>
            <a:ext cx="235387" cy="235387"/>
          </a:xfrm>
          <a:prstGeom prst="rect">
            <a:avLst/>
          </a:prstGeom>
        </p:spPr>
      </p:pic>
      <p:sp>
        <p:nvSpPr>
          <p:cNvPr id="14" name="Text 8"/>
          <p:cNvSpPr/>
          <p:nvPr/>
        </p:nvSpPr>
        <p:spPr>
          <a:xfrm>
            <a:off x="1137880" y="5496639"/>
            <a:ext cx="1962031"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Nâng cấp Chatbot</a:t>
            </a:r>
            <a:endParaRPr lang="en-US" dirty="0">
              <a:latin typeface="Times New Roman" panose="02020603050405020304" pitchFamily="18" charset="0"/>
              <a:cs typeface="Times New Roman" panose="02020603050405020304" pitchFamily="18" charset="0"/>
            </a:endParaRPr>
          </a:p>
        </p:txBody>
      </p:sp>
      <p:sp>
        <p:nvSpPr>
          <p:cNvPr id="15" name="Text 9"/>
          <p:cNvSpPr/>
          <p:nvPr/>
        </p:nvSpPr>
        <p:spPr>
          <a:xfrm>
            <a:off x="1137880" y="5898833"/>
            <a:ext cx="12545463"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Kết nối với các LLM lớn hơn (GPT, Claude) để tạo ra chatbot thông minh và có khả năng tương tác ngôn ngữ tự nhiên phức tạp hơn.</a:t>
            </a:r>
            <a:endParaRPr lang="en-US" dirty="0">
              <a:latin typeface="Times New Roman" panose="02020603050405020304" pitchFamily="18" charset="0"/>
              <a:cs typeface="Times New Roman" panose="02020603050405020304" pitchFamily="18" charset="0"/>
            </a:endParaRPr>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633" y="6719411"/>
            <a:ext cx="235387" cy="235387"/>
          </a:xfrm>
          <a:prstGeom prst="rect">
            <a:avLst/>
          </a:prstGeom>
        </p:spPr>
      </p:pic>
      <p:sp>
        <p:nvSpPr>
          <p:cNvPr id="17" name="Text 10"/>
          <p:cNvSpPr/>
          <p:nvPr/>
        </p:nvSpPr>
        <p:spPr>
          <a:xfrm>
            <a:off x="1137880" y="6714649"/>
            <a:ext cx="2613422" cy="245269"/>
          </a:xfrm>
          <a:prstGeom prst="rect">
            <a:avLst/>
          </a:prstGeom>
          <a:noFill/>
          <a:ln/>
        </p:spPr>
        <p:txBody>
          <a:bodyPr wrap="none" lIns="0" tIns="0" rIns="0" bIns="0" rtlCol="0" anchor="t"/>
          <a:lstStyle/>
          <a:p>
            <a:pPr marL="0" indent="0" algn="l">
              <a:lnSpc>
                <a:spcPts val="1900"/>
              </a:lnSpc>
              <a:buNone/>
            </a:pPr>
            <a:r>
              <a:rPr lang="en-US" dirty="0">
                <a:latin typeface="Times New Roman" panose="02020603050405020304" pitchFamily="18" charset="0"/>
                <a:ea typeface="Instrument Sans Semi Bold" pitchFamily="34" charset="-122"/>
                <a:cs typeface="Times New Roman" panose="02020603050405020304" pitchFamily="18" charset="0"/>
              </a:rPr>
              <a:t>Phát triển Ứng dụng Di động</a:t>
            </a:r>
            <a:endParaRPr lang="en-US" dirty="0">
              <a:latin typeface="Times New Roman" panose="02020603050405020304" pitchFamily="18" charset="0"/>
              <a:cs typeface="Times New Roman" panose="02020603050405020304" pitchFamily="18" charset="0"/>
            </a:endParaRPr>
          </a:p>
        </p:txBody>
      </p:sp>
      <p:sp>
        <p:nvSpPr>
          <p:cNvPr id="18" name="Text 11"/>
          <p:cNvSpPr/>
          <p:nvPr/>
        </p:nvSpPr>
        <p:spPr>
          <a:xfrm>
            <a:off x="1137880" y="7116842"/>
            <a:ext cx="12229777" cy="501968"/>
          </a:xfrm>
          <a:prstGeom prst="rect">
            <a:avLst/>
          </a:prstGeom>
          <a:noFill/>
          <a:ln/>
        </p:spPr>
        <p:txBody>
          <a:bodyPr wrap="square" lIns="0" tIns="0" rIns="0" bIns="0" rtlCol="0" anchor="t"/>
          <a:lstStyle/>
          <a:p>
            <a:pPr marL="0" indent="0" algn="l">
              <a:lnSpc>
                <a:spcPts val="1950"/>
              </a:lnSpc>
              <a:buNone/>
            </a:pPr>
            <a:r>
              <a:rPr lang="en-US" dirty="0">
                <a:latin typeface="Times New Roman" panose="02020603050405020304" pitchFamily="18" charset="0"/>
                <a:ea typeface="Instrument Sans Medium" pitchFamily="34" charset="-122"/>
                <a:cs typeface="Times New Roman" panose="02020603050405020304" pitchFamily="18" charset="0"/>
              </a:rPr>
              <a:t>Phát triển ứng dụng di động (sử dụng Flutter) để người dùng có thể theo dõi AQI và nhận cảnh báo mọi lúc, mọi nơi.</a:t>
            </a:r>
            <a:endParaRPr lang="en-US" dirty="0">
              <a:latin typeface="Times New Roman" panose="02020603050405020304" pitchFamily="18" charset="0"/>
              <a:cs typeface="Times New Roman" panose="02020603050405020304" pitchFamily="18" charset="0"/>
            </a:endParaRPr>
          </a:p>
        </p:txBody>
      </p:sp>
      <p:sp>
        <p:nvSpPr>
          <p:cNvPr id="19" name="Text 12"/>
          <p:cNvSpPr/>
          <p:nvPr/>
        </p:nvSpPr>
        <p:spPr>
          <a:xfrm>
            <a:off x="7514273" y="1807250"/>
            <a:ext cx="6495931" cy="250984"/>
          </a:xfrm>
          <a:prstGeom prst="rect">
            <a:avLst/>
          </a:prstGeom>
          <a:noFill/>
          <a:ln/>
        </p:spPr>
        <p:txBody>
          <a:bodyPr wrap="none" lIns="0" tIns="0" rIns="0" bIns="0" rtlCol="0" anchor="t"/>
          <a:lstStyle/>
          <a:p>
            <a:pPr marL="0" indent="0" algn="l">
              <a:lnSpc>
                <a:spcPts val="1950"/>
              </a:lnSpc>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36917" y="-82296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sp>
        <p:nvSpPr>
          <p:cNvPr id="3" name="Freeform 3"/>
          <p:cNvSpPr/>
          <p:nvPr/>
        </p:nvSpPr>
        <p:spPr>
          <a:xfrm rot="5400000" flipH="1">
            <a:off x="-436917" y="576072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sp>
        <p:nvSpPr>
          <p:cNvPr id="4" name="Freeform 4"/>
          <p:cNvSpPr/>
          <p:nvPr/>
        </p:nvSpPr>
        <p:spPr>
          <a:xfrm rot="-5400000">
            <a:off x="12547563" y="5760720"/>
            <a:ext cx="2519754" cy="3291840"/>
          </a:xfrm>
          <a:custGeom>
            <a:avLst/>
            <a:gdLst/>
            <a:ahLst/>
            <a:cxnLst/>
            <a:rect l="l" t="t" r="r" b="b"/>
            <a:pathLst>
              <a:path w="3149692" h="4114800">
                <a:moveTo>
                  <a:pt x="0" y="0"/>
                </a:moveTo>
                <a:lnTo>
                  <a:pt x="3149692" y="0"/>
                </a:lnTo>
                <a:lnTo>
                  <a:pt x="31496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sp>
        <p:nvSpPr>
          <p:cNvPr id="5" name="Freeform 5"/>
          <p:cNvSpPr/>
          <p:nvPr/>
        </p:nvSpPr>
        <p:spPr>
          <a:xfrm rot="-5400000" flipH="1">
            <a:off x="12547563" y="-822960"/>
            <a:ext cx="2519754" cy="3291840"/>
          </a:xfrm>
          <a:custGeom>
            <a:avLst/>
            <a:gdLst/>
            <a:ahLst/>
            <a:cxnLst/>
            <a:rect l="l" t="t" r="r" b="b"/>
            <a:pathLst>
              <a:path w="3149692" h="4114800">
                <a:moveTo>
                  <a:pt x="3149692" y="0"/>
                </a:moveTo>
                <a:lnTo>
                  <a:pt x="0" y="0"/>
                </a:lnTo>
                <a:lnTo>
                  <a:pt x="0" y="4114800"/>
                </a:lnTo>
                <a:lnTo>
                  <a:pt x="3149692" y="4114800"/>
                </a:lnTo>
                <a:lnTo>
                  <a:pt x="314969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440"/>
          </a:p>
        </p:txBody>
      </p:sp>
      <p:grpSp>
        <p:nvGrpSpPr>
          <p:cNvPr id="6" name="Group 6"/>
          <p:cNvGrpSpPr/>
          <p:nvPr/>
        </p:nvGrpSpPr>
        <p:grpSpPr>
          <a:xfrm>
            <a:off x="-1958340" y="7368540"/>
            <a:ext cx="18547080" cy="1043940"/>
            <a:chOff x="0" y="0"/>
            <a:chExt cx="6106035" cy="343684"/>
          </a:xfrm>
        </p:grpSpPr>
        <p:sp>
          <p:nvSpPr>
            <p:cNvPr id="7" name="Freeform 7"/>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p>
          </p:txBody>
        </p:sp>
        <p:sp>
          <p:nvSpPr>
            <p:cNvPr id="8" name="TextBox 8"/>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p>
          </p:txBody>
        </p:sp>
      </p:grpSp>
      <p:grpSp>
        <p:nvGrpSpPr>
          <p:cNvPr id="9" name="Group 9"/>
          <p:cNvGrpSpPr/>
          <p:nvPr/>
        </p:nvGrpSpPr>
        <p:grpSpPr>
          <a:xfrm>
            <a:off x="-1958340" y="-175260"/>
            <a:ext cx="18547080" cy="1043940"/>
            <a:chOff x="0" y="0"/>
            <a:chExt cx="6106035" cy="343684"/>
          </a:xfrm>
        </p:grpSpPr>
        <p:sp>
          <p:nvSpPr>
            <p:cNvPr id="10" name="Freeform 10"/>
            <p:cNvSpPr/>
            <p:nvPr/>
          </p:nvSpPr>
          <p:spPr>
            <a:xfrm>
              <a:off x="0" y="0"/>
              <a:ext cx="6106035" cy="343684"/>
            </a:xfrm>
            <a:custGeom>
              <a:avLst/>
              <a:gdLst/>
              <a:ahLst/>
              <a:cxnLst/>
              <a:rect l="l" t="t" r="r" b="b"/>
              <a:pathLst>
                <a:path w="6106035" h="343684">
                  <a:moveTo>
                    <a:pt x="0" y="0"/>
                  </a:moveTo>
                  <a:lnTo>
                    <a:pt x="6106035" y="0"/>
                  </a:lnTo>
                  <a:lnTo>
                    <a:pt x="6106035" y="343684"/>
                  </a:lnTo>
                  <a:lnTo>
                    <a:pt x="0" y="343684"/>
                  </a:lnTo>
                  <a:close/>
                </a:path>
              </a:pathLst>
            </a:custGeom>
            <a:solidFill>
              <a:srgbClr val="85AB86"/>
            </a:solidFill>
          </p:spPr>
          <p:txBody>
            <a:bodyPr/>
            <a:lstStyle/>
            <a:p>
              <a:endParaRPr lang="en-US" sz="1440"/>
            </a:p>
          </p:txBody>
        </p:sp>
        <p:sp>
          <p:nvSpPr>
            <p:cNvPr id="11" name="TextBox 11"/>
            <p:cNvSpPr txBox="1"/>
            <p:nvPr/>
          </p:nvSpPr>
          <p:spPr>
            <a:xfrm>
              <a:off x="0" y="-38100"/>
              <a:ext cx="6106035" cy="381784"/>
            </a:xfrm>
            <a:prstGeom prst="rect">
              <a:avLst/>
            </a:prstGeom>
          </p:spPr>
          <p:txBody>
            <a:bodyPr lIns="40640" tIns="40640" rIns="40640" bIns="40640" rtlCol="0" anchor="ctr"/>
            <a:lstStyle/>
            <a:p>
              <a:pPr algn="ctr">
                <a:lnSpc>
                  <a:spcPts val="2127"/>
                </a:lnSpc>
                <a:spcBef>
                  <a:spcPct val="0"/>
                </a:spcBef>
              </a:pPr>
              <a:endParaRPr sz="1440"/>
            </a:p>
          </p:txBody>
        </p:sp>
      </p:grpSp>
      <p:sp>
        <p:nvSpPr>
          <p:cNvPr id="12" name="TextBox 12"/>
          <p:cNvSpPr txBox="1"/>
          <p:nvPr/>
        </p:nvSpPr>
        <p:spPr>
          <a:xfrm>
            <a:off x="2360385" y="3187819"/>
            <a:ext cx="9909630" cy="1556965"/>
          </a:xfrm>
          <a:prstGeom prst="rect">
            <a:avLst/>
          </a:prstGeom>
        </p:spPr>
        <p:txBody>
          <a:bodyPr lIns="0" tIns="0" rIns="0" bIns="0" rtlCol="0" anchor="t">
            <a:spAutoFit/>
          </a:bodyPr>
          <a:lstStyle/>
          <a:p>
            <a:pPr algn="ctr">
              <a:lnSpc>
                <a:spcPts val="13313"/>
              </a:lnSpc>
            </a:pPr>
            <a:r>
              <a:rPr lang="en-US" sz="9509" dirty="0">
                <a:solidFill>
                  <a:srgbClr val="044D3A"/>
                </a:solidFill>
                <a:latin typeface="CAT Neuzeit"/>
                <a:ea typeface="CAT Neuzeit"/>
                <a:cs typeface="CAT Neuzeit"/>
                <a:sym typeface="CAT Neuzeit"/>
              </a:rPr>
              <a:t>THANK YOU!</a:t>
            </a:r>
          </a:p>
        </p:txBody>
      </p:sp>
    </p:spTree>
    <p:extLst>
      <p:ext uri="{BB962C8B-B14F-4D97-AF65-F5344CB8AC3E}">
        <p14:creationId xmlns:p14="http://schemas.microsoft.com/office/powerpoint/2010/main" val="465424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1910</Words>
  <Application>Microsoft Office PowerPoint</Application>
  <PresentationFormat>Custom</PresentationFormat>
  <Paragraphs>170</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CAT Neuzeit</vt:lpstr>
      <vt:lpstr>Aptos Display</vt:lpstr>
      <vt:lpstr>Arial</vt:lpstr>
      <vt:lpstr>Aptos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 Thi Kieu Trang</cp:lastModifiedBy>
  <cp:revision>2</cp:revision>
  <dcterms:created xsi:type="dcterms:W3CDTF">2025-10-26T14:38:46Z</dcterms:created>
  <dcterms:modified xsi:type="dcterms:W3CDTF">2025-11-13T14:47:25Z</dcterms:modified>
</cp:coreProperties>
</file>