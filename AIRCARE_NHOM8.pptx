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9" r:id="rId2"/>
    <p:sldId id="271" r:id="rId3"/>
    <p:sldId id="256" r:id="rId4"/>
    <p:sldId id="257" r:id="rId5"/>
    <p:sldId id="258" r:id="rId6"/>
    <p:sldId id="259" r:id="rId7"/>
    <p:sldId id="260" r:id="rId8"/>
    <p:sldId id="261" r:id="rId9"/>
    <p:sldId id="262" r:id="rId10"/>
    <p:sldId id="263" r:id="rId11"/>
    <p:sldId id="264" r:id="rId12"/>
    <p:sldId id="265" r:id="rId13"/>
    <p:sldId id="270" r:id="rId14"/>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eu Trang" userId="5328ddf0-b8c7-4bba-ad6b-017a18ae336b" providerId="ADAL" clId="{F5B250B3-F060-44ED-BE02-BCE998F1E2D6}"/>
    <pc:docChg chg="undo custSel modSld">
      <pc:chgData name="Le Thi Kieu Trang" userId="5328ddf0-b8c7-4bba-ad6b-017a18ae336b" providerId="ADAL" clId="{F5B250B3-F060-44ED-BE02-BCE998F1E2D6}" dt="2025-10-27T02:57:31.746" v="30" actId="122"/>
      <pc:docMkLst>
        <pc:docMk/>
      </pc:docMkLst>
      <pc:sldChg chg="modSp mod">
        <pc:chgData name="Le Thi Kieu Trang" userId="5328ddf0-b8c7-4bba-ad6b-017a18ae336b" providerId="ADAL" clId="{F5B250B3-F060-44ED-BE02-BCE998F1E2D6}" dt="2025-10-27T02:57:31.746" v="30" actId="122"/>
        <pc:sldMkLst>
          <pc:docMk/>
          <pc:sldMk cId="0" sldId="256"/>
        </pc:sldMkLst>
        <pc:spChg chg="mod">
          <ac:chgData name="Le Thi Kieu Trang" userId="5328ddf0-b8c7-4bba-ad6b-017a18ae336b" providerId="ADAL" clId="{F5B250B3-F060-44ED-BE02-BCE998F1E2D6}" dt="2025-10-27T02:57:31.746" v="30" actId="122"/>
          <ac:spMkLst>
            <pc:docMk/>
            <pc:sldMk cId="0" sldId="256"/>
            <ac:spMk id="2" creationId="{00000000-0000-0000-0000-000000000000}"/>
          </ac:spMkLst>
        </pc:spChg>
      </pc:sldChg>
      <pc:sldChg chg="modSp mod">
        <pc:chgData name="Le Thi Kieu Trang" userId="5328ddf0-b8c7-4bba-ad6b-017a18ae336b" providerId="ADAL" clId="{F5B250B3-F060-44ED-BE02-BCE998F1E2D6}" dt="2025-10-26T15:58:00.615" v="29" actId="1076"/>
        <pc:sldMkLst>
          <pc:docMk/>
          <pc:sldMk cId="0" sldId="259"/>
        </pc:sldMkLst>
        <pc:spChg chg="mod">
          <ac:chgData name="Le Thi Kieu Trang" userId="5328ddf0-b8c7-4bba-ad6b-017a18ae336b" providerId="ADAL" clId="{F5B250B3-F060-44ED-BE02-BCE998F1E2D6}" dt="2025-10-26T15:57:54.157" v="28" actId="207"/>
          <ac:spMkLst>
            <pc:docMk/>
            <pc:sldMk cId="0" sldId="259"/>
            <ac:spMk id="2" creationId="{00000000-0000-0000-0000-000000000000}"/>
          </ac:spMkLst>
        </pc:spChg>
        <pc:spChg chg="mod">
          <ac:chgData name="Le Thi Kieu Trang" userId="5328ddf0-b8c7-4bba-ad6b-017a18ae336b" providerId="ADAL" clId="{F5B250B3-F060-44ED-BE02-BCE998F1E2D6}" dt="2025-10-26T15:58:00.615" v="29" actId="1076"/>
          <ac:spMkLst>
            <pc:docMk/>
            <pc:sldMk cId="0" sldId="259"/>
            <ac:spMk id="3"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5"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6"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7"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8"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9"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1"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2"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4"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5"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7"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8" creationId="{00000000-0000-0000-0000-000000000000}"/>
          </ac:spMkLst>
        </pc:spChg>
        <pc:picChg chg="mod">
          <ac:chgData name="Le Thi Kieu Trang" userId="5328ddf0-b8c7-4bba-ad6b-017a18ae336b" providerId="ADAL" clId="{F5B250B3-F060-44ED-BE02-BCE998F1E2D6}" dt="2025-10-26T15:57:18.783" v="7" actId="1076"/>
          <ac:picMkLst>
            <pc:docMk/>
            <pc:sldMk cId="0" sldId="259"/>
            <ac:picMk id="10" creationId="{00000000-0000-0000-0000-000000000000}"/>
          </ac:picMkLst>
        </pc:picChg>
      </pc:sldChg>
      <pc:sldChg chg="modSp mod">
        <pc:chgData name="Le Thi Kieu Trang" userId="5328ddf0-b8c7-4bba-ad6b-017a18ae336b" providerId="ADAL" clId="{F5B250B3-F060-44ED-BE02-BCE998F1E2D6}" dt="2025-10-26T15:57:44.599" v="26" actId="20577"/>
        <pc:sldMkLst>
          <pc:docMk/>
          <pc:sldMk cId="0" sldId="260"/>
        </pc:sldMkLst>
        <pc:spChg chg="mod">
          <ac:chgData name="Le Thi Kieu Trang" userId="5328ddf0-b8c7-4bba-ad6b-017a18ae336b" providerId="ADAL" clId="{F5B250B3-F060-44ED-BE02-BCE998F1E2D6}" dt="2025-10-26T15:57:34.542" v="8" actId="207"/>
          <ac:spMkLst>
            <pc:docMk/>
            <pc:sldMk cId="0" sldId="260"/>
            <ac:spMk id="2"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3"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4"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6"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7"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9" creationId="{00000000-0000-0000-0000-000000000000}"/>
          </ac:spMkLst>
        </pc:spChg>
        <pc:spChg chg="mod">
          <ac:chgData name="Le Thi Kieu Trang" userId="5328ddf0-b8c7-4bba-ad6b-017a18ae336b" providerId="ADAL" clId="{F5B250B3-F060-44ED-BE02-BCE998F1E2D6}" dt="2025-10-26T15:57:44.599" v="26" actId="20577"/>
          <ac:spMkLst>
            <pc:docMk/>
            <pc:sldMk cId="0" sldId="260"/>
            <ac:spMk id="10"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2"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3"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5"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6"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8"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9"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25" creationId="{F44955E2-D836-7485-5C40-DFDF5C2AEF4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3813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90770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7590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5.webp"/><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45.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6917" y="-82296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sp>
        <p:nvSpPr>
          <p:cNvPr id="3" name="Freeform 3"/>
          <p:cNvSpPr/>
          <p:nvPr/>
        </p:nvSpPr>
        <p:spPr>
          <a:xfrm rot="5400000" flipH="1">
            <a:off x="-436917" y="576072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sp>
        <p:nvSpPr>
          <p:cNvPr id="4" name="Freeform 4"/>
          <p:cNvSpPr/>
          <p:nvPr/>
        </p:nvSpPr>
        <p:spPr>
          <a:xfrm rot="-5400000">
            <a:off x="12547563" y="576072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sp>
        <p:nvSpPr>
          <p:cNvPr id="5" name="Freeform 5"/>
          <p:cNvSpPr/>
          <p:nvPr/>
        </p:nvSpPr>
        <p:spPr>
          <a:xfrm rot="-5400000" flipH="1">
            <a:off x="12547563" y="-82296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grpSp>
        <p:nvGrpSpPr>
          <p:cNvPr id="6" name="Group 6"/>
          <p:cNvGrpSpPr/>
          <p:nvPr/>
        </p:nvGrpSpPr>
        <p:grpSpPr>
          <a:xfrm>
            <a:off x="-1958340" y="7368540"/>
            <a:ext cx="18547080" cy="1043940"/>
            <a:chOff x="0" y="0"/>
            <a:chExt cx="6106035" cy="343684"/>
          </a:xfrm>
        </p:grpSpPr>
        <p:sp>
          <p:nvSpPr>
            <p:cNvPr id="7" name="Freeform 7"/>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latin typeface="Times New Roman" panose="02020603050405020304" pitchFamily="18" charset="0"/>
                <a:cs typeface="Times New Roman" panose="02020603050405020304" pitchFamily="18" charset="0"/>
              </a:endParaRPr>
            </a:p>
          </p:txBody>
        </p:sp>
        <p:sp>
          <p:nvSpPr>
            <p:cNvPr id="8" name="TextBox 8"/>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1958340" y="-175260"/>
            <a:ext cx="18547080" cy="1043940"/>
            <a:chOff x="0" y="0"/>
            <a:chExt cx="6106035" cy="343684"/>
          </a:xfrm>
        </p:grpSpPr>
        <p:sp>
          <p:nvSpPr>
            <p:cNvPr id="10" name="Freeform 10"/>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3418726" y="6431028"/>
            <a:ext cx="7792949" cy="620876"/>
          </a:xfrm>
          <a:prstGeom prst="rect">
            <a:avLst/>
          </a:prstGeom>
        </p:spPr>
        <p:txBody>
          <a:bodyPr lIns="0" tIns="0" rIns="0" bIns="0" rtlCol="0" anchor="t">
            <a:spAutoFit/>
          </a:bodyPr>
          <a:lstStyle/>
          <a:p>
            <a:pPr algn="ctr">
              <a:lnSpc>
                <a:spcPts val="5326"/>
              </a:lnSpc>
            </a:pPr>
            <a:r>
              <a:rPr lang="en-US" sz="3805">
                <a:latin typeface="Times New Roman" panose="02020603050405020304" pitchFamily="18" charset="0"/>
                <a:ea typeface="Slim Russian"/>
                <a:cs typeface="Times New Roman" panose="02020603050405020304" pitchFamily="18" charset="0"/>
                <a:sym typeface="Slim Russian"/>
              </a:rPr>
              <a:t>NHÓM 8</a:t>
            </a:r>
          </a:p>
        </p:txBody>
      </p:sp>
      <p:sp>
        <p:nvSpPr>
          <p:cNvPr id="13" name="TextBox 13"/>
          <p:cNvSpPr txBox="1"/>
          <p:nvPr/>
        </p:nvSpPr>
        <p:spPr>
          <a:xfrm>
            <a:off x="2360385" y="1877097"/>
            <a:ext cx="9909630" cy="1556965"/>
          </a:xfrm>
          <a:prstGeom prst="rect">
            <a:avLst/>
          </a:prstGeom>
        </p:spPr>
        <p:txBody>
          <a:bodyPr lIns="0" tIns="0" rIns="0" bIns="0" rtlCol="0" anchor="t">
            <a:spAutoFit/>
          </a:bodyPr>
          <a:lstStyle/>
          <a:p>
            <a:pPr algn="ctr">
              <a:lnSpc>
                <a:spcPts val="13313"/>
              </a:lnSpc>
            </a:pPr>
            <a:r>
              <a:rPr lang="en-US" sz="9509" dirty="0">
                <a:latin typeface="Times New Roman" panose="02020603050405020304" pitchFamily="18" charset="0"/>
                <a:ea typeface="CAT Neuzeit"/>
                <a:cs typeface="Times New Roman" panose="02020603050405020304" pitchFamily="18" charset="0"/>
                <a:sym typeface="CAT Neuzeit"/>
              </a:rPr>
              <a:t>AIRCARE</a:t>
            </a:r>
          </a:p>
        </p:txBody>
      </p:sp>
      <p:sp>
        <p:nvSpPr>
          <p:cNvPr id="14" name="TextBox 14"/>
          <p:cNvSpPr txBox="1"/>
          <p:nvPr/>
        </p:nvSpPr>
        <p:spPr>
          <a:xfrm>
            <a:off x="1373574" y="4288667"/>
            <a:ext cx="12433866" cy="1300549"/>
          </a:xfrm>
          <a:prstGeom prst="rect">
            <a:avLst/>
          </a:prstGeom>
        </p:spPr>
        <p:txBody>
          <a:bodyPr lIns="0" tIns="0" rIns="0" bIns="0" rtlCol="0" anchor="t">
            <a:spAutoFit/>
          </a:bodyPr>
          <a:lstStyle/>
          <a:p>
            <a:pPr algn="ctr">
              <a:lnSpc>
                <a:spcPts val="5326"/>
              </a:lnSpc>
            </a:pPr>
            <a:r>
              <a:rPr lang="en-US" sz="3805" dirty="0">
                <a:latin typeface="Times New Roman" panose="02020603050405020304" pitchFamily="18" charset="0"/>
                <a:ea typeface="Slim Russian"/>
                <a:cs typeface="Times New Roman" panose="02020603050405020304" pitchFamily="18" charset="0"/>
                <a:sym typeface="Slim Russian"/>
              </a:rPr>
              <a:t>DỰ ĐOÁN CHẤT LƯỢNG KHÔNG KHÍ &amp; CẢNH BÁO SỨC KHỎE CÁ NHÂN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39178"/>
            <a:ext cx="13042821" cy="1240155"/>
          </a:xfrm>
          <a:prstGeom prst="rect">
            <a:avLst/>
          </a:prstGeom>
          <a:noFill/>
          <a:ln/>
        </p:spPr>
        <p:txBody>
          <a:bodyPr wrap="square" lIns="0" tIns="0" rIns="0" bIns="0" rtlCol="0" anchor="t"/>
          <a:lstStyle/>
          <a:p>
            <a:pPr marL="0" indent="0" algn="l">
              <a:lnSpc>
                <a:spcPts val="4850"/>
              </a:lnSpc>
              <a:buNone/>
            </a:pPr>
            <a:r>
              <a:rPr lang="en-US" sz="3900" dirty="0">
                <a:latin typeface="Times New Roman" panose="02020603050405020304" pitchFamily="18" charset="0"/>
                <a:cs typeface="Times New Roman" panose="02020603050405020304" pitchFamily="18" charset="0"/>
              </a:rPr>
              <a:t>THÀNH VIÊN NHÓM 8</a:t>
            </a:r>
          </a:p>
        </p:txBody>
      </p:sp>
      <p:sp>
        <p:nvSpPr>
          <p:cNvPr id="3" name="Text 1"/>
          <p:cNvSpPr/>
          <p:nvPr/>
        </p:nvSpPr>
        <p:spPr>
          <a:xfrm>
            <a:off x="793790" y="2576989"/>
            <a:ext cx="13042821" cy="317540"/>
          </a:xfrm>
          <a:prstGeom prst="rect">
            <a:avLst/>
          </a:prstGeom>
          <a:noFill/>
          <a:ln/>
        </p:spPr>
        <p:txBody>
          <a:bodyPr wrap="none" lIns="0" tIns="0" rIns="0" bIns="0" rtlCol="0" anchor="t"/>
          <a:lstStyle/>
          <a:p>
            <a:pPr marL="0" indent="0" algn="l">
              <a:lnSpc>
                <a:spcPts val="2500"/>
              </a:lnSpc>
              <a:buNone/>
            </a:pPr>
            <a:endParaRPr lang="en-US" sz="1550" dirty="0">
              <a:latin typeface="Times New Roman" panose="02020603050405020304" pitchFamily="18" charset="0"/>
              <a:cs typeface="Times New Roman" panose="02020603050405020304" pitchFamily="18" charset="0"/>
            </a:endParaRPr>
          </a:p>
        </p:txBody>
      </p:sp>
      <p:sp>
        <p:nvSpPr>
          <p:cNvPr id="4" name="Shape 2"/>
          <p:cNvSpPr/>
          <p:nvPr/>
        </p:nvSpPr>
        <p:spPr>
          <a:xfrm>
            <a:off x="793790" y="3117771"/>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992148" y="3316129"/>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3479721"/>
            <a:ext cx="267891" cy="267891"/>
          </a:xfrm>
          <a:prstGeom prst="rect">
            <a:avLst/>
          </a:prstGeom>
        </p:spPr>
      </p:pic>
      <p:sp>
        <p:nvSpPr>
          <p:cNvPr id="7" name="Text 4"/>
          <p:cNvSpPr/>
          <p:nvPr/>
        </p:nvSpPr>
        <p:spPr>
          <a:xfrm>
            <a:off x="992148" y="41097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Lê Thị Kiều Trang</a:t>
            </a:r>
            <a:endParaRPr lang="en-US" sz="1950" dirty="0">
              <a:latin typeface="Times New Roman" panose="02020603050405020304" pitchFamily="18" charset="0"/>
              <a:cs typeface="Times New Roman" panose="02020603050405020304" pitchFamily="18" charset="0"/>
            </a:endParaRPr>
          </a:p>
        </p:txBody>
      </p:sp>
      <p:sp>
        <p:nvSpPr>
          <p:cNvPr id="8" name="Text 5"/>
          <p:cNvSpPr/>
          <p:nvPr/>
        </p:nvSpPr>
        <p:spPr>
          <a:xfrm>
            <a:off x="992148" y="4539020"/>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23010502</a:t>
            </a:r>
            <a:endParaRPr lang="en-US" sz="1550" dirty="0">
              <a:latin typeface="Times New Roman" panose="02020603050405020304" pitchFamily="18" charset="0"/>
              <a:cs typeface="Times New Roman" panose="02020603050405020304" pitchFamily="18" charset="0"/>
            </a:endParaRPr>
          </a:p>
        </p:txBody>
      </p:sp>
      <p:sp>
        <p:nvSpPr>
          <p:cNvPr id="9" name="Shape 6"/>
          <p:cNvSpPr/>
          <p:nvPr/>
        </p:nvSpPr>
        <p:spPr>
          <a:xfrm>
            <a:off x="7414379" y="3117771"/>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7"/>
          <p:cNvSpPr/>
          <p:nvPr/>
        </p:nvSpPr>
        <p:spPr>
          <a:xfrm>
            <a:off x="7612737" y="3316129"/>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6448" y="3479721"/>
            <a:ext cx="267891" cy="267891"/>
          </a:xfrm>
          <a:prstGeom prst="rect">
            <a:avLst/>
          </a:prstGeom>
        </p:spPr>
      </p:pic>
      <p:sp>
        <p:nvSpPr>
          <p:cNvPr id="12" name="Text 8"/>
          <p:cNvSpPr/>
          <p:nvPr/>
        </p:nvSpPr>
        <p:spPr>
          <a:xfrm>
            <a:off x="7612737" y="41097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Quách Hữu Nam</a:t>
            </a:r>
            <a:endParaRPr lang="en-US" sz="1950" dirty="0">
              <a:latin typeface="Times New Roman" panose="02020603050405020304" pitchFamily="18" charset="0"/>
              <a:cs typeface="Times New Roman" panose="02020603050405020304" pitchFamily="18" charset="0"/>
            </a:endParaRPr>
          </a:p>
        </p:txBody>
      </p:sp>
      <p:sp>
        <p:nvSpPr>
          <p:cNvPr id="13" name="Text 9"/>
          <p:cNvSpPr/>
          <p:nvPr/>
        </p:nvSpPr>
        <p:spPr>
          <a:xfrm>
            <a:off x="7612737" y="4539020"/>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23012358</a:t>
            </a:r>
            <a:endParaRPr lang="en-US" sz="1550" dirty="0">
              <a:latin typeface="Times New Roman" panose="02020603050405020304" pitchFamily="18" charset="0"/>
              <a:cs typeface="Times New Roman" panose="02020603050405020304" pitchFamily="18" charset="0"/>
            </a:endParaRPr>
          </a:p>
        </p:txBody>
      </p:sp>
      <p:sp>
        <p:nvSpPr>
          <p:cNvPr id="14" name="Shape 10"/>
          <p:cNvSpPr/>
          <p:nvPr/>
        </p:nvSpPr>
        <p:spPr>
          <a:xfrm>
            <a:off x="793790" y="5253276"/>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5" name="Shape 11"/>
          <p:cNvSpPr/>
          <p:nvPr/>
        </p:nvSpPr>
        <p:spPr>
          <a:xfrm>
            <a:off x="992148" y="5451634"/>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6"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5859" y="5615226"/>
            <a:ext cx="267891" cy="267891"/>
          </a:xfrm>
          <a:prstGeom prst="rect">
            <a:avLst/>
          </a:prstGeom>
        </p:spPr>
      </p:pic>
      <p:sp>
        <p:nvSpPr>
          <p:cNvPr id="17" name="Text 12"/>
          <p:cNvSpPr/>
          <p:nvPr/>
        </p:nvSpPr>
        <p:spPr>
          <a:xfrm>
            <a:off x="992148" y="62453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Nguyễn Minh Sang</a:t>
            </a:r>
            <a:endParaRPr lang="en-US" sz="1950" dirty="0">
              <a:latin typeface="Times New Roman" panose="02020603050405020304" pitchFamily="18" charset="0"/>
              <a:cs typeface="Times New Roman" panose="02020603050405020304" pitchFamily="18" charset="0"/>
            </a:endParaRPr>
          </a:p>
        </p:txBody>
      </p:sp>
      <p:sp>
        <p:nvSpPr>
          <p:cNvPr id="18" name="Text 13"/>
          <p:cNvSpPr/>
          <p:nvPr/>
        </p:nvSpPr>
        <p:spPr>
          <a:xfrm>
            <a:off x="992148" y="6674525"/>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23010888</a:t>
            </a:r>
            <a:endParaRPr lang="en-US" sz="1550" dirty="0">
              <a:latin typeface="Times New Roman" panose="02020603050405020304" pitchFamily="18" charset="0"/>
              <a:cs typeface="Times New Roman" panose="02020603050405020304" pitchFamily="18" charset="0"/>
            </a:endParaRPr>
          </a:p>
        </p:txBody>
      </p:sp>
      <p:sp>
        <p:nvSpPr>
          <p:cNvPr id="19" name="Shape 14"/>
          <p:cNvSpPr/>
          <p:nvPr/>
        </p:nvSpPr>
        <p:spPr>
          <a:xfrm>
            <a:off x="7414379" y="5253276"/>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Shape 15"/>
          <p:cNvSpPr/>
          <p:nvPr/>
        </p:nvSpPr>
        <p:spPr>
          <a:xfrm>
            <a:off x="7612737" y="5451634"/>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2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76448" y="5615226"/>
            <a:ext cx="267891" cy="267891"/>
          </a:xfrm>
          <a:prstGeom prst="rect">
            <a:avLst/>
          </a:prstGeom>
        </p:spPr>
      </p:pic>
      <p:sp>
        <p:nvSpPr>
          <p:cNvPr id="22" name="Text 16"/>
          <p:cNvSpPr/>
          <p:nvPr/>
        </p:nvSpPr>
        <p:spPr>
          <a:xfrm>
            <a:off x="7612737" y="62453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Nguyễn Đức Trường</a:t>
            </a:r>
            <a:endParaRPr lang="en-US" sz="1950" dirty="0">
              <a:latin typeface="Times New Roman" panose="02020603050405020304" pitchFamily="18" charset="0"/>
              <a:cs typeface="Times New Roman" panose="02020603050405020304" pitchFamily="18" charset="0"/>
            </a:endParaRPr>
          </a:p>
        </p:txBody>
      </p:sp>
      <p:sp>
        <p:nvSpPr>
          <p:cNvPr id="23" name="Text 17"/>
          <p:cNvSpPr/>
          <p:nvPr/>
        </p:nvSpPr>
        <p:spPr>
          <a:xfrm>
            <a:off x="7612737" y="6674525"/>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23010767</a:t>
            </a:r>
            <a:endParaRPr lang="en-US" sz="15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683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581031"/>
            <a:ext cx="13042821" cy="1240155"/>
          </a:xfrm>
          <a:prstGeom prst="rect">
            <a:avLst/>
          </a:prstGeom>
          <a:noFill/>
          <a:ln/>
        </p:spPr>
        <p:txBody>
          <a:bodyPr wrap="square" lIns="0" tIns="0" rIns="0" bIns="0" rtlCol="0" anchor="t"/>
          <a:lstStyle/>
          <a:p>
            <a:pPr marL="0" indent="0" algn="ctr">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DỰ ÁN AIRCARE: DỰ ĐOÁN CHẤT LƯỢNG KHÔNG KHÍ &amp; CẢNH BÁO SỨC KHỎE CÁ NHÂN</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793790" y="3218021"/>
            <a:ext cx="13042821" cy="95261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AIRCARE tập trung vào việc dự đoán chất lượng không khí (AQI) trong 1, 3, 6 giờ tiếp theo và cung cấp cảnh báo sức khỏe cá nhân hóa. Đây là giải pháp ứng dụng Trí tuệ nhân tạo kết hợp Generative AI (GenAI Application) nhằm nâng cao nhận thức cộng đồng và hỗ trợ người dân ra quyết định an toàn.</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93790" y="4393883"/>
            <a:ext cx="6422231" cy="2254687"/>
          </a:xfrm>
          <a:prstGeom prst="roundRect">
            <a:avLst>
              <a:gd name="adj" fmla="val 7922"/>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992148" y="4592241"/>
            <a:ext cx="595313" cy="595313"/>
          </a:xfrm>
          <a:prstGeom prst="roundRect">
            <a:avLst>
              <a:gd name="adj" fmla="val 15358451"/>
            </a:avLst>
          </a:prstGeom>
          <a:solidFill>
            <a:srgbClr val="0540A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4755833"/>
            <a:ext cx="267891" cy="267891"/>
          </a:xfrm>
          <a:prstGeom prst="rect">
            <a:avLst/>
          </a:prstGeom>
        </p:spPr>
      </p:pic>
      <p:sp>
        <p:nvSpPr>
          <p:cNvPr id="7" name="Text 4"/>
          <p:cNvSpPr/>
          <p:nvPr/>
        </p:nvSpPr>
        <p:spPr>
          <a:xfrm>
            <a:off x="992148" y="5385911"/>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Dự đoán AQI</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992148" y="5815132"/>
            <a:ext cx="6025515"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Dự báo ngắn hạn (1h, 3h, 6h) dựa trên các thông số môi trường thực tế.</a:t>
            </a:r>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7414379" y="4393883"/>
            <a:ext cx="6422231" cy="2254687"/>
          </a:xfrm>
          <a:prstGeom prst="roundRect">
            <a:avLst>
              <a:gd name="adj" fmla="val 7922"/>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7"/>
          <p:cNvSpPr/>
          <p:nvPr/>
        </p:nvSpPr>
        <p:spPr>
          <a:xfrm>
            <a:off x="7612737" y="4592241"/>
            <a:ext cx="595313" cy="595313"/>
          </a:xfrm>
          <a:prstGeom prst="roundRect">
            <a:avLst>
              <a:gd name="adj" fmla="val 15358451"/>
            </a:avLst>
          </a:prstGeom>
          <a:solidFill>
            <a:srgbClr val="1A561C"/>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6448" y="4755833"/>
            <a:ext cx="267891" cy="267891"/>
          </a:xfrm>
          <a:prstGeom prst="rect">
            <a:avLst/>
          </a:prstGeom>
        </p:spPr>
      </p:pic>
      <p:sp>
        <p:nvSpPr>
          <p:cNvPr id="12" name="Text 8"/>
          <p:cNvSpPr/>
          <p:nvPr/>
        </p:nvSpPr>
        <p:spPr>
          <a:xfrm>
            <a:off x="7612737" y="5385911"/>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Cảnh báo Sức khỏe</a:t>
            </a:r>
            <a:endParaRPr lang="en-US" dirty="0">
              <a:latin typeface="Times New Roman" panose="02020603050405020304" pitchFamily="18" charset="0"/>
              <a:cs typeface="Times New Roman" panose="02020603050405020304" pitchFamily="18" charset="0"/>
            </a:endParaRPr>
          </a:p>
        </p:txBody>
      </p:sp>
      <p:sp>
        <p:nvSpPr>
          <p:cNvPr id="13" name="Text 9"/>
          <p:cNvSpPr/>
          <p:nvPr/>
        </p:nvSpPr>
        <p:spPr>
          <a:xfrm>
            <a:off x="7612737" y="5815132"/>
            <a:ext cx="6025515"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Sinh phản hồi thông minh, cá nhân hóa theo độ tuổi, thể trạng và bệnh lý.</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45448" y="1378927"/>
            <a:ext cx="4961811"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TỔNG QUAN</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524264" y="2208190"/>
            <a:ext cx="3912870" cy="372070"/>
          </a:xfrm>
          <a:prstGeom prst="rect">
            <a:avLst/>
          </a:prstGeom>
          <a:noFill/>
          <a:ln/>
        </p:spPr>
        <p:txBody>
          <a:bodyPr wrap="non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Bối</a:t>
            </a:r>
            <a:r>
              <a:rPr lang="en-US" dirty="0">
                <a:latin typeface="Times New Roman" panose="02020603050405020304" pitchFamily="18" charset="0"/>
                <a:ea typeface="Instrument Sans Semi Bold" pitchFamily="34" charset="-122"/>
                <a:cs typeface="Times New Roman" panose="02020603050405020304" pitchFamily="18" charset="0"/>
              </a:rPr>
              <a:t> cảnh Ô </a:t>
            </a:r>
            <a:r>
              <a:rPr lang="en-US" dirty="0" err="1">
                <a:latin typeface="Times New Roman" panose="02020603050405020304" pitchFamily="18" charset="0"/>
                <a:ea typeface="Instrument Sans Semi Bold" pitchFamily="34" charset="-122"/>
                <a:cs typeface="Times New Roman" panose="02020603050405020304" pitchFamily="18" charset="0"/>
              </a:rPr>
              <a:t>nhiễm</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không</a:t>
            </a:r>
            <a:r>
              <a:rPr lang="en-US" dirty="0">
                <a:latin typeface="Times New Roman" panose="02020603050405020304" pitchFamily="18" charset="0"/>
                <a:ea typeface="Instrument Sans Semi Bold" pitchFamily="34" charset="-122"/>
                <a:cs typeface="Times New Roman" panose="02020603050405020304" pitchFamily="18" charset="0"/>
              </a:rPr>
              <a:t> khí</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554295" y="2704837"/>
            <a:ext cx="7522896"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 Ô nhiễm không khí là thách thức môi trường toàn cầu, gây ra hơn 7 triệu ca tử vong mỗi năm (WHO, 2024). Các đô thị lớn của Việt Nam thường xuyên có chỉ số AQI ở </a:t>
            </a:r>
            <a:r>
              <a:rPr lang="en-US" dirty="0" err="1">
                <a:latin typeface="Times New Roman" panose="02020603050405020304" pitchFamily="18" charset="0"/>
                <a:ea typeface="Instrument Sans Medium" pitchFamily="34" charset="-122"/>
                <a:cs typeface="Times New Roman" panose="02020603050405020304" pitchFamily="18" charset="0"/>
              </a:rPr>
              <a:t>mức</a:t>
            </a:r>
            <a:r>
              <a:rPr lang="en-US" dirty="0">
                <a:latin typeface="Times New Roman" panose="02020603050405020304" pitchFamily="18" charset="0"/>
                <a:ea typeface="Instrument Sans Medium" pitchFamily="34" charset="-122"/>
                <a:cs typeface="Times New Roman" panose="02020603050405020304" pitchFamily="18" charset="0"/>
              </a:rPr>
              <a:t> “Trung </a:t>
            </a:r>
            <a:r>
              <a:rPr lang="en-US" dirty="0" err="1">
                <a:latin typeface="Times New Roman" panose="02020603050405020304" pitchFamily="18" charset="0"/>
                <a:ea typeface="Instrument Sans Medium" pitchFamily="34" charset="-122"/>
                <a:cs typeface="Times New Roman" panose="02020603050405020304" pitchFamily="18" charset="0"/>
              </a:rPr>
              <a:t>bình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hoặc</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Không</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lành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mạnh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Có</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hại</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cho</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sức</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khỏe</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554295" y="3759877"/>
            <a:ext cx="7337845"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Các</a:t>
            </a:r>
            <a:r>
              <a:rPr lang="en-US" dirty="0">
                <a:latin typeface="Times New Roman" panose="02020603050405020304" pitchFamily="18" charset="0"/>
                <a:ea typeface="Instrument Sans Medium" pitchFamily="34" charset="-122"/>
                <a:cs typeface="Times New Roman" panose="02020603050405020304" pitchFamily="18" charset="0"/>
              </a:rPr>
              <a:t> hệ thống hiện tại chủ yếu chỉ hiển thị dữ liệu thời gian thực, thiếu khả năng dự đoán xu hướng ô nhiễm trong tương lai hoặc cá nhân hóa cảnh báo theo từng đối tượng người dùng.</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554305" y="4965235"/>
            <a:ext cx="2977039" cy="372070"/>
          </a:xfrm>
          <a:prstGeom prst="rect">
            <a:avLst/>
          </a:prstGeom>
          <a:noFill/>
          <a:ln/>
        </p:spPr>
        <p:txBody>
          <a:bodyPr wrap="non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 Lý do chọn đề tài</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554296" y="5443975"/>
            <a:ext cx="13042821" cy="317540"/>
          </a:xfrm>
          <a:prstGeom prst="rect">
            <a:avLst/>
          </a:prstGeom>
          <a:noFill/>
          <a:ln/>
        </p:spPr>
        <p:txBody>
          <a:bodyPr wrap="none" lIns="0" tIns="0" rIns="0" bIns="0" rtlCol="0" anchor="t"/>
          <a:lstStyle/>
          <a:p>
            <a:pPr algn="l">
              <a:lnSpc>
                <a:spcPts val="2500"/>
              </a:lnSpc>
              <a:buSzPct val="100000"/>
            </a:pPr>
            <a:r>
              <a:rPr lang="en-US" dirty="0">
                <a:latin typeface="Times New Roman" panose="02020603050405020304" pitchFamily="18" charset="0"/>
                <a:ea typeface="Instrument Sans Medium" pitchFamily="34" charset="-122"/>
                <a:cs typeface="Times New Roman" panose="02020603050405020304" pitchFamily="18" charset="0"/>
              </a:rPr>
              <a:t>+ Ô nhiễm không khí ngày càng nghiêm trọng, đòi hỏi công cụ cảnh báo thông minh.</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54295" y="5833952"/>
            <a:ext cx="13042821" cy="317540"/>
          </a:xfrm>
          <a:prstGeom prst="rect">
            <a:avLst/>
          </a:prstGeom>
          <a:noFill/>
          <a:ln/>
        </p:spPr>
        <p:txBody>
          <a:bodyPr wrap="none" lIns="0" tIns="0" rIns="0" bIns="0" rtlCol="0" anchor="t"/>
          <a:lstStyle/>
          <a:p>
            <a:pPr algn="l">
              <a:lnSpc>
                <a:spcPts val="2500"/>
              </a:lnSpc>
              <a:buSzPct val="100000"/>
            </a:pP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Thiếu</a:t>
            </a:r>
            <a:r>
              <a:rPr lang="en-US" dirty="0">
                <a:latin typeface="Times New Roman" panose="02020603050405020304" pitchFamily="18" charset="0"/>
                <a:ea typeface="Instrument Sans Medium" pitchFamily="34" charset="-122"/>
                <a:cs typeface="Times New Roman" panose="02020603050405020304" pitchFamily="18" charset="0"/>
              </a:rPr>
              <a:t> giải pháp dự đoán AQI ngắn hạn, người dân chỉ biết tình trạng hiện tại.</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rot="10800000" flipV="1">
            <a:off x="554305" y="6296366"/>
            <a:ext cx="7522907" cy="280868"/>
          </a:xfrm>
          <a:prstGeom prst="rect">
            <a:avLst/>
          </a:prstGeom>
          <a:noFill/>
          <a:ln/>
        </p:spPr>
        <p:txBody>
          <a:bodyPr wrap="none" lIns="0" tIns="0" rIns="0" bIns="0" rtlCol="0" anchor="t"/>
          <a:lstStyle/>
          <a:p>
            <a:pPr algn="l">
              <a:lnSpc>
                <a:spcPts val="2500"/>
              </a:lnSpc>
              <a:buSzPct val="100000"/>
            </a:pP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Ứng</a:t>
            </a:r>
            <a:r>
              <a:rPr lang="en-US" dirty="0">
                <a:latin typeface="Times New Roman" panose="02020603050405020304" pitchFamily="18" charset="0"/>
                <a:ea typeface="Instrument Sans Medium" pitchFamily="34" charset="-122"/>
                <a:cs typeface="Times New Roman" panose="02020603050405020304" pitchFamily="18" charset="0"/>
              </a:rPr>
              <a:t> dụng kết hợp Machine Learning và Generative AI tạo ra hệ thống thông </a:t>
            </a:r>
            <a:r>
              <a:rPr lang="en-US" dirty="0" err="1">
                <a:latin typeface="Times New Roman" panose="02020603050405020304" pitchFamily="18" charset="0"/>
                <a:ea typeface="Instrument Sans Medium" pitchFamily="34" charset="-122"/>
                <a:cs typeface="Times New Roman" panose="02020603050405020304" pitchFamily="18" charset="0"/>
              </a:rPr>
              <a:t>minh</a:t>
            </a:r>
            <a:r>
              <a:rPr lang="en-US" dirty="0">
                <a:latin typeface="Times New Roman" panose="02020603050405020304" pitchFamily="18" charset="0"/>
                <a:ea typeface="Instrument Sans Medium" pitchFamily="34" charset="-122"/>
                <a:cs typeface="Times New Roman" panose="02020603050405020304" pitchFamily="18" charset="0"/>
              </a:rPr>
              <a:t> </a:t>
            </a:r>
          </a:p>
          <a:p>
            <a:pPr algn="l">
              <a:lnSpc>
                <a:spcPts val="2500"/>
              </a:lnSpc>
              <a:buSzPct val="100000"/>
            </a:pPr>
            <a:r>
              <a:rPr lang="en-US" dirty="0" err="1">
                <a:latin typeface="Times New Roman" panose="02020603050405020304" pitchFamily="18" charset="0"/>
                <a:ea typeface="Instrument Sans Medium" pitchFamily="34" charset="-122"/>
                <a:cs typeface="Times New Roman" panose="02020603050405020304" pitchFamily="18" charset="0"/>
              </a:rPr>
              <a:t>toàn</a:t>
            </a:r>
            <a:r>
              <a:rPr lang="en-US" dirty="0">
                <a:latin typeface="Times New Roman" panose="02020603050405020304" pitchFamily="18" charset="0"/>
                <a:ea typeface="Instrument Sans Medium" pitchFamily="34" charset="-122"/>
                <a:cs typeface="Times New Roman" panose="02020603050405020304" pitchFamily="18" charset="0"/>
              </a:rPr>
              <a:t> diện, vừa dự đoán vừa giao tiếp hiệu quả.</a:t>
            </a:r>
            <a:endParaRPr lang="en-US" dirty="0">
              <a:latin typeface="Times New Roman" panose="02020603050405020304" pitchFamily="18" charset="0"/>
              <a:cs typeface="Times New Roman" panose="02020603050405020304" pitchFamily="18" charset="0"/>
            </a:endParaRPr>
          </a:p>
        </p:txBody>
      </p:sp>
      <p:pic>
        <p:nvPicPr>
          <p:cNvPr id="12" name="Picture 11" descr="A screenshot of a computer&#10;&#10;AI-generated content may be incorrect.">
            <a:extLst>
              <a:ext uri="{FF2B5EF4-FFF2-40B4-BE49-F238E27FC236}">
                <a16:creationId xmlns:a16="http://schemas.microsoft.com/office/drawing/2014/main" id="{99D31EEA-5F6B-D344-F137-C5D4BAF58ACD}"/>
              </a:ext>
            </a:extLst>
          </p:cNvPr>
          <p:cNvPicPr>
            <a:picLocks noChangeAspect="1"/>
          </p:cNvPicPr>
          <p:nvPr/>
        </p:nvPicPr>
        <p:blipFill>
          <a:blip r:embed="rId3"/>
          <a:stretch>
            <a:fillRect/>
          </a:stretch>
        </p:blipFill>
        <p:spPr>
          <a:xfrm>
            <a:off x="8501743" y="1761132"/>
            <a:ext cx="5604393" cy="48870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61160"/>
            <a:ext cx="8860393"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Ý NGHĨA DỰ ÁN VÀ XU HƯỚNG GENAI</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793790" y="2975729"/>
            <a:ext cx="4215289" cy="2734270"/>
          </a:xfrm>
          <a:prstGeom prst="roundRect">
            <a:avLst>
              <a:gd name="adj" fmla="val 4013"/>
            </a:avLst>
          </a:pr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793790" y="2952869"/>
            <a:ext cx="4215289" cy="91440"/>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2603778" y="2678073"/>
            <a:ext cx="595313" cy="595313"/>
          </a:xfrm>
          <a:prstGeom prst="roundRect">
            <a:avLst>
              <a:gd name="adj" fmla="val 153600"/>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2372" y="2856667"/>
            <a:ext cx="238125" cy="238125"/>
          </a:xfrm>
          <a:prstGeom prst="rect">
            <a:avLst/>
          </a:prstGeom>
        </p:spPr>
      </p:pic>
      <p:sp>
        <p:nvSpPr>
          <p:cNvPr id="7" name="Text 4"/>
          <p:cNvSpPr/>
          <p:nvPr/>
        </p:nvSpPr>
        <p:spPr>
          <a:xfrm>
            <a:off x="1015008" y="3471863"/>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Về mặt Công nghệ</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1015008" y="3901083"/>
            <a:ext cx="3772853" cy="1587698"/>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Ứng dụng AI lai (Hybrid AI) kết hợp Machine Learning và Generative AI. Thực hành pipeline dữ liệu hoàn chỉnh từ thu thập đến triển khai hệ thống dự đoán thời gian thực (real-time inference).</a:t>
            </a:r>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5207437" y="2975729"/>
            <a:ext cx="4215408" cy="2734270"/>
          </a:xfrm>
          <a:prstGeom prst="roundRect">
            <a:avLst>
              <a:gd name="adj" fmla="val 4013"/>
            </a:avLst>
          </a:pr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7"/>
          <p:cNvSpPr/>
          <p:nvPr/>
        </p:nvSpPr>
        <p:spPr>
          <a:xfrm>
            <a:off x="5207437" y="2952869"/>
            <a:ext cx="4215408" cy="91440"/>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Shape 8"/>
          <p:cNvSpPr/>
          <p:nvPr/>
        </p:nvSpPr>
        <p:spPr>
          <a:xfrm>
            <a:off x="7017425" y="2678073"/>
            <a:ext cx="595313" cy="595313"/>
          </a:xfrm>
          <a:prstGeom prst="roundRect">
            <a:avLst>
              <a:gd name="adj" fmla="val 153600"/>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18" y="2856667"/>
            <a:ext cx="238125" cy="238125"/>
          </a:xfrm>
          <a:prstGeom prst="rect">
            <a:avLst/>
          </a:prstGeom>
        </p:spPr>
      </p:pic>
      <p:sp>
        <p:nvSpPr>
          <p:cNvPr id="13" name="Text 9"/>
          <p:cNvSpPr/>
          <p:nvPr/>
        </p:nvSpPr>
        <p:spPr>
          <a:xfrm>
            <a:off x="5428655" y="3471863"/>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Về mặt Xã hội</a:t>
            </a:r>
            <a:endParaRPr lang="en-US" dirty="0">
              <a:latin typeface="Times New Roman" panose="02020603050405020304" pitchFamily="18" charset="0"/>
              <a:cs typeface="Times New Roman" panose="02020603050405020304" pitchFamily="18" charset="0"/>
            </a:endParaRPr>
          </a:p>
        </p:txBody>
      </p:sp>
      <p:sp>
        <p:nvSpPr>
          <p:cNvPr id="14" name="Text 10"/>
          <p:cNvSpPr/>
          <p:nvPr/>
        </p:nvSpPr>
        <p:spPr>
          <a:xfrm>
            <a:off x="5428655" y="3901083"/>
            <a:ext cx="3772972" cy="1587698"/>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Cung cấp công cụ hữu ích giúp người dân theo dõi và dự đoán mức độ ô nhiễm. Hỗ trợ người có bệnh lý hô hấp đưa ra quyết định an toàn khi ra ngoài, nâng cao nhận thức cộng đồng.</a:t>
            </a:r>
            <a:endParaRPr lang="en-US" dirty="0">
              <a:latin typeface="Times New Roman" panose="02020603050405020304" pitchFamily="18" charset="0"/>
              <a:cs typeface="Times New Roman" panose="02020603050405020304" pitchFamily="18" charset="0"/>
            </a:endParaRPr>
          </a:p>
        </p:txBody>
      </p:sp>
      <p:sp>
        <p:nvSpPr>
          <p:cNvPr id="15" name="Shape 11"/>
          <p:cNvSpPr/>
          <p:nvPr/>
        </p:nvSpPr>
        <p:spPr>
          <a:xfrm>
            <a:off x="9621203" y="2975729"/>
            <a:ext cx="4215289" cy="2734270"/>
          </a:xfrm>
          <a:prstGeom prst="roundRect">
            <a:avLst>
              <a:gd name="adj" fmla="val 4013"/>
            </a:avLst>
          </a:pr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Shape 12"/>
          <p:cNvSpPr/>
          <p:nvPr/>
        </p:nvSpPr>
        <p:spPr>
          <a:xfrm>
            <a:off x="9621203" y="2952869"/>
            <a:ext cx="4215289" cy="91440"/>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7" name="Shape 13"/>
          <p:cNvSpPr/>
          <p:nvPr/>
        </p:nvSpPr>
        <p:spPr>
          <a:xfrm>
            <a:off x="11431191" y="2678073"/>
            <a:ext cx="595313" cy="595313"/>
          </a:xfrm>
          <a:prstGeom prst="roundRect">
            <a:avLst>
              <a:gd name="adj" fmla="val 153600"/>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9784" y="2856667"/>
            <a:ext cx="238125" cy="238125"/>
          </a:xfrm>
          <a:prstGeom prst="rect">
            <a:avLst/>
          </a:prstGeom>
        </p:spPr>
      </p:pic>
      <p:sp>
        <p:nvSpPr>
          <p:cNvPr id="19" name="Text 14"/>
          <p:cNvSpPr/>
          <p:nvPr/>
        </p:nvSpPr>
        <p:spPr>
          <a:xfrm>
            <a:off x="9842421" y="3471863"/>
            <a:ext cx="2674501"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Kết nối GenAI Toàn cầu</a:t>
            </a:r>
            <a:endParaRPr lang="en-US" dirty="0">
              <a:latin typeface="Times New Roman" panose="02020603050405020304" pitchFamily="18" charset="0"/>
              <a:cs typeface="Times New Roman" panose="02020603050405020304" pitchFamily="18" charset="0"/>
            </a:endParaRPr>
          </a:p>
        </p:txBody>
      </p:sp>
      <p:sp>
        <p:nvSpPr>
          <p:cNvPr id="20" name="Text 15"/>
          <p:cNvSpPr/>
          <p:nvPr/>
        </p:nvSpPr>
        <p:spPr>
          <a:xfrm>
            <a:off x="9842421" y="3901083"/>
            <a:ext cx="3772853" cy="1587698"/>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Hòa nhập xu hướng Environmental AI Assistants. Ứng dụng mô hình ngôn ngữ lớn (LLM) để sinh phản hồi tự nhiên, kết hợp dữ liệu cảm biến thực để cá nhân hóa trải nghiệm tương tác.</a:t>
            </a:r>
            <a:endParaRPr lang="en-US" dirty="0">
              <a:latin typeface="Times New Roman" panose="02020603050405020304" pitchFamily="18" charset="0"/>
              <a:cs typeface="Times New Roman" panose="02020603050405020304" pitchFamily="18" charset="0"/>
            </a:endParaRPr>
          </a:p>
        </p:txBody>
      </p:sp>
      <p:sp>
        <p:nvSpPr>
          <p:cNvPr id="21" name="Text 16"/>
          <p:cNvSpPr/>
          <p:nvPr/>
        </p:nvSpPr>
        <p:spPr>
          <a:xfrm>
            <a:off x="793790" y="6249233"/>
            <a:ext cx="13042821"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Năm 2024–2025 đánh dấu sự bùng nổ của Generative AI trong nhiều lĩnh vực, và AIRCARE sử dụng LLM để tạo chatbot tương tác thân thiện, có tính thực tiễn cao.</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8397" y="349568"/>
            <a:ext cx="7015282" cy="397193"/>
          </a:xfrm>
          <a:prstGeom prst="rect">
            <a:avLst/>
          </a:prstGeom>
          <a:noFill/>
          <a:ln/>
        </p:spPr>
        <p:txBody>
          <a:bodyPr wrap="none" lIns="0" tIns="0" rIns="0" bIns="0" rtlCol="0" anchor="t"/>
          <a:lstStyle/>
          <a:p>
            <a:pPr marL="0" indent="0" algn="l">
              <a:lnSpc>
                <a:spcPts val="310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KIẾN TRÚC CHI TIẾT VÀ CÔNG NGHỆ SỬ DỤNG</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556701" y="1000958"/>
            <a:ext cx="13613606" cy="203359"/>
          </a:xfrm>
          <a:prstGeom prst="rect">
            <a:avLst/>
          </a:prstGeom>
          <a:noFill/>
          <a:ln/>
        </p:spPr>
        <p:txBody>
          <a:bodyPr wrap="none" lIns="0" tIns="0" rIns="0" bIns="0" rtlCol="0" anchor="t"/>
          <a:lstStyle/>
          <a:p>
            <a:pPr marL="0" indent="0" algn="l">
              <a:lnSpc>
                <a:spcPts val="160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AIRCARE được thiết kế theo mô hình kiến trúc modular, gồm 4 lớp chính, đảm bảo tính mở rộng và dễ bảo trì.</a:t>
            </a:r>
            <a:endParaRPr lang="en-US"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463409" y="1173949"/>
            <a:ext cx="7893725" cy="3403998"/>
          </a:xfrm>
          <a:prstGeom prst="rect">
            <a:avLst/>
          </a:prstGeom>
        </p:spPr>
      </p:pic>
      <p:sp>
        <p:nvSpPr>
          <p:cNvPr id="5" name="Text 2"/>
          <p:cNvSpPr/>
          <p:nvPr/>
        </p:nvSpPr>
        <p:spPr>
          <a:xfrm>
            <a:off x="883666" y="3997068"/>
            <a:ext cx="3063034" cy="382879"/>
          </a:xfrm>
          <a:prstGeom prst="rect">
            <a:avLst/>
          </a:prstGeom>
          <a:noFill/>
          <a:ln/>
        </p:spPr>
        <p:txBody>
          <a:bodyPr wrap="none" lIns="0" tIns="0" rIns="0" bIns="0" rtlCol="0" anchor="t"/>
          <a:lstStyle/>
          <a:p>
            <a:pPr marL="0" indent="0" algn="l">
              <a:lnSpc>
                <a:spcPts val="1650"/>
              </a:lnSpc>
              <a:buNone/>
            </a:pPr>
            <a:r>
              <a:rPr lang="en-US" dirty="0">
                <a:latin typeface="Times New Roman" panose="02020603050405020304" pitchFamily="18" charset="0"/>
                <a:ea typeface="Instrument Sans Semi Bold" pitchFamily="34" charset="-122"/>
                <a:cs typeface="Times New Roman" panose="02020603050405020304" pitchFamily="18" charset="0"/>
              </a:rPr>
              <a:t>Lưu Trữ &amp; Kiểm Thử</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889754" y="3187001"/>
            <a:ext cx="3063034" cy="382879"/>
          </a:xfrm>
          <a:prstGeom prst="rect">
            <a:avLst/>
          </a:prstGeom>
          <a:noFill/>
          <a:ln/>
        </p:spPr>
        <p:txBody>
          <a:bodyPr wrap="none" lIns="0" tIns="0" rIns="0" bIns="0" rtlCol="0" anchor="t"/>
          <a:lstStyle/>
          <a:p>
            <a:pPr marL="0" indent="0" algn="l">
              <a:lnSpc>
                <a:spcPts val="1650"/>
              </a:lnSpc>
              <a:buNone/>
            </a:pPr>
            <a:r>
              <a:rPr lang="en-US" dirty="0">
                <a:latin typeface="Times New Roman" panose="02020603050405020304" pitchFamily="18" charset="0"/>
                <a:ea typeface="Instrument Sans Semi Bold" pitchFamily="34" charset="-122"/>
                <a:cs typeface="Times New Roman" panose="02020603050405020304" pitchFamily="18" charset="0"/>
              </a:rPr>
              <a:t>Lớp Ứng Dụng</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883666" y="2376934"/>
            <a:ext cx="3063034" cy="382879"/>
          </a:xfrm>
          <a:prstGeom prst="rect">
            <a:avLst/>
          </a:prstGeom>
          <a:noFill/>
          <a:ln/>
        </p:spPr>
        <p:txBody>
          <a:bodyPr wrap="none" lIns="0" tIns="0" rIns="0" bIns="0" rtlCol="0" anchor="t"/>
          <a:lstStyle/>
          <a:p>
            <a:pPr marL="0" indent="0" algn="l">
              <a:lnSpc>
                <a:spcPts val="1650"/>
              </a:lnSpc>
              <a:buNone/>
            </a:pPr>
            <a:r>
              <a:rPr lang="en-US" dirty="0">
                <a:latin typeface="Times New Roman" panose="02020603050405020304" pitchFamily="18" charset="0"/>
                <a:ea typeface="Instrument Sans Semi Bold" pitchFamily="34" charset="-122"/>
                <a:cs typeface="Times New Roman" panose="02020603050405020304" pitchFamily="18" charset="0"/>
              </a:rPr>
              <a:t>Huấn Luyện Mô Hình</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883665" y="1621340"/>
            <a:ext cx="3063034" cy="382879"/>
          </a:xfrm>
          <a:prstGeom prst="rect">
            <a:avLst/>
          </a:prstGeom>
          <a:noFill/>
          <a:ln/>
        </p:spPr>
        <p:txBody>
          <a:bodyPr wrap="none" lIns="0" tIns="0" rIns="0" bIns="0" rtlCol="0" anchor="t"/>
          <a:lstStyle/>
          <a:p>
            <a:pPr marL="0" indent="0" algn="l">
              <a:lnSpc>
                <a:spcPts val="1650"/>
              </a:lnSpc>
              <a:buNone/>
            </a:pPr>
            <a:r>
              <a:rPr lang="en-US" dirty="0">
                <a:latin typeface="Times New Roman" panose="02020603050405020304" pitchFamily="18" charset="0"/>
                <a:ea typeface="Instrument Sans Semi Bold" pitchFamily="34" charset="-122"/>
                <a:cs typeface="Times New Roman" panose="02020603050405020304" pitchFamily="18" charset="0"/>
              </a:rPr>
              <a:t>Thu Thập Dữ Liệu</a:t>
            </a:r>
            <a:endParaRPr lang="en-US" dirty="0">
              <a:latin typeface="Times New Roman" panose="02020603050405020304" pitchFamily="18" charset="0"/>
              <a:cs typeface="Times New Roman" panose="02020603050405020304" pitchFamily="18" charset="0"/>
            </a:endParaRPr>
          </a:p>
        </p:txBody>
      </p:sp>
      <p:sp>
        <p:nvSpPr>
          <p:cNvPr id="9" name="Text 6"/>
          <p:cNvSpPr/>
          <p:nvPr/>
        </p:nvSpPr>
        <p:spPr>
          <a:xfrm>
            <a:off x="508397" y="4724436"/>
            <a:ext cx="1906786" cy="238363"/>
          </a:xfrm>
          <a:prstGeom prst="rect">
            <a:avLst/>
          </a:prstGeom>
          <a:noFill/>
          <a:ln/>
        </p:spPr>
        <p:txBody>
          <a:bodyPr wrap="none" lIns="0" tIns="0" rIns="0" bIns="0" rtlCol="0" anchor="t"/>
          <a:lstStyle/>
          <a:p>
            <a:pPr marL="0" indent="0" algn="l">
              <a:lnSpc>
                <a:spcPts val="1850"/>
              </a:lnSpc>
              <a:buNone/>
            </a:pPr>
            <a:r>
              <a:rPr lang="en-US" sz="2000" dirty="0">
                <a:latin typeface="Times New Roman" panose="02020603050405020304" pitchFamily="18" charset="0"/>
                <a:ea typeface="Instrument Sans Semi Bold" pitchFamily="34" charset="-122"/>
                <a:cs typeface="Times New Roman" panose="02020603050405020304" pitchFamily="18" charset="0"/>
              </a:rPr>
              <a:t>Công </a:t>
            </a:r>
            <a:r>
              <a:rPr lang="en-US" sz="2000" dirty="0" err="1">
                <a:latin typeface="Times New Roman" panose="02020603050405020304" pitchFamily="18" charset="0"/>
                <a:ea typeface="Instrument Sans Semi Bold" pitchFamily="34" charset="-122"/>
                <a:cs typeface="Times New Roman" panose="02020603050405020304" pitchFamily="18" charset="0"/>
              </a:rPr>
              <a:t>nghệ</a:t>
            </a:r>
            <a:r>
              <a:rPr lang="en-US" sz="2000" dirty="0">
                <a:latin typeface="Times New Roman" panose="02020603050405020304" pitchFamily="18" charset="0"/>
                <a:ea typeface="Instrument Sans Semi Bold" pitchFamily="34" charset="-122"/>
                <a:cs typeface="Times New Roman" panose="02020603050405020304" pitchFamily="18" charset="0"/>
              </a:rPr>
              <a:t> </a:t>
            </a:r>
            <a:r>
              <a:rPr lang="en-US" sz="2000" dirty="0" err="1">
                <a:latin typeface="Times New Roman" panose="02020603050405020304" pitchFamily="18" charset="0"/>
                <a:ea typeface="Instrument Sans Semi Bold" pitchFamily="34" charset="-122"/>
                <a:cs typeface="Times New Roman" panose="02020603050405020304" pitchFamily="18" charset="0"/>
              </a:rPr>
              <a:t>chính</a:t>
            </a:r>
            <a:endParaRPr lang="en-US" sz="2000" dirty="0">
              <a:latin typeface="Times New Roman" panose="02020603050405020304" pitchFamily="18" charset="0"/>
              <a:cs typeface="Times New Roman" panose="02020603050405020304" pitchFamily="18" charset="0"/>
            </a:endParaRPr>
          </a:p>
        </p:txBody>
      </p:sp>
      <p:pic>
        <p:nvPicPr>
          <p:cNvPr id="10"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7345" y="5369207"/>
            <a:ext cx="381357" cy="381357"/>
          </a:xfrm>
          <a:prstGeom prst="rect">
            <a:avLst/>
          </a:prstGeom>
        </p:spPr>
      </p:pic>
      <p:sp>
        <p:nvSpPr>
          <p:cNvPr id="11" name="Text 7"/>
          <p:cNvSpPr/>
          <p:nvPr/>
        </p:nvSpPr>
        <p:spPr>
          <a:xfrm>
            <a:off x="508397" y="5986254"/>
            <a:ext cx="1646039" cy="198596"/>
          </a:xfrm>
          <a:prstGeom prst="rect">
            <a:avLst/>
          </a:prstGeom>
          <a:noFill/>
          <a:ln/>
        </p:spPr>
        <p:txBody>
          <a:bodyPr wrap="none" lIns="0" tIns="0" rIns="0" bIns="0" rtlCol="0" anchor="t"/>
          <a:lstStyle/>
          <a:p>
            <a:pPr marL="0" indent="0" algn="l">
              <a:lnSpc>
                <a:spcPts val="1550"/>
              </a:lnSpc>
              <a:buNone/>
            </a:pPr>
            <a:r>
              <a:rPr lang="en-US" dirty="0">
                <a:latin typeface="Times New Roman" panose="02020603050405020304" pitchFamily="18" charset="0"/>
                <a:ea typeface="Instrument Sans Semi Bold" pitchFamily="34" charset="-122"/>
                <a:cs typeface="Times New Roman" panose="02020603050405020304" pitchFamily="18" charset="0"/>
              </a:rPr>
              <a:t>Python &amp; Thư viện ML</a:t>
            </a:r>
            <a:endParaRPr lang="en-US" dirty="0">
              <a:latin typeface="Times New Roman" panose="02020603050405020304" pitchFamily="18" charset="0"/>
              <a:cs typeface="Times New Roman" panose="02020603050405020304" pitchFamily="18" charset="0"/>
            </a:endParaRPr>
          </a:p>
        </p:txBody>
      </p:sp>
      <p:sp>
        <p:nvSpPr>
          <p:cNvPr id="12" name="Text 8"/>
          <p:cNvSpPr/>
          <p:nvPr/>
        </p:nvSpPr>
        <p:spPr>
          <a:xfrm>
            <a:off x="508397" y="6404901"/>
            <a:ext cx="4431983" cy="406718"/>
          </a:xfrm>
          <a:prstGeom prst="rect">
            <a:avLst/>
          </a:prstGeom>
          <a:noFill/>
          <a:ln/>
        </p:spPr>
        <p:txBody>
          <a:bodyPr wrap="square" lIns="0" tIns="0" rIns="0" bIns="0" rtlCol="0" anchor="t"/>
          <a:lstStyle/>
          <a:p>
            <a:pPr marL="0" indent="0" algn="l">
              <a:lnSpc>
                <a:spcPct val="150000"/>
              </a:lnSpc>
              <a:buNone/>
            </a:pPr>
            <a:r>
              <a:rPr lang="en-US" dirty="0">
                <a:latin typeface="Times New Roman" panose="02020603050405020304" pitchFamily="18" charset="0"/>
                <a:ea typeface="Instrument Sans Medium" pitchFamily="34" charset="-122"/>
                <a:cs typeface="Times New Roman" panose="02020603050405020304" pitchFamily="18" charset="0"/>
              </a:rPr>
              <a:t>Sử dụng Python, Pandas, NumPy, Scikit-learn và LightGBM để xử lý dữ liệu và xây dựng mô hình dự đoán AQI.</a:t>
            </a:r>
            <a:endParaRPr lang="en-US" dirty="0">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80566" y="5298341"/>
            <a:ext cx="381357" cy="381357"/>
          </a:xfrm>
          <a:prstGeom prst="rect">
            <a:avLst/>
          </a:prstGeom>
        </p:spPr>
      </p:pic>
      <p:sp>
        <p:nvSpPr>
          <p:cNvPr id="14" name="Text 9"/>
          <p:cNvSpPr/>
          <p:nvPr/>
        </p:nvSpPr>
        <p:spPr>
          <a:xfrm>
            <a:off x="5295152" y="5966935"/>
            <a:ext cx="1676995" cy="198596"/>
          </a:xfrm>
          <a:prstGeom prst="rect">
            <a:avLst/>
          </a:prstGeom>
          <a:noFill/>
          <a:ln/>
        </p:spPr>
        <p:txBody>
          <a:bodyPr wrap="none" lIns="0" tIns="0" rIns="0" bIns="0" rtlCol="0" anchor="t"/>
          <a:lstStyle/>
          <a:p>
            <a:pPr marL="0" indent="0" algn="l">
              <a:lnSpc>
                <a:spcPts val="1550"/>
              </a:lnSpc>
              <a:buNone/>
            </a:pPr>
            <a:r>
              <a:rPr lang="en-US" dirty="0">
                <a:latin typeface="Times New Roman" panose="02020603050405020304" pitchFamily="18" charset="0"/>
                <a:ea typeface="Instrument Sans Semi Bold" pitchFamily="34" charset="-122"/>
                <a:cs typeface="Times New Roman" panose="02020603050405020304" pitchFamily="18" charset="0"/>
              </a:rPr>
              <a:t>OpenWeatherMap API</a:t>
            </a:r>
            <a:endParaRPr lang="en-US" dirty="0">
              <a:latin typeface="Times New Roman" panose="02020603050405020304" pitchFamily="18" charset="0"/>
              <a:cs typeface="Times New Roman" panose="02020603050405020304" pitchFamily="18" charset="0"/>
            </a:endParaRPr>
          </a:p>
        </p:txBody>
      </p:sp>
      <p:sp>
        <p:nvSpPr>
          <p:cNvPr id="15" name="Text 10"/>
          <p:cNvSpPr/>
          <p:nvPr/>
        </p:nvSpPr>
        <p:spPr>
          <a:xfrm>
            <a:off x="5295152" y="6357272"/>
            <a:ext cx="4431983" cy="406718"/>
          </a:xfrm>
          <a:prstGeom prst="rect">
            <a:avLst/>
          </a:prstGeom>
          <a:noFill/>
          <a:ln/>
        </p:spPr>
        <p:txBody>
          <a:bodyPr wrap="square" lIns="0" tIns="0" rIns="0" bIns="0" rtlCol="0" anchor="t"/>
          <a:lstStyle/>
          <a:p>
            <a:pPr marL="0" indent="0" algn="l">
              <a:lnSpc>
                <a:spcPct val="150000"/>
              </a:lnSpc>
              <a:buNone/>
            </a:pPr>
            <a:r>
              <a:rPr lang="en-US" dirty="0">
                <a:latin typeface="Times New Roman" panose="02020603050405020304" pitchFamily="18" charset="0"/>
                <a:ea typeface="Instrument Sans Medium" pitchFamily="34" charset="-122"/>
                <a:cs typeface="Times New Roman" panose="02020603050405020304" pitchFamily="18" charset="0"/>
              </a:rPr>
              <a:t>Nguồn cung cấp dữ liệu thời tiết và chất lượng không khí theo thời gian thực, được thu thập định kỳ 2 phút/lần.</a:t>
            </a:r>
            <a:endParaRPr lang="en-US" dirty="0">
              <a:latin typeface="Times New Roman" panose="02020603050405020304" pitchFamily="18" charset="0"/>
              <a:cs typeface="Times New Roman" panose="02020603050405020304" pitchFamily="18" charset="0"/>
            </a:endParaRPr>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84465" y="5298341"/>
            <a:ext cx="381357" cy="381357"/>
          </a:xfrm>
          <a:prstGeom prst="rect">
            <a:avLst/>
          </a:prstGeom>
        </p:spPr>
      </p:pic>
      <p:sp>
        <p:nvSpPr>
          <p:cNvPr id="17" name="Text 11"/>
          <p:cNvSpPr/>
          <p:nvPr/>
        </p:nvSpPr>
        <p:spPr>
          <a:xfrm>
            <a:off x="10198418" y="5882739"/>
            <a:ext cx="1588889" cy="198596"/>
          </a:xfrm>
          <a:prstGeom prst="rect">
            <a:avLst/>
          </a:prstGeom>
          <a:noFill/>
          <a:ln/>
        </p:spPr>
        <p:txBody>
          <a:bodyPr wrap="none" lIns="0" tIns="0" rIns="0" bIns="0" rtlCol="0" anchor="t"/>
          <a:lstStyle/>
          <a:p>
            <a:pPr marL="0" indent="0" algn="l">
              <a:lnSpc>
                <a:spcPts val="1550"/>
              </a:lnSpc>
              <a:buNone/>
            </a:pPr>
            <a:r>
              <a:rPr lang="en-US" dirty="0">
                <a:latin typeface="Times New Roman" panose="02020603050405020304" pitchFamily="18" charset="0"/>
                <a:ea typeface="Instrument Sans Semi Bold" pitchFamily="34" charset="-122"/>
                <a:cs typeface="Times New Roman" panose="02020603050405020304" pitchFamily="18" charset="0"/>
              </a:rPr>
              <a:t>Generative AI (LLM)</a:t>
            </a:r>
            <a:endParaRPr lang="en-US" dirty="0">
              <a:latin typeface="Times New Roman" panose="02020603050405020304" pitchFamily="18" charset="0"/>
              <a:cs typeface="Times New Roman" panose="02020603050405020304" pitchFamily="18" charset="0"/>
            </a:endParaRPr>
          </a:p>
        </p:txBody>
      </p:sp>
      <p:sp>
        <p:nvSpPr>
          <p:cNvPr id="18" name="Text 12"/>
          <p:cNvSpPr/>
          <p:nvPr/>
        </p:nvSpPr>
        <p:spPr>
          <a:xfrm>
            <a:off x="10198418" y="6345678"/>
            <a:ext cx="4065100" cy="406718"/>
          </a:xfrm>
          <a:prstGeom prst="rect">
            <a:avLst/>
          </a:prstGeom>
          <a:noFill/>
          <a:ln/>
        </p:spPr>
        <p:txBody>
          <a:bodyPr wrap="square" lIns="0" tIns="0" rIns="0" bIns="0" rtlCol="0" anchor="t"/>
          <a:lstStyle/>
          <a:p>
            <a:pPr marL="0" indent="0" algn="l">
              <a:lnSpc>
                <a:spcPct val="150000"/>
              </a:lnSpc>
              <a:buNone/>
            </a:pPr>
            <a:r>
              <a:rPr lang="en-US" dirty="0">
                <a:latin typeface="Times New Roman" panose="02020603050405020304" pitchFamily="18" charset="0"/>
                <a:ea typeface="Instrument Sans Medium" pitchFamily="34" charset="-122"/>
                <a:cs typeface="Times New Roman" panose="02020603050405020304" pitchFamily="18" charset="0"/>
              </a:rPr>
              <a:t>Ứng dụng mô hình ngôn ngữ lớn để tạo chatbot tương tác thân thiện, cung cấp phản hồi thông minh và lời khuyên sức khỏe.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8538" y="473273"/>
            <a:ext cx="9237345" cy="537924"/>
          </a:xfrm>
          <a:prstGeom prst="rect">
            <a:avLst/>
          </a:prstGeom>
          <a:noFill/>
          <a:ln/>
        </p:spPr>
        <p:txBody>
          <a:bodyPr wrap="none" lIns="0" tIns="0" rIns="0" bIns="0" rtlCol="0" anchor="t"/>
          <a:lstStyle/>
          <a:p>
            <a:pPr marL="0" indent="0" algn="l">
              <a:lnSpc>
                <a:spcPts val="420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CẤU TRÚC THƯ MỤC VÀ LUỒNG HOẠT ĐỘNG</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88538" y="1441371"/>
            <a:ext cx="2959418" cy="322778"/>
          </a:xfrm>
          <a:prstGeom prst="rect">
            <a:avLst/>
          </a:prstGeom>
          <a:noFill/>
          <a:ln/>
        </p:spPr>
        <p:txBody>
          <a:bodyPr wrap="none" lIns="0" tIns="0" rIns="0" bIns="0" rtlCol="0" anchor="t"/>
          <a:lstStyle/>
          <a:p>
            <a:pPr marL="0" indent="0" algn="l">
              <a:lnSpc>
                <a:spcPts val="2500"/>
              </a:lnSpc>
              <a:buNone/>
            </a:pPr>
            <a:r>
              <a:rPr lang="en-US" sz="2000" dirty="0">
                <a:latin typeface="Times New Roman" panose="02020603050405020304" pitchFamily="18" charset="0"/>
                <a:ea typeface="Instrument Sans Semi Bold" pitchFamily="34" charset="-122"/>
                <a:cs typeface="Times New Roman" panose="02020603050405020304" pitchFamily="18" charset="0"/>
              </a:rPr>
              <a:t>Cấu trúc Thư </a:t>
            </a:r>
            <a:r>
              <a:rPr lang="en-US" sz="2000" dirty="0" err="1">
                <a:latin typeface="Times New Roman" panose="02020603050405020304" pitchFamily="18" charset="0"/>
                <a:ea typeface="Instrument Sans Semi Bold" pitchFamily="34" charset="-122"/>
                <a:cs typeface="Times New Roman" panose="02020603050405020304" pitchFamily="18" charset="0"/>
              </a:rPr>
              <a:t>mục</a:t>
            </a:r>
            <a:r>
              <a:rPr lang="en-US" sz="2000" dirty="0">
                <a:latin typeface="Times New Roman" panose="02020603050405020304" pitchFamily="18" charset="0"/>
                <a:ea typeface="Instrument Sans Semi Bold" pitchFamily="34" charset="-122"/>
                <a:cs typeface="Times New Roman" panose="02020603050405020304" pitchFamily="18" charset="0"/>
              </a:rPr>
              <a:t> </a:t>
            </a:r>
            <a:r>
              <a:rPr lang="en-US" sz="2000" dirty="0" err="1">
                <a:latin typeface="Times New Roman" panose="02020603050405020304" pitchFamily="18" charset="0"/>
                <a:ea typeface="Instrument Sans Semi Bold" pitchFamily="34" charset="-122"/>
                <a:cs typeface="Times New Roman" panose="02020603050405020304" pitchFamily="18" charset="0"/>
              </a:rPr>
              <a:t>chính</a:t>
            </a:r>
            <a:endParaRPr lang="en-US" sz="2000" dirty="0">
              <a:latin typeface="Times New Roman" panose="02020603050405020304" pitchFamily="18" charset="0"/>
              <a:cs typeface="Times New Roman" panose="02020603050405020304" pitchFamily="18" charset="0"/>
            </a:endParaRPr>
          </a:p>
        </p:txBody>
      </p:sp>
      <p:sp>
        <p:nvSpPr>
          <p:cNvPr id="4" name="Shape 2"/>
          <p:cNvSpPr/>
          <p:nvPr/>
        </p:nvSpPr>
        <p:spPr>
          <a:xfrm>
            <a:off x="688538" y="1957745"/>
            <a:ext cx="5049441" cy="5967055"/>
          </a:xfrm>
          <a:prstGeom prst="roundRect">
            <a:avLst>
              <a:gd name="adj" fmla="val 3321"/>
            </a:avLst>
          </a:prstGeom>
          <a:solidFill>
            <a:srgbClr val="F2F2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852011" y="2086808"/>
            <a:ext cx="4722495" cy="4406265"/>
          </a:xfrm>
          <a:prstGeom prst="rect">
            <a:avLst/>
          </a:prstGeom>
          <a:noFill/>
          <a:ln/>
        </p:spPr>
        <p:txBody>
          <a:bodyPr wrap="square" lIns="0" tIns="0" rIns="0" bIns="0" rtlCol="0" anchor="t"/>
          <a:lstStyle/>
          <a:p>
            <a:pPr marL="0" indent="0" algn="l">
              <a:lnSpc>
                <a:spcPts val="2150"/>
              </a:lnSpc>
              <a:buNone/>
            </a:pP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6165413" y="1441371"/>
            <a:ext cx="3517583" cy="322778"/>
          </a:xfrm>
          <a:prstGeom prst="rect">
            <a:avLst/>
          </a:prstGeom>
          <a:noFill/>
          <a:ln/>
        </p:spPr>
        <p:txBody>
          <a:bodyPr wrap="none" lIns="0" tIns="0" rIns="0" bIns="0" rtlCol="0" anchor="t"/>
          <a:lstStyle/>
          <a:p>
            <a:pPr marL="0" indent="0" algn="l">
              <a:lnSpc>
                <a:spcPts val="2500"/>
              </a:lnSpc>
              <a:buNone/>
            </a:pPr>
            <a:r>
              <a:rPr lang="en-US" sz="2000" dirty="0">
                <a:latin typeface="Times New Roman" panose="02020603050405020304" pitchFamily="18" charset="0"/>
                <a:ea typeface="Instrument Sans Semi Bold" pitchFamily="34" charset="-122"/>
                <a:cs typeface="Times New Roman" panose="02020603050405020304" pitchFamily="18" charset="0"/>
              </a:rPr>
              <a:t>Luồng Hoạt động (Workflow)</a:t>
            </a:r>
            <a:endParaRPr lang="en-US" sz="2000" dirty="0">
              <a:latin typeface="Times New Roman" panose="02020603050405020304" pitchFamily="18" charset="0"/>
              <a:cs typeface="Times New Roman" panose="02020603050405020304" pitchFamily="18" charset="0"/>
            </a:endParaRPr>
          </a:p>
        </p:txBody>
      </p:sp>
      <p:pic>
        <p:nvPicPr>
          <p:cNvPr id="8" name="Image 0" descr="preencoded.png"/>
          <p:cNvPicPr>
            <a:picLocks noChangeAspect="1"/>
          </p:cNvPicPr>
          <p:nvPr/>
        </p:nvPicPr>
        <p:blipFill>
          <a:blip r:embed="rId3"/>
          <a:stretch>
            <a:fillRect/>
          </a:stretch>
        </p:blipFill>
        <p:spPr>
          <a:xfrm>
            <a:off x="6165413" y="1957745"/>
            <a:ext cx="516374" cy="1143000"/>
          </a:xfrm>
          <a:prstGeom prst="rect">
            <a:avLst/>
          </a:prstGeom>
        </p:spPr>
      </p:pic>
      <p:sp>
        <p:nvSpPr>
          <p:cNvPr id="9" name="Text 6"/>
          <p:cNvSpPr/>
          <p:nvPr/>
        </p:nvSpPr>
        <p:spPr>
          <a:xfrm>
            <a:off x="6853833" y="2129790"/>
            <a:ext cx="2418993"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1: Thu thập Dữ liệu</a:t>
            </a: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6853833" y="2570678"/>
            <a:ext cx="7095649" cy="290632"/>
          </a:xfrm>
          <a:prstGeom prst="rect">
            <a:avLst/>
          </a:prstGeom>
          <a:noFill/>
          <a:ln/>
        </p:spPr>
        <p:txBody>
          <a:bodyPr wrap="none" lIns="0" tIns="0" rIns="0" bIns="0" rtlCol="0" anchor="t"/>
          <a:lstStyle/>
          <a:p>
            <a:pPr marL="0" indent="0" algn="l">
              <a:lnSpc>
                <a:spcPts val="2150"/>
              </a:lnSpc>
              <a:buNone/>
            </a:pPr>
            <a:r>
              <a:rPr lang="en-US" dirty="0" err="1">
                <a:latin typeface="Times New Roman" panose="02020603050405020304" pitchFamily="18" charset="0"/>
                <a:ea typeface="Instrument Sans Medium" pitchFamily="34" charset="-122"/>
                <a:cs typeface="Times New Roman" panose="02020603050405020304" pitchFamily="18" charset="0"/>
              </a:rPr>
              <a:t>Chạy</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collector.py</a:t>
            </a:r>
            <a:r>
              <a:rPr lang="en-US" dirty="0">
                <a:latin typeface="Times New Roman" panose="02020603050405020304" pitchFamily="18" charset="0"/>
                <a:ea typeface="Instrument Sans Medium" pitchFamily="34" charset="-122"/>
                <a:cs typeface="Times New Roman" panose="02020603050405020304" pitchFamily="18" charset="0"/>
              </a:rPr>
              <a:t> → gọi API OpenWeather → lưu dữ liệu AQI thực tế </a:t>
            </a:r>
            <a:r>
              <a:rPr lang="en-US" dirty="0" err="1">
                <a:latin typeface="Times New Roman" panose="02020603050405020304" pitchFamily="18" charset="0"/>
                <a:ea typeface="Instrument Sans Medium" pitchFamily="34" charset="-122"/>
                <a:cs typeface="Times New Roman" panose="02020603050405020304" pitchFamily="18" charset="0"/>
              </a:rPr>
              <a:t>vào</a:t>
            </a:r>
            <a:r>
              <a:rPr lang="en-US" dirty="0">
                <a:latin typeface="Times New Roman" panose="02020603050405020304" pitchFamily="18" charset="0"/>
                <a:ea typeface="Instrument Sans Medium" pitchFamily="34" charset="-122"/>
                <a:cs typeface="Times New Roman" panose="02020603050405020304" pitchFamily="18" charset="0"/>
              </a:rPr>
              <a:t> </a:t>
            </a:r>
          </a:p>
          <a:p>
            <a:pPr marL="0" indent="0" algn="l">
              <a:lnSpc>
                <a:spcPts val="2150"/>
              </a:lnSpc>
              <a:buNone/>
            </a:pPr>
            <a:r>
              <a:rPr lang="en-US" dirty="0">
                <a:highlight>
                  <a:srgbClr val="F2F2F2"/>
                </a:highlight>
                <a:latin typeface="Times New Roman" panose="02020603050405020304" pitchFamily="18" charset="0"/>
                <a:ea typeface="Consolas" pitchFamily="34" charset="-122"/>
                <a:cs typeface="Times New Roman" panose="02020603050405020304" pitchFamily="18" charset="0"/>
              </a:rPr>
              <a:t>air_data.csv</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4"/>
          <a:stretch>
            <a:fillRect/>
          </a:stretch>
        </p:blipFill>
        <p:spPr>
          <a:xfrm>
            <a:off x="6423541" y="3205401"/>
            <a:ext cx="516374" cy="1143000"/>
          </a:xfrm>
          <a:prstGeom prst="rect">
            <a:avLst/>
          </a:prstGeom>
        </p:spPr>
      </p:pic>
      <p:sp>
        <p:nvSpPr>
          <p:cNvPr id="12" name="Text 8"/>
          <p:cNvSpPr/>
          <p:nvPr/>
        </p:nvSpPr>
        <p:spPr>
          <a:xfrm>
            <a:off x="7111960" y="3377446"/>
            <a:ext cx="2772013"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2: Huấn luyện Mô hình</a:t>
            </a:r>
            <a:endParaRPr lang="en-US" dirty="0">
              <a:latin typeface="Times New Roman" panose="02020603050405020304" pitchFamily="18" charset="0"/>
              <a:cs typeface="Times New Roman" panose="02020603050405020304" pitchFamily="18" charset="0"/>
            </a:endParaRPr>
          </a:p>
        </p:txBody>
      </p:sp>
      <p:sp>
        <p:nvSpPr>
          <p:cNvPr id="13" name="Text 9"/>
          <p:cNvSpPr/>
          <p:nvPr/>
        </p:nvSpPr>
        <p:spPr>
          <a:xfrm>
            <a:off x="7111960" y="3818334"/>
            <a:ext cx="6837521" cy="581263"/>
          </a:xfrm>
          <a:prstGeom prst="rect">
            <a:avLst/>
          </a:prstGeom>
          <a:noFill/>
          <a:ln/>
        </p:spPr>
        <p:txBody>
          <a:bodyPr wrap="squar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Chạy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train_model.py</a:t>
            </a:r>
            <a:r>
              <a:rPr lang="en-US" dirty="0">
                <a:latin typeface="Times New Roman" panose="02020603050405020304" pitchFamily="18" charset="0"/>
                <a:ea typeface="Instrument Sans Medium" pitchFamily="34" charset="-122"/>
                <a:cs typeface="Times New Roman" panose="02020603050405020304" pitchFamily="18" charset="0"/>
              </a:rPr>
              <a:t> → làm sạch dữ liệu, chia train/test → huấn luyện mô hình LightGBM → xuất 3 model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.pkl</a:t>
            </a:r>
            <a:r>
              <a:rPr lang="en-US" dirty="0">
                <a:latin typeface="Times New Roman" panose="02020603050405020304" pitchFamily="18" charset="0"/>
                <a:ea typeface="Instrument Sans Medium" pitchFamily="34" charset="-122"/>
                <a:cs typeface="Times New Roman" panose="02020603050405020304" pitchFamily="18" charset="0"/>
              </a:rPr>
              <a:t> (1h, 3h, 6h).</a:t>
            </a:r>
            <a:endParaRPr lang="en-US" dirty="0">
              <a:latin typeface="Times New Roman" panose="02020603050405020304" pitchFamily="18" charset="0"/>
              <a:cs typeface="Times New Roman" panose="02020603050405020304" pitchFamily="18" charset="0"/>
            </a:endParaRPr>
          </a:p>
        </p:txBody>
      </p:sp>
      <p:pic>
        <p:nvPicPr>
          <p:cNvPr id="14" name="Image 2" descr="preencoded.png"/>
          <p:cNvPicPr>
            <a:picLocks noChangeAspect="1"/>
          </p:cNvPicPr>
          <p:nvPr/>
        </p:nvPicPr>
        <p:blipFill>
          <a:blip r:embed="rId5"/>
          <a:stretch>
            <a:fillRect/>
          </a:stretch>
        </p:blipFill>
        <p:spPr>
          <a:xfrm>
            <a:off x="6681787" y="4743688"/>
            <a:ext cx="516374" cy="1143000"/>
          </a:xfrm>
          <a:prstGeom prst="rect">
            <a:avLst/>
          </a:prstGeom>
        </p:spPr>
      </p:pic>
      <p:sp>
        <p:nvSpPr>
          <p:cNvPr id="15" name="Text 10"/>
          <p:cNvSpPr/>
          <p:nvPr/>
        </p:nvSpPr>
        <p:spPr>
          <a:xfrm>
            <a:off x="7370207" y="4915733"/>
            <a:ext cx="3065383"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3: Triển khai Ứng dụng AI</a:t>
            </a:r>
            <a:endParaRPr lang="en-US" dirty="0">
              <a:latin typeface="Times New Roman" panose="02020603050405020304" pitchFamily="18" charset="0"/>
              <a:cs typeface="Times New Roman" panose="02020603050405020304" pitchFamily="18" charset="0"/>
            </a:endParaRPr>
          </a:p>
        </p:txBody>
      </p:sp>
      <p:sp>
        <p:nvSpPr>
          <p:cNvPr id="16" name="Text 11"/>
          <p:cNvSpPr/>
          <p:nvPr/>
        </p:nvSpPr>
        <p:spPr>
          <a:xfrm>
            <a:off x="7370207" y="5356622"/>
            <a:ext cx="6579275" cy="550783"/>
          </a:xfrm>
          <a:prstGeom prst="rect">
            <a:avLst/>
          </a:prstGeom>
          <a:noFill/>
          <a:ln/>
        </p:spPr>
        <p:txBody>
          <a:bodyPr wrap="squar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Nhận đầu vào từ người dùng (vị trí, bệnh lý) → tải mô hình đã huấn luyện → trả về kết quả dự đoán AQI.</a:t>
            </a:r>
            <a:endParaRPr lang="en-US" dirty="0">
              <a:latin typeface="Times New Roman" panose="02020603050405020304" pitchFamily="18" charset="0"/>
              <a:cs typeface="Times New Roman" panose="02020603050405020304" pitchFamily="18" charset="0"/>
            </a:endParaRPr>
          </a:p>
        </p:txBody>
      </p:sp>
      <p:pic>
        <p:nvPicPr>
          <p:cNvPr id="17" name="Image 3" descr="preencoded.png"/>
          <p:cNvPicPr>
            <a:picLocks noChangeAspect="1"/>
          </p:cNvPicPr>
          <p:nvPr/>
        </p:nvPicPr>
        <p:blipFill>
          <a:blip r:embed="rId5"/>
          <a:stretch>
            <a:fillRect/>
          </a:stretch>
        </p:blipFill>
        <p:spPr>
          <a:xfrm>
            <a:off x="6940034" y="6251496"/>
            <a:ext cx="516374" cy="1143000"/>
          </a:xfrm>
          <a:prstGeom prst="rect">
            <a:avLst/>
          </a:prstGeom>
        </p:spPr>
      </p:pic>
      <p:sp>
        <p:nvSpPr>
          <p:cNvPr id="18" name="Text 12"/>
          <p:cNvSpPr/>
          <p:nvPr/>
        </p:nvSpPr>
        <p:spPr>
          <a:xfrm>
            <a:off x="7628453" y="6423541"/>
            <a:ext cx="2792135"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4: Hiển thị &amp; Cảnh báo</a:t>
            </a:r>
            <a:endParaRPr lang="en-US" dirty="0">
              <a:latin typeface="Times New Roman" panose="02020603050405020304" pitchFamily="18" charset="0"/>
              <a:cs typeface="Times New Roman" panose="02020603050405020304" pitchFamily="18" charset="0"/>
            </a:endParaRPr>
          </a:p>
        </p:txBody>
      </p:sp>
      <p:sp>
        <p:nvSpPr>
          <p:cNvPr id="19" name="Text 13"/>
          <p:cNvSpPr/>
          <p:nvPr/>
        </p:nvSpPr>
        <p:spPr>
          <a:xfrm>
            <a:off x="7628453" y="6864429"/>
            <a:ext cx="6321028" cy="550783"/>
          </a:xfrm>
          <a:prstGeom prst="rect">
            <a:avLst/>
          </a:prstGeom>
          <a:noFill/>
          <a:ln/>
        </p:spPr>
        <p:txBody>
          <a:bodyPr wrap="squar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Hiển thị biểu đồ dự đoán AQI, cảnh báo sức khỏe theo mức AQI, và chatbot hỗ trợ hỏi đáp.</a:t>
            </a:r>
            <a:endParaRPr lang="en-US"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F44955E2-D836-7485-5C40-DFDF5C2AEF4F}"/>
              </a:ext>
            </a:extLst>
          </p:cNvPr>
          <p:cNvSpPr txBox="1"/>
          <p:nvPr/>
        </p:nvSpPr>
        <p:spPr>
          <a:xfrm>
            <a:off x="852011" y="2007268"/>
            <a:ext cx="4722495" cy="6192080"/>
          </a:xfrm>
          <a:prstGeom prst="rect">
            <a:avLst/>
          </a:prstGeom>
          <a:noFill/>
        </p:spPr>
        <p:txBody>
          <a:bodyPr wrap="square" rtlCol="0">
            <a:spAutoFit/>
          </a:bodyPr>
          <a:lstStyle/>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AIRCARE/</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.venv312/</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data/</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raw/</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air_data.csv</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models/</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aqi_model_1h.pkl</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effectLst/>
                <a:latin typeface="Times New Roman" panose="02020603050405020304" pitchFamily="18" charset="0"/>
                <a:ea typeface="Aptos" panose="020B0004020202020204" pitchFamily="34" charset="0"/>
                <a:cs typeface="Times New Roman" panose="02020603050405020304" pitchFamily="18" charset="0"/>
              </a:rPr>
              <a:t>src</a:t>
            </a:r>
            <a:r>
              <a:rPr lang="en-US" sz="1600" dirty="0">
                <a:effectLst/>
                <a:latin typeface="Times New Roman" panose="02020603050405020304" pitchFamily="18" charset="0"/>
                <a:ea typeface="Aptos" panose="020B0004020202020204" pitchFamily="34" charset="0"/>
                <a:cs typeface="Times New Roman" panose="02020603050405020304" pitchFamily="18" charset="0"/>
              </a:rPr>
              <a:t>/</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data/</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 collector.py</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models/</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 train_model.py</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run/</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app.py</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50250"/>
            <a:ext cx="7206496"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DỮ LIỆU: NGUỒN VÀ ĐẶC ĐIỂM</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067163"/>
            <a:ext cx="13042821"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Dữ liệu được thu thập từ OpenWeatherMap API, cung cấp thông tin thời tiết và chất lượng không khí theo thời gian thực tại Hà Nội (mặc định).</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93790" y="2607945"/>
            <a:ext cx="13042821" cy="3187303"/>
          </a:xfrm>
          <a:prstGeom prst="roundRect">
            <a:avLst>
              <a:gd name="adj" fmla="val 5604"/>
            </a:avLst>
          </a:prstGeom>
          <a:noFill/>
          <a:ln w="7620">
            <a:solidFill>
              <a:srgbClr val="000000">
                <a:alpha val="8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801410" y="2615565"/>
            <a:ext cx="13027581" cy="570905"/>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1000125" y="2742248"/>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timestamp</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609380" y="2742248"/>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Datetime</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563433" y="2742248"/>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N/A</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866096" y="2742248"/>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Thời điểm ghi nhận dữ liệu.</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801410" y="3186470"/>
            <a:ext cx="13027581" cy="570905"/>
          </a:xfrm>
          <a:prstGeom prst="rect">
            <a:avLst/>
          </a:prstGeom>
          <a:solidFill>
            <a:srgbClr val="000000">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1000125" y="3313152"/>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pm2_5, pm10</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3609380" y="3313152"/>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Float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5563433" y="3313152"/>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µg/m³</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6866096" y="3313152"/>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Nồng độ bụi mịn và bụi thô, gây hại cho hô hấp.</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a:off x="801410" y="3757374"/>
            <a:ext cx="13027581" cy="888444"/>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4"/>
          <p:cNvSpPr/>
          <p:nvPr/>
        </p:nvSpPr>
        <p:spPr>
          <a:xfrm>
            <a:off x="1000125" y="3884057"/>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no2, co, o3, so2</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3609380" y="3884057"/>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Float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5563433" y="3884057"/>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µg/m³</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866096" y="3884057"/>
            <a:ext cx="6764536"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Các khí gây ô nhiễm chính (Nitơ Dioxit, Carbon Monoxit, Ozon, Lưu huỳnh Dioxit).</a:t>
            </a:r>
            <a:endParaRPr lang="en-US" dirty="0">
              <a:latin typeface="Times New Roman" panose="02020603050405020304" pitchFamily="18" charset="0"/>
              <a:cs typeface="Times New Roman" panose="02020603050405020304" pitchFamily="18" charset="0"/>
            </a:endParaRPr>
          </a:p>
        </p:txBody>
      </p:sp>
      <p:sp>
        <p:nvSpPr>
          <p:cNvPr id="20" name="Shape 18"/>
          <p:cNvSpPr/>
          <p:nvPr/>
        </p:nvSpPr>
        <p:spPr>
          <a:xfrm>
            <a:off x="801410" y="4645819"/>
            <a:ext cx="13027581" cy="570905"/>
          </a:xfrm>
          <a:prstGeom prst="rect">
            <a:avLst/>
          </a:prstGeom>
          <a:solidFill>
            <a:srgbClr val="000000">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1000125" y="4772501"/>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temp, humidity</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3609380" y="4772501"/>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Float/Integer</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5563433" y="4772501"/>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 / %</a:t>
            </a: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6866096" y="4772501"/>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Nhiệt độ và độ ẩm không khí hiện tại.</a:t>
            </a:r>
            <a:endParaRPr lang="en-US" dirty="0">
              <a:latin typeface="Times New Roman" panose="02020603050405020304" pitchFamily="18" charset="0"/>
              <a:cs typeface="Times New Roman" panose="02020603050405020304" pitchFamily="18" charset="0"/>
            </a:endParaRPr>
          </a:p>
        </p:txBody>
      </p:sp>
      <p:sp>
        <p:nvSpPr>
          <p:cNvPr id="25" name="Shape 23"/>
          <p:cNvSpPr/>
          <p:nvPr/>
        </p:nvSpPr>
        <p:spPr>
          <a:xfrm>
            <a:off x="801410" y="5216723"/>
            <a:ext cx="13027581" cy="570905"/>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6" name="Text 24"/>
          <p:cNvSpPr/>
          <p:nvPr/>
        </p:nvSpPr>
        <p:spPr>
          <a:xfrm>
            <a:off x="1000125" y="5343406"/>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aqi</a:t>
            </a:r>
            <a:endParaRPr lang="en-US" dirty="0">
              <a:latin typeface="Times New Roman" panose="02020603050405020304" pitchFamily="18" charset="0"/>
              <a:cs typeface="Times New Roman" panose="02020603050405020304" pitchFamily="18" charset="0"/>
            </a:endParaRPr>
          </a:p>
        </p:txBody>
      </p:sp>
      <p:sp>
        <p:nvSpPr>
          <p:cNvPr id="27" name="Text 25"/>
          <p:cNvSpPr/>
          <p:nvPr/>
        </p:nvSpPr>
        <p:spPr>
          <a:xfrm>
            <a:off x="3609380" y="5343406"/>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Integer</a:t>
            </a:r>
            <a:endParaRPr lang="en-US" dirty="0">
              <a:latin typeface="Times New Roman" panose="02020603050405020304" pitchFamily="18" charset="0"/>
              <a:cs typeface="Times New Roman" panose="02020603050405020304" pitchFamily="18" charset="0"/>
            </a:endParaRPr>
          </a:p>
        </p:txBody>
      </p:sp>
      <p:sp>
        <p:nvSpPr>
          <p:cNvPr id="28" name="Text 26"/>
          <p:cNvSpPr/>
          <p:nvPr/>
        </p:nvSpPr>
        <p:spPr>
          <a:xfrm>
            <a:off x="5563433" y="5343406"/>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0–500</a:t>
            </a:r>
            <a:endParaRPr lang="en-US" dirty="0">
              <a:latin typeface="Times New Roman" panose="02020603050405020304" pitchFamily="18" charset="0"/>
              <a:cs typeface="Times New Roman" panose="02020603050405020304" pitchFamily="18" charset="0"/>
            </a:endParaRPr>
          </a:p>
        </p:txBody>
      </p:sp>
      <p:sp>
        <p:nvSpPr>
          <p:cNvPr id="29" name="Text 27"/>
          <p:cNvSpPr/>
          <p:nvPr/>
        </p:nvSpPr>
        <p:spPr>
          <a:xfrm>
            <a:off x="6866096" y="5343406"/>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Chỉ số chất lượng không khí (mục tiêu dự đoán).</a:t>
            </a:r>
            <a:endParaRPr lang="en-US" dirty="0">
              <a:latin typeface="Times New Roman" panose="02020603050405020304" pitchFamily="18" charset="0"/>
              <a:cs typeface="Times New Roman" panose="02020603050405020304" pitchFamily="18" charset="0"/>
            </a:endParaRPr>
          </a:p>
        </p:txBody>
      </p:sp>
      <p:sp>
        <p:nvSpPr>
          <p:cNvPr id="30" name="Shape 28"/>
          <p:cNvSpPr/>
          <p:nvPr/>
        </p:nvSpPr>
        <p:spPr>
          <a:xfrm>
            <a:off x="793790" y="6018490"/>
            <a:ext cx="13042821" cy="1160740"/>
          </a:xfrm>
          <a:prstGeom prst="roundRect">
            <a:avLst>
              <a:gd name="adj" fmla="val 15389"/>
            </a:avLst>
          </a:prstGeom>
          <a:solidFill>
            <a:srgbClr val="B5DAFC"/>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31" name="Image 0" descr="preencoded.png"/>
          <p:cNvPicPr>
            <a:picLocks noChangeAspect="1"/>
          </p:cNvPicPr>
          <p:nvPr/>
        </p:nvPicPr>
        <p:blipFill>
          <a:blip r:embed="rId3"/>
          <a:stretch>
            <a:fillRect/>
          </a:stretch>
        </p:blipFill>
        <p:spPr>
          <a:xfrm>
            <a:off x="992148" y="6313765"/>
            <a:ext cx="248007" cy="198358"/>
          </a:xfrm>
          <a:prstGeom prst="rect">
            <a:avLst/>
          </a:prstGeom>
        </p:spPr>
      </p:pic>
      <p:sp>
        <p:nvSpPr>
          <p:cNvPr id="32" name="Text 29"/>
          <p:cNvSpPr/>
          <p:nvPr/>
        </p:nvSpPr>
        <p:spPr>
          <a:xfrm>
            <a:off x="1438513" y="6266378"/>
            <a:ext cx="12199739"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Mục tiêu sử dụng dữ liệu: Huấn luyện mô hình dự đoán AQI theo thời gian, đánh giá tương quan giữa các yếu tố ô nhiễm và thời tiết, và sinh phản hồi thông minh cho chatbot.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54004"/>
            <a:ext cx="9370576"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THUẬT TOÁN VÀ MÔ HÌNH HUẤN LUYỆN</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570917"/>
            <a:ext cx="13042821"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sử dụng mô </a:t>
            </a:r>
            <a:r>
              <a:rPr lang="en-US" dirty="0" err="1">
                <a:latin typeface="Times New Roman" panose="02020603050405020304" pitchFamily="18" charset="0"/>
                <a:ea typeface="Instrument Sans Medium" pitchFamily="34" charset="-122"/>
                <a:cs typeface="Times New Roman" panose="02020603050405020304" pitchFamily="18" charset="0"/>
              </a:rPr>
              <a:t>hình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sz="1800" dirty="0">
                <a:latin typeface="Times New Roman" panose="02020603050405020304" pitchFamily="18" charset="0"/>
                <a:ea typeface="Instrument Sans Semi Bold" pitchFamily="34" charset="-122"/>
                <a:cs typeface="Times New Roman" panose="02020603050405020304" pitchFamily="18" charset="0"/>
              </a:rPr>
              <a:t>LIGHTGBM, </a:t>
            </a:r>
            <a:r>
              <a:rPr lang="en-US" sz="1800" dirty="0" err="1">
                <a:latin typeface="Times New Roman" panose="02020603050405020304" pitchFamily="18" charset="0"/>
                <a:ea typeface="Instrument Sans Semi Bold" pitchFamily="34" charset="-122"/>
                <a:cs typeface="Times New Roman" panose="02020603050405020304" pitchFamily="18" charset="0"/>
              </a:rPr>
              <a:t>dạn</a:t>
            </a:r>
            <a:r>
              <a:rPr lang="en-US" dirty="0" err="1">
                <a:latin typeface="Times New Roman" panose="02020603050405020304" pitchFamily="18" charset="0"/>
                <a:ea typeface="Instrument Sans Semi Bold" pitchFamily="34" charset="-122"/>
                <a:cs typeface="Times New Roman" panose="02020603050405020304" pitchFamily="18" charset="0"/>
              </a:rPr>
              <a:t>g</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bài</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hồi</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quy</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để</a:t>
            </a:r>
            <a:r>
              <a:rPr lang="en-US" dirty="0">
                <a:latin typeface="Times New Roman" panose="02020603050405020304" pitchFamily="18" charset="0"/>
                <a:ea typeface="Instrument Sans Medium" pitchFamily="34" charset="-122"/>
                <a:cs typeface="Times New Roman" panose="02020603050405020304" pitchFamily="18" charset="0"/>
              </a:rPr>
              <a:t> dự đoán chỉ số AQI (0-500).</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93790" y="3111698"/>
            <a:ext cx="6422231" cy="3563779"/>
          </a:xfrm>
          <a:prstGeom prst="roundRect">
            <a:avLst>
              <a:gd name="adj" fmla="val 3079"/>
            </a:avLst>
          </a:prstGeom>
          <a:solidFill>
            <a:srgbClr val="FFFFFF"/>
          </a:solidFill>
          <a:ln w="22860">
            <a:solidFill>
              <a:srgbClr val="B4CCE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770930" y="3111698"/>
            <a:ext cx="91440" cy="3563779"/>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1083588" y="3332917"/>
            <a:ext cx="5911215" cy="744141"/>
          </a:xfrm>
          <a:prstGeom prst="rect">
            <a:avLst/>
          </a:prstGeom>
          <a:noFill/>
          <a:ln/>
        </p:spPr>
        <p:txBody>
          <a:bodyPr wrap="squar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LightGBM (Light Gradient Boosting Machine)</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1083588" y="4196120"/>
            <a:ext cx="5911215"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Đây là thuật toán Boosting dạng cây quyết định, được phát triển bởi Microsoft. LightGBM xây dựng nhiều cây yếu theo chuỗi, mỗi cây học từ sai số của các cây trước đó, giúp tăng tốc độ huấn luyện và hiệu suất so với các thuật toán Boosting khác.</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7414379" y="3111698"/>
            <a:ext cx="6422231" cy="3563779"/>
          </a:xfrm>
          <a:prstGeom prst="roundRect">
            <a:avLst>
              <a:gd name="adj" fmla="val 3079"/>
            </a:avLst>
          </a:prstGeom>
          <a:solidFill>
            <a:srgbClr val="FFFFFF"/>
          </a:solidFill>
          <a:ln w="22860">
            <a:solidFill>
              <a:srgbClr val="B4CCE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7391519" y="3111698"/>
            <a:ext cx="91440" cy="3563779"/>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Text 8"/>
          <p:cNvSpPr/>
          <p:nvPr/>
        </p:nvSpPr>
        <p:spPr>
          <a:xfrm>
            <a:off x="7704177" y="3332917"/>
            <a:ext cx="3990499" cy="372070"/>
          </a:xfrm>
          <a:prstGeom prst="rect">
            <a:avLst/>
          </a:prstGeom>
          <a:noFill/>
          <a:ln/>
        </p:spPr>
        <p:txBody>
          <a:bodyPr wrap="non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Cấu trúc Mô </a:t>
            </a:r>
            <a:r>
              <a:rPr lang="en-US" dirty="0" err="1">
                <a:latin typeface="Times New Roman" panose="02020603050405020304" pitchFamily="18" charset="0"/>
                <a:ea typeface="Instrument Sans Semi Bold" pitchFamily="34" charset="-122"/>
                <a:cs typeface="Times New Roman" panose="02020603050405020304" pitchFamily="18" charset="0"/>
              </a:rPr>
              <a:t>hình</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huấn</a:t>
            </a:r>
            <a:r>
              <a:rPr lang="en-US" dirty="0">
                <a:latin typeface="Times New Roman" panose="02020603050405020304" pitchFamily="18" charset="0"/>
                <a:ea typeface="Instrument Sans Semi Bold" pitchFamily="34" charset="-122"/>
                <a:cs typeface="Times New Roman" panose="02020603050405020304" pitchFamily="18" charset="0"/>
              </a:rPr>
              <a:t> luyện</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7704177" y="3824049"/>
            <a:ext cx="5911215" cy="9678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Mã nguồn huấn luyện nằm trong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src/models/train_model.py</a:t>
            </a:r>
            <a:r>
              <a:rPr lang="en-US" dirty="0">
                <a:latin typeface="Times New Roman" panose="02020603050405020304" pitchFamily="18" charset="0"/>
                <a:ea typeface="Instrument Sans Medium" pitchFamily="34" charset="-122"/>
                <a:cs typeface="Times New Roman" panose="02020603050405020304" pitchFamily="18" charset="0"/>
              </a:rPr>
              <a:t>. Mô hình được huấn luyện tự động cho 3 mốc thời gian dự báo riêng biệt: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704177" y="4910971"/>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dirty="0">
                <a:latin typeface="Times New Roman" panose="02020603050405020304" pitchFamily="18" charset="0"/>
                <a:ea typeface="Instrument Sans Medium" pitchFamily="34" charset="-122"/>
                <a:cs typeface="Times New Roman" panose="02020603050405020304" pitchFamily="18" charset="0"/>
              </a:rPr>
              <a:t>AQI sau 1 giờ</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7704177" y="5297924"/>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dirty="0">
                <a:latin typeface="Times New Roman" panose="02020603050405020304" pitchFamily="18" charset="0"/>
                <a:ea typeface="Instrument Sans Medium" pitchFamily="34" charset="-122"/>
                <a:cs typeface="Times New Roman" panose="02020603050405020304" pitchFamily="18" charset="0"/>
              </a:rPr>
              <a:t>AQI sau 3 giờ</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7704177" y="5684877"/>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dirty="0">
                <a:latin typeface="Times New Roman" panose="02020603050405020304" pitchFamily="18" charset="0"/>
                <a:ea typeface="Instrument Sans Medium" pitchFamily="34" charset="-122"/>
                <a:cs typeface="Times New Roman" panose="02020603050405020304" pitchFamily="18" charset="0"/>
              </a:rPr>
              <a:t>AQI sau 6 giờ</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7704177" y="6121479"/>
            <a:ext cx="5911215" cy="33278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Mỗi mô hình được lưu lại dưới dạng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.pkl</a:t>
            </a:r>
            <a:r>
              <a:rPr lang="en-US" dirty="0">
                <a:latin typeface="Times New Roman" panose="02020603050405020304" pitchFamily="18" charset="0"/>
                <a:ea typeface="Instrument Sans Medium" pitchFamily="34" charset="-122"/>
                <a:cs typeface="Times New Roman" panose="02020603050405020304" pitchFamily="18" charset="0"/>
              </a:rPr>
              <a:t> trong thư mục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models/</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5206" y="478036"/>
            <a:ext cx="9472374" cy="543163"/>
          </a:xfrm>
          <a:prstGeom prst="rect">
            <a:avLst/>
          </a:prstGeom>
          <a:noFill/>
          <a:ln/>
        </p:spPr>
        <p:txBody>
          <a:bodyPr wrap="none" lIns="0" tIns="0" rIns="0" bIns="0" rtlCol="0" anchor="t"/>
          <a:lstStyle/>
          <a:p>
            <a:pPr marL="0" indent="0" algn="l">
              <a:lnSpc>
                <a:spcPts val="42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QUY TRÌNH HUẤN LUYỆN MÔ HÌNH LIGHTGBM</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95206" y="1368743"/>
            <a:ext cx="13239988"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Quy trình huấn luyện được thiết kế để xử lý dữ liệu chuỗi thời gian một cách hiệu quả, đảm bảo mô hình học được xu hướng biến động của AQI.</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695206" y="1842373"/>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495" y="2233493"/>
            <a:ext cx="260628" cy="260628"/>
          </a:xfrm>
          <a:prstGeom prst="rect">
            <a:avLst/>
          </a:prstGeom>
        </p:spPr>
      </p:pic>
      <p:sp>
        <p:nvSpPr>
          <p:cNvPr id="6" name="Text 3"/>
          <p:cNvSpPr/>
          <p:nvPr/>
        </p:nvSpPr>
        <p:spPr>
          <a:xfrm>
            <a:off x="1564124" y="2016085"/>
            <a:ext cx="21726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Nạp và Xử lý Dữ liệu</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1564124" y="2391847"/>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Dữ liệu được sắp xếp theo thời gian (timestamp), loại bỏ bản ghi trùng lặp và giá trị thiếu (NaN).</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695206" y="3058954"/>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495" y="3450074"/>
            <a:ext cx="260628" cy="260628"/>
          </a:xfrm>
          <a:prstGeom prst="rect">
            <a:avLst/>
          </a:prstGeom>
        </p:spPr>
      </p:pic>
      <p:sp>
        <p:nvSpPr>
          <p:cNvPr id="10" name="Text 6"/>
          <p:cNvSpPr/>
          <p:nvPr/>
        </p:nvSpPr>
        <p:spPr>
          <a:xfrm>
            <a:off x="1564124" y="3232666"/>
            <a:ext cx="21726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Feature Engineering</a:t>
            </a:r>
            <a:endParaRPr lang="en-US" dirty="0">
              <a:latin typeface="Times New Roman" panose="02020603050405020304" pitchFamily="18" charset="0"/>
              <a:cs typeface="Times New Roman" panose="02020603050405020304" pitchFamily="18" charset="0"/>
            </a:endParaRPr>
          </a:p>
        </p:txBody>
      </p:sp>
      <p:sp>
        <p:nvSpPr>
          <p:cNvPr id="11" name="Text 7"/>
          <p:cNvSpPr/>
          <p:nvPr/>
        </p:nvSpPr>
        <p:spPr>
          <a:xfrm>
            <a:off x="1564124" y="3608427"/>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Tạo độ trễ (lag features) cho các chỉ số ô nhiễm (pm2_5, no2, aqi) và thêm đặc trưng thời gian (giờ, ngày, tháng) để mô hình học chu </a:t>
            </a:r>
            <a:r>
              <a:rPr lang="en-US" dirty="0" err="1">
                <a:latin typeface="Times New Roman" panose="02020603050405020304" pitchFamily="18" charset="0"/>
                <a:ea typeface="Instrument Sans Medium" pitchFamily="34" charset="-122"/>
                <a:cs typeface="Times New Roman" panose="02020603050405020304" pitchFamily="18" charset="0"/>
              </a:rPr>
              <a:t>kỳ</a:t>
            </a:r>
            <a:r>
              <a:rPr lang="en-US" dirty="0">
                <a:latin typeface="Times New Roman" panose="02020603050405020304" pitchFamily="18" charset="0"/>
                <a:ea typeface="Instrument Sans Medium" pitchFamily="34" charset="-122"/>
                <a:cs typeface="Times New Roman" panose="02020603050405020304" pitchFamily="18" charset="0"/>
              </a:rPr>
              <a:t> </a:t>
            </a:r>
          </a:p>
          <a:p>
            <a:pPr marL="0" indent="0" algn="l">
              <a:lnSpc>
                <a:spcPts val="2150"/>
              </a:lnSpc>
              <a:buNone/>
            </a:pPr>
            <a:r>
              <a:rPr lang="en-US" dirty="0" err="1">
                <a:latin typeface="Times New Roman" panose="02020603050405020304" pitchFamily="18" charset="0"/>
                <a:ea typeface="Instrument Sans Medium" pitchFamily="34" charset="-122"/>
                <a:cs typeface="Times New Roman" panose="02020603050405020304" pitchFamily="18" charset="0"/>
              </a:rPr>
              <a:t>ngày</a:t>
            </a:r>
            <a:r>
              <a:rPr lang="en-US" dirty="0">
                <a:latin typeface="Times New Roman" panose="02020603050405020304" pitchFamily="18" charset="0"/>
                <a:ea typeface="Instrument Sans Medium" pitchFamily="34" charset="-122"/>
                <a:cs typeface="Times New Roman" panose="02020603050405020304" pitchFamily="18" charset="0"/>
              </a:rPr>
              <a:t> – </a:t>
            </a:r>
            <a:r>
              <a:rPr lang="en-US" dirty="0" err="1">
                <a:latin typeface="Times New Roman" panose="02020603050405020304" pitchFamily="18" charset="0"/>
                <a:ea typeface="Instrument Sans Medium" pitchFamily="34" charset="-122"/>
                <a:cs typeface="Times New Roman" panose="02020603050405020304" pitchFamily="18" charset="0"/>
              </a:rPr>
              <a:t>đêm</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Shape 8"/>
          <p:cNvSpPr/>
          <p:nvPr/>
        </p:nvSpPr>
        <p:spPr>
          <a:xfrm>
            <a:off x="695206" y="4275534"/>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2495" y="4666655"/>
            <a:ext cx="260628" cy="260628"/>
          </a:xfrm>
          <a:prstGeom prst="rect">
            <a:avLst/>
          </a:prstGeom>
        </p:spPr>
      </p:pic>
      <p:sp>
        <p:nvSpPr>
          <p:cNvPr id="14" name="Text 9"/>
          <p:cNvSpPr/>
          <p:nvPr/>
        </p:nvSpPr>
        <p:spPr>
          <a:xfrm>
            <a:off x="1564124" y="4449247"/>
            <a:ext cx="21726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Tạo Dữ liệu Mục tiêu</a:t>
            </a:r>
            <a:endParaRPr lang="en-US" dirty="0">
              <a:latin typeface="Times New Roman" panose="02020603050405020304" pitchFamily="18" charset="0"/>
              <a:cs typeface="Times New Roman" panose="02020603050405020304" pitchFamily="18" charset="0"/>
            </a:endParaRPr>
          </a:p>
        </p:txBody>
      </p:sp>
      <p:sp>
        <p:nvSpPr>
          <p:cNvPr id="15" name="Text 10"/>
          <p:cNvSpPr/>
          <p:nvPr/>
        </p:nvSpPr>
        <p:spPr>
          <a:xfrm>
            <a:off x="1564124" y="4825008"/>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Tạo cột mục tiêu bằng cách dịch (shift) chỉ số AQI về sau để dự đoán giá trị AQI trong tương lai (1h, 3h, 6h).</a:t>
            </a:r>
            <a:endParaRPr lang="en-US" dirty="0">
              <a:latin typeface="Times New Roman" panose="02020603050405020304" pitchFamily="18" charset="0"/>
              <a:cs typeface="Times New Roman" panose="02020603050405020304" pitchFamily="18" charset="0"/>
            </a:endParaRPr>
          </a:p>
        </p:txBody>
      </p:sp>
      <p:sp>
        <p:nvSpPr>
          <p:cNvPr id="16" name="Shape 11"/>
          <p:cNvSpPr/>
          <p:nvPr/>
        </p:nvSpPr>
        <p:spPr>
          <a:xfrm>
            <a:off x="695206" y="5492115"/>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2495" y="5883235"/>
            <a:ext cx="260628" cy="260628"/>
          </a:xfrm>
          <a:prstGeom prst="rect">
            <a:avLst/>
          </a:prstGeom>
        </p:spPr>
      </p:pic>
      <p:sp>
        <p:nvSpPr>
          <p:cNvPr id="18" name="Text 12"/>
          <p:cNvSpPr/>
          <p:nvPr/>
        </p:nvSpPr>
        <p:spPr>
          <a:xfrm>
            <a:off x="1564124" y="5665827"/>
            <a:ext cx="2302669"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Chia Dữ liệu Train/Test</a:t>
            </a:r>
            <a:endParaRPr lang="en-US" dirty="0">
              <a:latin typeface="Times New Roman" panose="02020603050405020304" pitchFamily="18" charset="0"/>
              <a:cs typeface="Times New Roman" panose="02020603050405020304" pitchFamily="18" charset="0"/>
            </a:endParaRPr>
          </a:p>
        </p:txBody>
      </p:sp>
      <p:sp>
        <p:nvSpPr>
          <p:cNvPr id="19" name="Text 13"/>
          <p:cNvSpPr/>
          <p:nvPr/>
        </p:nvSpPr>
        <p:spPr>
          <a:xfrm>
            <a:off x="1564124" y="6041588"/>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Sử dụng phương pháp chia không xáo trộn ngẫu nhiên (shuffle=False) để giữ nguyên thứ tự thời gian của dữ liệu.</a:t>
            </a:r>
            <a:endParaRPr lang="en-US" dirty="0">
              <a:latin typeface="Times New Roman" panose="02020603050405020304" pitchFamily="18" charset="0"/>
              <a:cs typeface="Times New Roman" panose="02020603050405020304" pitchFamily="18" charset="0"/>
            </a:endParaRPr>
          </a:p>
        </p:txBody>
      </p:sp>
      <p:sp>
        <p:nvSpPr>
          <p:cNvPr id="20" name="Shape 14"/>
          <p:cNvSpPr/>
          <p:nvPr/>
        </p:nvSpPr>
        <p:spPr>
          <a:xfrm>
            <a:off x="695206" y="6708696"/>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2495" y="7099816"/>
            <a:ext cx="260628" cy="260628"/>
          </a:xfrm>
          <a:prstGeom prst="rect">
            <a:avLst/>
          </a:prstGeom>
        </p:spPr>
      </p:pic>
      <p:sp>
        <p:nvSpPr>
          <p:cNvPr id="22" name="Text 15"/>
          <p:cNvSpPr/>
          <p:nvPr/>
        </p:nvSpPr>
        <p:spPr>
          <a:xfrm>
            <a:off x="1564124" y="6882408"/>
            <a:ext cx="22919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Huấn luyện &amp; Đánh giá</a:t>
            </a:r>
            <a:endParaRPr lang="en-US" dirty="0">
              <a:latin typeface="Times New Roman" panose="02020603050405020304" pitchFamily="18" charset="0"/>
              <a:cs typeface="Times New Roman" panose="02020603050405020304" pitchFamily="18" charset="0"/>
            </a:endParaRPr>
          </a:p>
        </p:txBody>
      </p:sp>
      <p:sp>
        <p:nvSpPr>
          <p:cNvPr id="23" name="Text 16"/>
          <p:cNvSpPr/>
          <p:nvPr/>
        </p:nvSpPr>
        <p:spPr>
          <a:xfrm>
            <a:off x="1564124" y="7258169"/>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Huấn luyện LightGBM với early stopping để tránh overfitting. Đánh giá bằng MAE (sai số tuyệt đối trung bình) và R² (mức độ giải </a:t>
            </a:r>
            <a:r>
              <a:rPr lang="en-US" dirty="0" err="1">
                <a:latin typeface="Times New Roman" panose="02020603050405020304" pitchFamily="18" charset="0"/>
                <a:ea typeface="Instrument Sans Medium" pitchFamily="34" charset="-122"/>
                <a:cs typeface="Times New Roman" panose="02020603050405020304" pitchFamily="18" charset="0"/>
              </a:rPr>
              <a:t>thích</a:t>
            </a:r>
            <a:r>
              <a:rPr lang="en-US" dirty="0">
                <a:latin typeface="Times New Roman" panose="02020603050405020304" pitchFamily="18" charset="0"/>
                <a:ea typeface="Instrument Sans Medium" pitchFamily="34" charset="-122"/>
                <a:cs typeface="Times New Roman" panose="02020603050405020304" pitchFamily="18" charset="0"/>
              </a:rPr>
              <a:t> </a:t>
            </a:r>
          </a:p>
          <a:p>
            <a:pPr marL="0" indent="0" algn="l">
              <a:lnSpc>
                <a:spcPts val="2150"/>
              </a:lnSpc>
              <a:buNone/>
            </a:pPr>
            <a:r>
              <a:rPr lang="en-US" dirty="0" err="1">
                <a:latin typeface="Times New Roman" panose="02020603050405020304" pitchFamily="18" charset="0"/>
                <a:ea typeface="Instrument Sans Medium" pitchFamily="34" charset="-122"/>
                <a:cs typeface="Times New Roman" panose="02020603050405020304" pitchFamily="18" charset="0"/>
              </a:rPr>
              <a:t>phương</a:t>
            </a:r>
            <a:r>
              <a:rPr lang="en-US" dirty="0">
                <a:latin typeface="Times New Roman" panose="02020603050405020304" pitchFamily="18" charset="0"/>
                <a:ea typeface="Instrument Sans Medium" pitchFamily="34" charset="-122"/>
                <a:cs typeface="Times New Roman" panose="02020603050405020304" pitchFamily="18" charset="0"/>
              </a:rPr>
              <a:t> sai).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6399" y="518041"/>
            <a:ext cx="10304859"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GIAO DIỆN AIRCARE VÀ CHỨC NĂNG CHÍNH</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94134" y="1323678"/>
            <a:ext cx="13042821" cy="33278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Giao diện người dùng được xây dựng bằng Streamlit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app.py</a:t>
            </a:r>
            <a:r>
              <a:rPr lang="en-US" dirty="0">
                <a:latin typeface="Times New Roman" panose="02020603050405020304" pitchFamily="18" charset="0"/>
                <a:ea typeface="Instrument Sans Medium" pitchFamily="34" charset="-122"/>
                <a:cs typeface="Times New Roman" panose="02020603050405020304" pitchFamily="18" charset="0"/>
              </a:rPr>
              <a:t>), cung cấp trải nghiệm tương tác thân thiện và trực quan.</a:t>
            </a:r>
            <a:endParaRPr lang="en-US" dirty="0">
              <a:latin typeface="Times New Roman" panose="02020603050405020304" pitchFamily="18" charset="0"/>
              <a:cs typeface="Times New Roman" panose="02020603050405020304" pitchFamily="18" charset="0"/>
            </a:endParaRPr>
          </a:p>
        </p:txBody>
      </p:sp>
      <p:sp>
        <p:nvSpPr>
          <p:cNvPr id="5" name="Shape 2"/>
          <p:cNvSpPr/>
          <p:nvPr/>
        </p:nvSpPr>
        <p:spPr>
          <a:xfrm>
            <a:off x="793790" y="5448538"/>
            <a:ext cx="446484" cy="446484"/>
          </a:xfrm>
          <a:prstGeom prst="roundRect">
            <a:avLst>
              <a:gd name="adj" fmla="val 40008"/>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1438632" y="5516761"/>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Chatbot Thông minh</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1438632" y="5945981"/>
            <a:ext cx="3537347"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Nhận lệnh ngữ nghĩa như “Dự đoán AQI” hoặc “Tôi nên ra ngoài không?”, sử dụng Generative AI để phản hồi tự nhiên.</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5223986" y="5448538"/>
            <a:ext cx="446484" cy="446484"/>
          </a:xfrm>
          <a:prstGeom prst="roundRect">
            <a:avLst>
              <a:gd name="adj" fmla="val 40008"/>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6"/>
          <p:cNvSpPr/>
          <p:nvPr/>
        </p:nvSpPr>
        <p:spPr>
          <a:xfrm>
            <a:off x="5868829" y="5516761"/>
            <a:ext cx="2693432"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Dự đoán AQI Trực quan</a:t>
            </a: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5868829" y="5945981"/>
            <a:ext cx="3537466"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Hiển thị biểu đồ dự báo AQI minh họa biến động trong 6 giờ tới, giúp người dùng dễ dàng nắm bắt xu hướng ô nhiễm.</a:t>
            </a:r>
            <a:endParaRPr lang="en-US" dirty="0">
              <a:latin typeface="Times New Roman" panose="02020603050405020304" pitchFamily="18" charset="0"/>
              <a:cs typeface="Times New Roman" panose="02020603050405020304" pitchFamily="18" charset="0"/>
            </a:endParaRPr>
          </a:p>
        </p:txBody>
      </p:sp>
      <p:sp>
        <p:nvSpPr>
          <p:cNvPr id="11" name="Shape 8"/>
          <p:cNvSpPr/>
          <p:nvPr/>
        </p:nvSpPr>
        <p:spPr>
          <a:xfrm>
            <a:off x="9654302" y="5448538"/>
            <a:ext cx="446484" cy="446484"/>
          </a:xfrm>
          <a:prstGeom prst="roundRect">
            <a:avLst>
              <a:gd name="adj" fmla="val 40008"/>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9"/>
          <p:cNvSpPr/>
          <p:nvPr/>
        </p:nvSpPr>
        <p:spPr>
          <a:xfrm>
            <a:off x="10299144" y="5516761"/>
            <a:ext cx="2604254"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Cảnh báo Cá nhân hóa</a:t>
            </a:r>
            <a:endParaRPr lang="en-US" dirty="0">
              <a:latin typeface="Times New Roman" panose="02020603050405020304" pitchFamily="18" charset="0"/>
              <a:cs typeface="Times New Roman" panose="02020603050405020304" pitchFamily="18" charset="0"/>
            </a:endParaRPr>
          </a:p>
        </p:txBody>
      </p:sp>
      <p:sp>
        <p:nvSpPr>
          <p:cNvPr id="13" name="Text 10"/>
          <p:cNvSpPr/>
          <p:nvPr/>
        </p:nvSpPr>
        <p:spPr>
          <a:xfrm>
            <a:off x="10299144" y="5945981"/>
            <a:ext cx="3537466"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Cung cấp cảnh báo sức khỏe tùy theo mức AQI dự đoán và thông tin bệnh lý (ví dụ: hen suyễn) mà người dùng nhập vào.</a:t>
            </a:r>
            <a:endParaRPr lang="en-US"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5D0D7CD6-DAB0-C907-E62F-85F7B2647A64}"/>
              </a:ext>
            </a:extLst>
          </p:cNvPr>
          <p:cNvPicPr>
            <a:picLocks noChangeAspect="1"/>
          </p:cNvPicPr>
          <p:nvPr/>
        </p:nvPicPr>
        <p:blipFill>
          <a:blip r:embed="rId3"/>
          <a:stretch>
            <a:fillRect/>
          </a:stretch>
        </p:blipFill>
        <p:spPr>
          <a:xfrm>
            <a:off x="2318656" y="1717578"/>
            <a:ext cx="9601201" cy="36118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27817" y="434102"/>
            <a:ext cx="8581549" cy="490538"/>
          </a:xfrm>
          <a:prstGeom prst="rect">
            <a:avLst/>
          </a:prstGeom>
          <a:noFill/>
          <a:ln/>
        </p:spPr>
        <p:txBody>
          <a:bodyPr wrap="none" lIns="0" tIns="0" rIns="0" bIns="0" rtlCol="0" anchor="t"/>
          <a:lstStyle/>
          <a:p>
            <a:pPr marL="0" indent="0" algn="l">
              <a:lnSpc>
                <a:spcPts val="3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HƯỚNG PHÁT TRIỂN VÀ MỤC TIÊU TƯƠNG LAI</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27817" y="1238488"/>
            <a:ext cx="13374767" cy="250984"/>
          </a:xfrm>
          <a:prstGeom prst="rect">
            <a:avLst/>
          </a:prstGeom>
          <a:noFill/>
          <a:ln/>
        </p:spPr>
        <p:txBody>
          <a:bodyPr wrap="non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AIRCARE có tiềm năng mở rộng lớn, hướng tới việc tích hợp sâu hơn vào hệ sinh thái Smart City và công nghệ AI tiên tiến.</a:t>
            </a:r>
            <a:endParaRPr lang="en-US"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1847374"/>
            <a:ext cx="235387" cy="235387"/>
          </a:xfrm>
          <a:prstGeom prst="rect">
            <a:avLst/>
          </a:prstGeom>
        </p:spPr>
      </p:pic>
      <p:sp>
        <p:nvSpPr>
          <p:cNvPr id="5" name="Text 2"/>
          <p:cNvSpPr/>
          <p:nvPr/>
        </p:nvSpPr>
        <p:spPr>
          <a:xfrm>
            <a:off x="1137880" y="1842611"/>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Mở rộng Phạm vi</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1137880" y="2244804"/>
            <a:ext cx="10651349"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Mở rộng dự đoán AQI sang nhiều thành phố lớn khác (TP. Hồ Chí Minh, Đà Nẵng, Hải Phòng).</a:t>
            </a:r>
            <a:endParaRPr lang="en-US"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3065383"/>
            <a:ext cx="235387" cy="235387"/>
          </a:xfrm>
          <a:prstGeom prst="rect">
            <a:avLst/>
          </a:prstGeom>
        </p:spPr>
      </p:pic>
      <p:sp>
        <p:nvSpPr>
          <p:cNvPr id="8" name="Text 4"/>
          <p:cNvSpPr/>
          <p:nvPr/>
        </p:nvSpPr>
        <p:spPr>
          <a:xfrm>
            <a:off x="1137880" y="3060621"/>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Tích hợp IoT</a:t>
            </a:r>
            <a:endParaRPr lang="en-US" dirty="0">
              <a:latin typeface="Times New Roman" panose="02020603050405020304" pitchFamily="18" charset="0"/>
              <a:cs typeface="Times New Roman" panose="02020603050405020304" pitchFamily="18" charset="0"/>
            </a:endParaRPr>
          </a:p>
        </p:txBody>
      </p:sp>
      <p:sp>
        <p:nvSpPr>
          <p:cNvPr id="9" name="Text 5"/>
          <p:cNvSpPr/>
          <p:nvPr/>
        </p:nvSpPr>
        <p:spPr>
          <a:xfrm>
            <a:off x="1137880" y="3462814"/>
            <a:ext cx="11348034"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Kết nối với các cảm biến IoT để đo bụi thực tế, tăng độ chính xác của dữ liệu đầu vào.</a:t>
            </a:r>
            <a:endParaRPr lang="en-US"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4283393"/>
            <a:ext cx="235387" cy="235387"/>
          </a:xfrm>
          <a:prstGeom prst="rect">
            <a:avLst/>
          </a:prstGeom>
        </p:spPr>
      </p:pic>
      <p:sp>
        <p:nvSpPr>
          <p:cNvPr id="11" name="Text 6"/>
          <p:cNvSpPr/>
          <p:nvPr/>
        </p:nvSpPr>
        <p:spPr>
          <a:xfrm>
            <a:off x="1137880" y="4278630"/>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Triển khai Đám mây</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1137880" y="4680823"/>
            <a:ext cx="12044720"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Triển khai trên các nền tảng đám mây như AWS SageMaker hoặc Streamlit Cloud để tăng khả năng truy cập và mở rộng.</a:t>
            </a:r>
            <a:endParaRPr lang="en-US"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5501402"/>
            <a:ext cx="235387" cy="235387"/>
          </a:xfrm>
          <a:prstGeom prst="rect">
            <a:avLst/>
          </a:prstGeom>
        </p:spPr>
      </p:pic>
      <p:sp>
        <p:nvSpPr>
          <p:cNvPr id="14" name="Text 8"/>
          <p:cNvSpPr/>
          <p:nvPr/>
        </p:nvSpPr>
        <p:spPr>
          <a:xfrm>
            <a:off x="1137880" y="5496639"/>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Nâng cấp Chatbot</a:t>
            </a:r>
            <a:endParaRPr lang="en-US" dirty="0">
              <a:latin typeface="Times New Roman" panose="02020603050405020304" pitchFamily="18" charset="0"/>
              <a:cs typeface="Times New Roman" panose="02020603050405020304" pitchFamily="18" charset="0"/>
            </a:endParaRPr>
          </a:p>
        </p:txBody>
      </p:sp>
      <p:sp>
        <p:nvSpPr>
          <p:cNvPr id="15" name="Text 9"/>
          <p:cNvSpPr/>
          <p:nvPr/>
        </p:nvSpPr>
        <p:spPr>
          <a:xfrm>
            <a:off x="1137880" y="5898833"/>
            <a:ext cx="12545463"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Kết nối với các LLM lớn hơn (GPT, Claude) để tạo ra chatbot thông minh và có khả năng tương tác ngôn ngữ tự nhiên phức tạp hơn.</a:t>
            </a:r>
            <a:endParaRPr lang="en-US" dirty="0">
              <a:latin typeface="Times New Roman" panose="02020603050405020304" pitchFamily="18" charset="0"/>
              <a:cs typeface="Times New Roman" panose="02020603050405020304" pitchFamily="18" charset="0"/>
            </a:endParaRPr>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6719411"/>
            <a:ext cx="235387" cy="235387"/>
          </a:xfrm>
          <a:prstGeom prst="rect">
            <a:avLst/>
          </a:prstGeom>
        </p:spPr>
      </p:pic>
      <p:sp>
        <p:nvSpPr>
          <p:cNvPr id="17" name="Text 10"/>
          <p:cNvSpPr/>
          <p:nvPr/>
        </p:nvSpPr>
        <p:spPr>
          <a:xfrm>
            <a:off x="1137880" y="6714649"/>
            <a:ext cx="2613422"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Phát triển Ứng dụng Di động</a:t>
            </a:r>
            <a:endParaRPr lang="en-US" dirty="0">
              <a:latin typeface="Times New Roman" panose="02020603050405020304" pitchFamily="18" charset="0"/>
              <a:cs typeface="Times New Roman" panose="02020603050405020304" pitchFamily="18" charset="0"/>
            </a:endParaRPr>
          </a:p>
        </p:txBody>
      </p:sp>
      <p:sp>
        <p:nvSpPr>
          <p:cNvPr id="18" name="Text 11"/>
          <p:cNvSpPr/>
          <p:nvPr/>
        </p:nvSpPr>
        <p:spPr>
          <a:xfrm>
            <a:off x="1137880" y="7116842"/>
            <a:ext cx="12229777"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Phát triển ứng dụng di động (sử dụng Flutter) để người dùng có thể theo dõi AQI và nhận cảnh báo mọi lúc, mọi nơi.</a:t>
            </a:r>
            <a:endParaRPr lang="en-US" dirty="0">
              <a:latin typeface="Times New Roman" panose="02020603050405020304" pitchFamily="18" charset="0"/>
              <a:cs typeface="Times New Roman" panose="02020603050405020304" pitchFamily="18" charset="0"/>
            </a:endParaRPr>
          </a:p>
        </p:txBody>
      </p:sp>
      <p:sp>
        <p:nvSpPr>
          <p:cNvPr id="19" name="Text 12"/>
          <p:cNvSpPr/>
          <p:nvPr/>
        </p:nvSpPr>
        <p:spPr>
          <a:xfrm>
            <a:off x="7514273" y="1807250"/>
            <a:ext cx="6495931" cy="250984"/>
          </a:xfrm>
          <a:prstGeom prst="rect">
            <a:avLst/>
          </a:prstGeom>
          <a:noFill/>
          <a:ln/>
        </p:spPr>
        <p:txBody>
          <a:bodyPr wrap="none" lIns="0" tIns="0" rIns="0" bIns="0" rtlCol="0" anchor="t"/>
          <a:lstStyle/>
          <a:p>
            <a:pPr marL="0" indent="0" algn="l">
              <a:lnSpc>
                <a:spcPts val="1950"/>
              </a:lnSpc>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6917" y="-82296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sp>
        <p:nvSpPr>
          <p:cNvPr id="3" name="Freeform 3"/>
          <p:cNvSpPr/>
          <p:nvPr/>
        </p:nvSpPr>
        <p:spPr>
          <a:xfrm rot="5400000" flipH="1">
            <a:off x="-436917" y="576072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sp>
        <p:nvSpPr>
          <p:cNvPr id="4" name="Freeform 4"/>
          <p:cNvSpPr/>
          <p:nvPr/>
        </p:nvSpPr>
        <p:spPr>
          <a:xfrm rot="-5400000">
            <a:off x="12547563" y="576072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sp>
        <p:nvSpPr>
          <p:cNvPr id="5" name="Freeform 5"/>
          <p:cNvSpPr/>
          <p:nvPr/>
        </p:nvSpPr>
        <p:spPr>
          <a:xfrm rot="-5400000" flipH="1">
            <a:off x="12547563" y="-82296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grpSp>
        <p:nvGrpSpPr>
          <p:cNvPr id="6" name="Group 6"/>
          <p:cNvGrpSpPr/>
          <p:nvPr/>
        </p:nvGrpSpPr>
        <p:grpSpPr>
          <a:xfrm>
            <a:off x="-1958340" y="7368540"/>
            <a:ext cx="18547080" cy="1043940"/>
            <a:chOff x="0" y="0"/>
            <a:chExt cx="6106035" cy="343684"/>
          </a:xfrm>
        </p:grpSpPr>
        <p:sp>
          <p:nvSpPr>
            <p:cNvPr id="7" name="Freeform 7"/>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p>
          </p:txBody>
        </p:sp>
        <p:sp>
          <p:nvSpPr>
            <p:cNvPr id="8" name="TextBox 8"/>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p>
          </p:txBody>
        </p:sp>
      </p:grpSp>
      <p:grpSp>
        <p:nvGrpSpPr>
          <p:cNvPr id="9" name="Group 9"/>
          <p:cNvGrpSpPr/>
          <p:nvPr/>
        </p:nvGrpSpPr>
        <p:grpSpPr>
          <a:xfrm>
            <a:off x="-1958340" y="-175260"/>
            <a:ext cx="18547080" cy="1043940"/>
            <a:chOff x="0" y="0"/>
            <a:chExt cx="6106035" cy="343684"/>
          </a:xfrm>
        </p:grpSpPr>
        <p:sp>
          <p:nvSpPr>
            <p:cNvPr id="10" name="Freeform 10"/>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p>
          </p:txBody>
        </p:sp>
        <p:sp>
          <p:nvSpPr>
            <p:cNvPr id="11" name="TextBox 11"/>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p>
          </p:txBody>
        </p:sp>
      </p:grpSp>
      <p:sp>
        <p:nvSpPr>
          <p:cNvPr id="12" name="TextBox 12"/>
          <p:cNvSpPr txBox="1"/>
          <p:nvPr/>
        </p:nvSpPr>
        <p:spPr>
          <a:xfrm>
            <a:off x="2360385" y="3187819"/>
            <a:ext cx="9909630" cy="1556965"/>
          </a:xfrm>
          <a:prstGeom prst="rect">
            <a:avLst/>
          </a:prstGeom>
        </p:spPr>
        <p:txBody>
          <a:bodyPr lIns="0" tIns="0" rIns="0" bIns="0" rtlCol="0" anchor="t">
            <a:spAutoFit/>
          </a:bodyPr>
          <a:lstStyle/>
          <a:p>
            <a:pPr algn="ctr">
              <a:lnSpc>
                <a:spcPts val="13313"/>
              </a:lnSpc>
            </a:pPr>
            <a:r>
              <a:rPr lang="en-US" sz="9509" dirty="0">
                <a:solidFill>
                  <a:srgbClr val="044D3A"/>
                </a:solidFill>
                <a:latin typeface="CAT Neuzeit"/>
                <a:ea typeface="CAT Neuzeit"/>
                <a:cs typeface="CAT Neuzeit"/>
                <a:sym typeface="CAT Neuzeit"/>
              </a:rPr>
              <a:t>THANK YOU!</a:t>
            </a:r>
          </a:p>
        </p:txBody>
      </p:sp>
    </p:spTree>
    <p:extLst>
      <p:ext uri="{BB962C8B-B14F-4D97-AF65-F5344CB8AC3E}">
        <p14:creationId xmlns:p14="http://schemas.microsoft.com/office/powerpoint/2010/main" val="465424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1805</Words>
  <Application>Microsoft Office PowerPoint</Application>
  <PresentationFormat>Custom</PresentationFormat>
  <Paragraphs>154</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CAT Neuzeit</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 Thi Kieu Trang</cp:lastModifiedBy>
  <cp:revision>2</cp:revision>
  <dcterms:created xsi:type="dcterms:W3CDTF">2025-10-26T14:38:46Z</dcterms:created>
  <dcterms:modified xsi:type="dcterms:W3CDTF">2025-10-27T02:57:47Z</dcterms:modified>
</cp:coreProperties>
</file>